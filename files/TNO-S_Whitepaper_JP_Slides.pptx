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24F"/>
        </a:solidFill>
      </p:bgPr>
    </p:bg>
    <p:spTree>
      <p:nvGrpSpPr>
        <p:cNvPr id="1" name=""/>
        <p:cNvGrpSpPr/>
        <p:nvPr/>
      </p:nvGrpSpPr>
      <p:grpSpPr>
        <a:xfrm>
          <a:off x="0" y="0"/>
          <a:ext cx="0" cy="0"/>
          <a:chOff x="0" y="0"/>
          <a:chExt cx="0" cy="0"/>
        </a:xfrm>
      </p:grpSpPr>
      <p:sp>
        <p:nvSpPr>
          <p:cNvPr id="2" name="Shape 0"/>
          <p:cNvSpPr/>
          <p:nvPr/>
        </p:nvSpPr>
        <p:spPr>
          <a:xfrm>
            <a:off x="0" y="6355080"/>
            <a:ext cx="12188952" cy="502920"/>
          </a:xfrm>
          <a:prstGeom prst="rect">
            <a:avLst/>
          </a:prstGeom>
          <a:solidFill>
            <a:srgbClr val="C9A227"/>
          </a:solidFill>
          <a:ln/>
        </p:spPr>
      </p:sp>
      <p:sp>
        <p:nvSpPr>
          <p:cNvPr id="3" name="Text 1"/>
          <p:cNvSpPr/>
          <p:nvPr/>
        </p:nvSpPr>
        <p:spPr>
          <a:xfrm>
            <a:off x="502920" y="502920"/>
            <a:ext cx="292608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BK DONGYEOUNG TECH</a:t>
            </a:r>
            <a:endParaRPr lang="en-US" sz="1100" dirty="0"/>
          </a:p>
        </p:txBody>
      </p:sp>
      <p:sp>
        <p:nvSpPr>
          <p:cNvPr id="4" name="Text 2"/>
          <p:cNvSpPr/>
          <p:nvPr/>
        </p:nvSpPr>
        <p:spPr>
          <a:xfrm>
            <a:off x="530352" y="1325880"/>
            <a:ext cx="6400800" cy="320040"/>
          </a:xfrm>
          <a:prstGeom prst="rect">
            <a:avLst/>
          </a:prstGeom>
          <a:noFill/>
          <a:ln/>
        </p:spPr>
        <p:txBody>
          <a:bodyPr wrap="square" lIns="0" tIns="0" rIns="0" bIns="0" rtlCol="0" anchor="ctr"/>
          <a:lstStyle/>
          <a:p>
            <a:pPr indent="0" marL="0">
              <a:buNone/>
            </a:pPr>
            <a:r>
              <a:rPr lang="en-US" sz="1300" b="1" dirty="0">
                <a:solidFill>
                  <a:srgbClr val="C9A227"/>
                </a:solidFill>
                <a:latin typeface="Yu Gothic" pitchFamily="34" charset="0"/>
                <a:ea typeface="Yu Gothic" pitchFamily="34" charset="-122"/>
                <a:cs typeface="Yu Gothic" pitchFamily="34" charset="-120"/>
              </a:rPr>
              <a:t>防衛技術ホワイトペーパー · 2026 v3.0(日本語版)</a:t>
            </a:r>
            <a:endParaRPr lang="en-US" sz="1300" dirty="0"/>
          </a:p>
        </p:txBody>
      </p:sp>
      <p:sp>
        <p:nvSpPr>
          <p:cNvPr id="5" name="Text 3"/>
          <p:cNvSpPr/>
          <p:nvPr/>
        </p:nvSpPr>
        <p:spPr>
          <a:xfrm>
            <a:off x="457200" y="1783080"/>
            <a:ext cx="6583680" cy="777240"/>
          </a:xfrm>
          <a:prstGeom prst="rect">
            <a:avLst/>
          </a:prstGeom>
          <a:noFill/>
          <a:ln/>
        </p:spPr>
        <p:txBody>
          <a:bodyPr wrap="square" lIns="0" tIns="0" rIns="0" bIns="0" rtlCol="0" anchor="ctr"/>
          <a:lstStyle/>
          <a:p>
            <a:pPr indent="0" marL="0">
              <a:buNone/>
            </a:pPr>
            <a:r>
              <a:rPr lang="en-US" sz="3800" b="1" dirty="0">
                <a:solidFill>
                  <a:srgbClr val="E23B2E"/>
                </a:solidFill>
                <a:latin typeface="Yu Gothic" pitchFamily="34" charset="0"/>
                <a:ea typeface="Yu Gothic" pitchFamily="34" charset="-122"/>
                <a:cs typeface="Yu Gothic" pitchFamily="34" charset="-120"/>
              </a:rPr>
              <a:t>TNO-S</a:t>
            </a:r>
            <a:pPr indent="0" marL="0">
              <a:buNone/>
            </a:pPr>
            <a:r>
              <a:rPr lang="en-US" sz="3800" b="1" dirty="0">
                <a:solidFill>
                  <a:srgbClr val="FFFFFF"/>
                </a:solidFill>
                <a:latin typeface="Yu Gothic" pitchFamily="34" charset="0"/>
                <a:ea typeface="Yu Gothic" pitchFamily="34" charset="-122"/>
                <a:cs typeface="Yu Gothic" pitchFamily="34" charset="-120"/>
              </a:rPr>
              <a:t>(ホワイトペーパー)</a:t>
            </a:r>
            <a:endParaRPr lang="en-US" sz="3800" dirty="0"/>
          </a:p>
        </p:txBody>
      </p:sp>
      <p:sp>
        <p:nvSpPr>
          <p:cNvPr id="6" name="Text 4"/>
          <p:cNvSpPr/>
          <p:nvPr/>
        </p:nvSpPr>
        <p:spPr>
          <a:xfrm>
            <a:off x="502920" y="2560320"/>
            <a:ext cx="6583680" cy="685800"/>
          </a:xfrm>
          <a:prstGeom prst="rect">
            <a:avLst/>
          </a:prstGeom>
          <a:noFill/>
          <a:ln/>
        </p:spPr>
        <p:txBody>
          <a:bodyPr wrap="square" lIns="0" tIns="0" rIns="0" bIns="0" rtlCol="0" anchor="ctr"/>
          <a:lstStyle/>
          <a:p>
            <a:pPr indent="0" marL="0">
              <a:buNone/>
            </a:pPr>
            <a:r>
              <a:rPr lang="en-US" sz="3400" b="1" dirty="0">
                <a:solidFill>
                  <a:srgbClr val="FFFFFF"/>
                </a:solidFill>
                <a:latin typeface="Yu Gothic" pitchFamily="34" charset="0"/>
                <a:ea typeface="Yu Gothic" pitchFamily="34" charset="-122"/>
                <a:cs typeface="Yu Gothic" pitchFamily="34" charset="-120"/>
              </a:rPr>
              <a:t>リチウムフリー全固体電池</a:t>
            </a:r>
            <a:endParaRPr lang="en-US" sz="3400" dirty="0"/>
          </a:p>
        </p:txBody>
      </p:sp>
      <p:sp>
        <p:nvSpPr>
          <p:cNvPr id="7" name="Text 5"/>
          <p:cNvSpPr/>
          <p:nvPr/>
        </p:nvSpPr>
        <p:spPr>
          <a:xfrm>
            <a:off x="530352" y="3520440"/>
            <a:ext cx="6400800" cy="365760"/>
          </a:xfrm>
          <a:prstGeom prst="rect">
            <a:avLst/>
          </a:prstGeom>
          <a:noFill/>
          <a:ln/>
        </p:spPr>
        <p:txBody>
          <a:bodyPr wrap="square" lIns="0" tIns="0" rIns="0" bIns="0" rtlCol="0" anchor="ctr"/>
          <a:lstStyle/>
          <a:p>
            <a:pPr indent="0" marL="0">
              <a:buNone/>
            </a:pPr>
            <a:r>
              <a:rPr lang="en-US" sz="1600" dirty="0">
                <a:solidFill>
                  <a:srgbClr val="C9A227"/>
                </a:solidFill>
                <a:latin typeface="Yu Gothic" pitchFamily="34" charset="0"/>
                <a:ea typeface="Yu Gothic" pitchFamily="34" charset="-122"/>
                <a:cs typeface="Yu Gothic" pitchFamily="34" charset="-120"/>
              </a:rPr>
              <a:t>チタン・ニオブ酸化物系全固体電池</a:t>
            </a:r>
            <a:endParaRPr lang="en-US" sz="1600" dirty="0"/>
          </a:p>
        </p:txBody>
      </p:sp>
      <p:sp>
        <p:nvSpPr>
          <p:cNvPr id="8" name="Text 6"/>
          <p:cNvSpPr/>
          <p:nvPr/>
        </p:nvSpPr>
        <p:spPr>
          <a:xfrm>
            <a:off x="530352" y="4069080"/>
            <a:ext cx="6400800" cy="457200"/>
          </a:xfrm>
          <a:prstGeom prst="rect">
            <a:avLst/>
          </a:prstGeom>
          <a:noFill/>
          <a:ln/>
        </p:spPr>
        <p:txBody>
          <a:bodyPr wrap="square" lIns="0" tIns="0" rIns="0" bIns="0" rtlCol="0" anchor="ctr"/>
          <a:lstStyle/>
          <a:p>
            <a:pPr indent="0" marL="0">
              <a:buNone/>
            </a:pPr>
            <a:r>
              <a:rPr lang="en-US" sz="2000" b="1" dirty="0">
                <a:solidFill>
                  <a:srgbClr val="FFFFFF"/>
                </a:solidFill>
                <a:latin typeface="Yu Gothic" pitchFamily="34" charset="0"/>
                <a:ea typeface="Yu Gothic" pitchFamily="34" charset="-122"/>
                <a:cs typeface="Yu Gothic" pitchFamily="34" charset="-120"/>
              </a:rPr>
              <a:t>発火ゼロ · 爆発ゼロ · 極限環境動作</a:t>
            </a:r>
            <a:endParaRPr lang="en-US" sz="2000" dirty="0"/>
          </a:p>
        </p:txBody>
      </p:sp>
      <p:sp>
        <p:nvSpPr>
          <p:cNvPr id="9" name="Text 7"/>
          <p:cNvSpPr/>
          <p:nvPr/>
        </p:nvSpPr>
        <p:spPr>
          <a:xfrm>
            <a:off x="530352" y="4572000"/>
            <a:ext cx="6400800" cy="320040"/>
          </a:xfrm>
          <a:prstGeom prst="rect">
            <a:avLst/>
          </a:prstGeom>
          <a:noFill/>
          <a:ln/>
        </p:spPr>
        <p:txBody>
          <a:bodyPr wrap="square" lIns="0" tIns="0" rIns="0" bIns="0" rtlCol="0" anchor="ctr"/>
          <a:lstStyle/>
          <a:p>
            <a:pPr indent="0" marL="0">
              <a:buNone/>
            </a:pPr>
            <a:r>
              <a:rPr lang="en-US" sz="1200" dirty="0">
                <a:solidFill>
                  <a:srgbClr val="C9A227"/>
                </a:solidFill>
                <a:latin typeface="Arial" pitchFamily="34" charset="0"/>
                <a:ea typeface="Arial" pitchFamily="34" charset="-122"/>
                <a:cs typeface="Arial" pitchFamily="34" charset="-120"/>
              </a:rPr>
              <a:t>Zero Ignition · Zero Explosion · Extreme Environment</a:t>
            </a:r>
            <a:endParaRPr lang="en-US" sz="1200" dirty="0"/>
          </a:p>
        </p:txBody>
      </p:sp>
      <p:sp>
        <p:nvSpPr>
          <p:cNvPr id="10" name="Shape 8"/>
          <p:cNvSpPr/>
          <p:nvPr/>
        </p:nvSpPr>
        <p:spPr>
          <a:xfrm>
            <a:off x="530352" y="5074920"/>
            <a:ext cx="5669280" cy="1234440"/>
          </a:xfrm>
          <a:prstGeom prst="rect">
            <a:avLst/>
          </a:prstGeom>
          <a:solidFill>
            <a:srgbClr val="24466B"/>
          </a:solidFill>
          <a:ln/>
        </p:spPr>
      </p:sp>
      <p:sp>
        <p:nvSpPr>
          <p:cNvPr id="11" name="Text 9"/>
          <p:cNvSpPr/>
          <p:nvPr/>
        </p:nvSpPr>
        <p:spPr>
          <a:xfrm>
            <a:off x="777240" y="5166360"/>
            <a:ext cx="5120640" cy="274320"/>
          </a:xfrm>
          <a:prstGeom prst="rect">
            <a:avLst/>
          </a:prstGeom>
          <a:noFill/>
          <a:ln/>
        </p:spPr>
        <p:txBody>
          <a:bodyPr wrap="square" lIns="0" tIns="0" rIns="0" bIns="0" rtlCol="0" anchor="ctr"/>
          <a:lstStyle/>
          <a:p>
            <a:pPr indent="0" marL="0">
              <a:buNone/>
            </a:pPr>
            <a:r>
              <a:rPr lang="en-US" sz="1100" b="1" dirty="0">
                <a:solidFill>
                  <a:srgbClr val="C9A227"/>
                </a:solidFill>
                <a:latin typeface="Yu Gothic" pitchFamily="34" charset="0"/>
                <a:ea typeface="Yu Gothic" pitchFamily="34" charset="-122"/>
                <a:cs typeface="Yu Gothic" pitchFamily="34" charset="-120"/>
              </a:rPr>
              <a:t>主要検証結果</a:t>
            </a:r>
            <a:endParaRPr lang="en-US" sz="1100" dirty="0"/>
          </a:p>
        </p:txBody>
      </p:sp>
      <p:sp>
        <p:nvSpPr>
          <p:cNvPr id="12" name="Text 10"/>
          <p:cNvSpPr/>
          <p:nvPr/>
        </p:nvSpPr>
        <p:spPr>
          <a:xfrm>
            <a:off x="822960" y="5440680"/>
            <a:ext cx="5212080" cy="82296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FFFFFF"/>
                </a:solidFill>
                <a:latin typeface="Yu Gothic" pitchFamily="34" charset="0"/>
                <a:ea typeface="Yu Gothic" pitchFamily="34" charset="-122"/>
                <a:cs typeface="Yu Gothic" pitchFamily="34" charset="-120"/>
              </a:rPr>
              <a:t>NATO 7.62 mm 貫通試験 — 発火ゼロで合格</a:t>
            </a:r>
            <a:endParaRPr lang="en-US" sz="1000" dirty="0"/>
          </a:p>
          <a:p>
            <a:pPr marL="342900" indent="-342900">
              <a:spcAft>
                <a:spcPts val="600"/>
              </a:spcAft>
              <a:buSzPct val="100000"/>
              <a:buChar char="•"/>
            </a:pPr>
            <a:r>
              <a:rPr lang="en-US" sz="1000" dirty="0">
                <a:solidFill>
                  <a:srgbClr val="FFFFFF"/>
                </a:solidFill>
                <a:latin typeface="Yu Gothic" pitchFamily="34" charset="0"/>
                <a:ea typeface="Yu Gothic" pitchFamily="34" charset="-122"/>
                <a:cs typeface="Yu Gothic" pitchFamily="34" charset="-120"/>
              </a:rPr>
              <a:t>-28°C 北極圏ドローン 32分間飛行を実証</a:t>
            </a:r>
            <a:endParaRPr lang="en-US" sz="1000" dirty="0"/>
          </a:p>
          <a:p>
            <a:pPr marL="342900" indent="-342900">
              <a:spcAft>
                <a:spcPts val="600"/>
              </a:spcAft>
              <a:buSzPct val="100000"/>
              <a:buChar char="•"/>
            </a:pPr>
            <a:r>
              <a:rPr lang="en-US" sz="1000" dirty="0">
                <a:solidFill>
                  <a:srgbClr val="FFFFFF"/>
                </a:solidFill>
                <a:latin typeface="Yu Gothic" pitchFamily="34" charset="0"/>
                <a:ea typeface="Yu Gothic" pitchFamily="34" charset="-122"/>
                <a:cs typeface="Yu Gothic" pitchFamily="34" charset="-120"/>
              </a:rPr>
              <a:t>UL 248°C 熱暴走安定性を認証</a:t>
            </a:r>
            <a:endParaRPr lang="en-US" sz="1000" dirty="0"/>
          </a:p>
        </p:txBody>
      </p:sp>
      <p:sp>
        <p:nvSpPr>
          <p:cNvPr id="13" name="Shape 11"/>
          <p:cNvSpPr/>
          <p:nvPr/>
        </p:nvSpPr>
        <p:spPr>
          <a:xfrm>
            <a:off x="7406640" y="1554480"/>
            <a:ext cx="4297680" cy="3291840"/>
          </a:xfrm>
          <a:prstGeom prst="rect">
            <a:avLst/>
          </a:prstGeom>
          <a:solidFill>
            <a:srgbClr val="24466B"/>
          </a:solidFill>
          <a:ln/>
        </p:spPr>
      </p:sp>
      <p:sp>
        <p:nvSpPr>
          <p:cNvPr id="14" name="Shape 12"/>
          <p:cNvSpPr/>
          <p:nvPr/>
        </p:nvSpPr>
        <p:spPr>
          <a:xfrm>
            <a:off x="7406640" y="1554480"/>
            <a:ext cx="4297680" cy="82296"/>
          </a:xfrm>
          <a:prstGeom prst="rect">
            <a:avLst/>
          </a:prstGeom>
          <a:solidFill>
            <a:srgbClr val="C9A227"/>
          </a:solidFill>
          <a:ln/>
        </p:spPr>
      </p:sp>
      <p:sp>
        <p:nvSpPr>
          <p:cNvPr id="15" name="Text 13"/>
          <p:cNvSpPr/>
          <p:nvPr/>
        </p:nvSpPr>
        <p:spPr>
          <a:xfrm>
            <a:off x="7406640" y="2468880"/>
            <a:ext cx="4297680"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TNO-S</a:t>
            </a:r>
            <a:endParaRPr lang="en-US" sz="4000" dirty="0"/>
          </a:p>
        </p:txBody>
      </p:sp>
      <p:sp>
        <p:nvSpPr>
          <p:cNvPr id="16" name="Text 14"/>
          <p:cNvSpPr/>
          <p:nvPr/>
        </p:nvSpPr>
        <p:spPr>
          <a:xfrm>
            <a:off x="7406640" y="3291840"/>
            <a:ext cx="4297680" cy="731520"/>
          </a:xfrm>
          <a:prstGeom prst="rect">
            <a:avLst/>
          </a:prstGeom>
          <a:noFill/>
          <a:ln/>
        </p:spPr>
        <p:txBody>
          <a:bodyPr wrap="square" lIns="0" tIns="0" rIns="0" bIns="0" rtlCol="0" anchor="ctr"/>
          <a:lstStyle/>
          <a:p>
            <a:pPr algn="ctr" indent="0" marL="0">
              <a:buNone/>
            </a:pPr>
            <a:r>
              <a:rPr lang="en-US" sz="1200" dirty="0">
                <a:solidFill>
                  <a:srgbClr val="C9A227"/>
                </a:solidFill>
                <a:latin typeface="Arial" pitchFamily="34" charset="0"/>
                <a:ea typeface="Arial" pitchFamily="34" charset="-122"/>
                <a:cs typeface="Arial" pitchFamily="34" charset="-120"/>
              </a:rPr>
              <a:t>Titanium-Niobium Oxide</a:t>
            </a:r>
            <a:endParaRPr lang="en-US" sz="1200" dirty="0"/>
          </a:p>
          <a:p>
            <a:pPr algn="ctr" indent="0" marL="0">
              <a:buNone/>
            </a:pPr>
            <a:r>
              <a:rPr lang="en-US" sz="1200" dirty="0">
                <a:solidFill>
                  <a:srgbClr val="C9A227"/>
                </a:solidFill>
                <a:latin typeface="Arial" pitchFamily="34" charset="0"/>
                <a:ea typeface="Arial" pitchFamily="34" charset="-122"/>
                <a:cs typeface="Arial" pitchFamily="34" charset="-120"/>
              </a:rPr>
              <a:t>Solid-State Battery</a:t>
            </a:r>
            <a:endParaRPr lang="en-US" sz="1200" dirty="0"/>
          </a:p>
        </p:txBody>
      </p:sp>
      <p:sp>
        <p:nvSpPr>
          <p:cNvPr id="17" name="Text 15"/>
          <p:cNvSpPr/>
          <p:nvPr/>
        </p:nvSpPr>
        <p:spPr>
          <a:xfrm>
            <a:off x="0" y="6355080"/>
            <a:ext cx="12188952" cy="502920"/>
          </a:xfrm>
          <a:prstGeom prst="rect">
            <a:avLst/>
          </a:prstGeom>
          <a:noFill/>
          <a:ln/>
        </p:spPr>
        <p:txBody>
          <a:bodyPr wrap="square" lIns="0" tIns="0" rIns="0" bIns="0" rtlCol="0" anchor="ctr"/>
          <a:lstStyle/>
          <a:p>
            <a:pPr algn="ctr" indent="0" marL="0">
              <a:buNone/>
            </a:pPr>
            <a:r>
              <a:rPr lang="en-US" sz="1050" b="1" dirty="0">
                <a:solidFill>
                  <a:srgbClr val="16324F"/>
                </a:solidFill>
                <a:latin typeface="Yu Gothic" pitchFamily="34" charset="0"/>
                <a:ea typeface="Yu Gothic" pitchFamily="34" charset="-122"/>
                <a:cs typeface="Yu Gothic" pitchFamily="34" charset="-120"/>
              </a:rPr>
              <a:t>BK Dongyeoung Tech Co., Ltd.  |  発行:2026.06  |  機密(防衛調達審査用)</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EXECUTIVE SUMMARY</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02/55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防衛意思決定者のための1ページ要約</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One-Page Summary for Defense Decision-Makers</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600200"/>
            <a:ext cx="2651760" cy="1417320"/>
          </a:xfrm>
          <a:prstGeom prst="rect">
            <a:avLst/>
          </a:prstGeom>
          <a:solidFill>
            <a:srgbClr val="FFFFFF"/>
          </a:solidFill>
          <a:ln w="9525">
            <a:solidFill>
              <a:srgbClr val="C8C8C8"/>
            </a:solidFill>
            <a:prstDash val="solid"/>
          </a:ln>
        </p:spPr>
      </p:sp>
      <p:sp>
        <p:nvSpPr>
          <p:cNvPr id="13" name="Shape 11"/>
          <p:cNvSpPr/>
          <p:nvPr/>
        </p:nvSpPr>
        <p:spPr>
          <a:xfrm>
            <a:off x="457200" y="1600200"/>
            <a:ext cx="2651760" cy="73152"/>
          </a:xfrm>
          <a:prstGeom prst="rect">
            <a:avLst/>
          </a:prstGeom>
          <a:solidFill>
            <a:srgbClr val="C9A227"/>
          </a:solidFill>
          <a:ln/>
        </p:spPr>
      </p:sp>
      <p:sp>
        <p:nvSpPr>
          <p:cNvPr id="14" name="Text 12"/>
          <p:cNvSpPr/>
          <p:nvPr/>
        </p:nvSpPr>
        <p:spPr>
          <a:xfrm>
            <a:off x="457200" y="1764792"/>
            <a:ext cx="2651760" cy="637794"/>
          </a:xfrm>
          <a:prstGeom prst="rect">
            <a:avLst/>
          </a:prstGeom>
          <a:noFill/>
          <a:ln/>
        </p:spPr>
        <p:txBody>
          <a:bodyPr wrap="square" lIns="0" tIns="0" rIns="0" bIns="0" rtlCol="0" anchor="ctr"/>
          <a:lstStyle/>
          <a:p>
            <a:pPr algn="ctr" indent="0" marL="0">
              <a:buNone/>
            </a:pPr>
            <a:r>
              <a:rPr lang="en-US" sz="3400" b="1" dirty="0">
                <a:solidFill>
                  <a:srgbClr val="16324F"/>
                </a:solidFill>
                <a:latin typeface="Arial" pitchFamily="34" charset="0"/>
                <a:ea typeface="Arial" pitchFamily="34" charset="-122"/>
                <a:cs typeface="Arial" pitchFamily="34" charset="-120"/>
              </a:rPr>
              <a:t>393</a:t>
            </a:r>
            <a:endParaRPr lang="en-US" sz="3400" dirty="0"/>
          </a:p>
        </p:txBody>
      </p:sp>
      <p:sp>
        <p:nvSpPr>
          <p:cNvPr id="15" name="Text 13"/>
          <p:cNvSpPr/>
          <p:nvPr/>
        </p:nvSpPr>
        <p:spPr>
          <a:xfrm>
            <a:off x="457200" y="2379726"/>
            <a:ext cx="2651760" cy="274320"/>
          </a:xfrm>
          <a:prstGeom prst="rect">
            <a:avLst/>
          </a:prstGeom>
          <a:noFill/>
          <a:ln/>
        </p:spPr>
        <p:txBody>
          <a:bodyPr wrap="square" lIns="0" tIns="0" rIns="0" bIns="0" rtlCol="0" anchor="ctr"/>
          <a:lstStyle/>
          <a:p>
            <a:pPr algn="ctr" indent="0" marL="0">
              <a:buNone/>
            </a:pPr>
            <a:r>
              <a:rPr lang="en-US" sz="1200" b="1" dirty="0">
                <a:solidFill>
                  <a:srgbClr val="C9A227"/>
                </a:solidFill>
                <a:latin typeface="Yu Gothic" pitchFamily="34" charset="0"/>
                <a:ea typeface="Yu Gothic" pitchFamily="34" charset="-122"/>
                <a:cs typeface="Yu Gothic" pitchFamily="34" charset="-120"/>
              </a:rPr>
              <a:t>Wh/kg</a:t>
            </a:r>
            <a:endParaRPr lang="en-US" sz="1200" dirty="0"/>
          </a:p>
        </p:txBody>
      </p:sp>
      <p:sp>
        <p:nvSpPr>
          <p:cNvPr id="16" name="Text 14"/>
          <p:cNvSpPr/>
          <p:nvPr/>
        </p:nvSpPr>
        <p:spPr>
          <a:xfrm>
            <a:off x="457200" y="2672334"/>
            <a:ext cx="2651760" cy="292608"/>
          </a:xfrm>
          <a:prstGeom prst="rect">
            <a:avLst/>
          </a:prstGeom>
          <a:noFill/>
          <a:ln/>
        </p:spPr>
        <p:txBody>
          <a:bodyPr wrap="square" lIns="0" tIns="0" rIns="0" bIns="0" rtlCol="0" anchor="ctr"/>
          <a:lstStyle/>
          <a:p>
            <a:pPr algn="ctr" indent="0" marL="0">
              <a:buNone/>
            </a:pPr>
            <a:r>
              <a:rPr lang="en-US" sz="1000" dirty="0">
                <a:solidFill>
                  <a:srgbClr val="5A5A5A"/>
                </a:solidFill>
                <a:latin typeface="Yu Gothic" pitchFamily="34" charset="0"/>
                <a:ea typeface="Yu Gothic" pitchFamily="34" charset="-122"/>
                <a:cs typeface="Yu Gothic" pitchFamily="34" charset="-120"/>
              </a:rPr>
              <a:t>エネルギー密度</a:t>
            </a:r>
            <a:endParaRPr lang="en-US" sz="1000" dirty="0"/>
          </a:p>
        </p:txBody>
      </p:sp>
      <p:sp>
        <p:nvSpPr>
          <p:cNvPr id="17" name="Shape 15"/>
          <p:cNvSpPr/>
          <p:nvPr/>
        </p:nvSpPr>
        <p:spPr>
          <a:xfrm>
            <a:off x="3337560" y="1600200"/>
            <a:ext cx="2651760" cy="1417320"/>
          </a:xfrm>
          <a:prstGeom prst="rect">
            <a:avLst/>
          </a:prstGeom>
          <a:solidFill>
            <a:srgbClr val="FFFFFF"/>
          </a:solidFill>
          <a:ln w="9525">
            <a:solidFill>
              <a:srgbClr val="C8C8C8"/>
            </a:solidFill>
            <a:prstDash val="solid"/>
          </a:ln>
        </p:spPr>
      </p:sp>
      <p:sp>
        <p:nvSpPr>
          <p:cNvPr id="18" name="Shape 16"/>
          <p:cNvSpPr/>
          <p:nvPr/>
        </p:nvSpPr>
        <p:spPr>
          <a:xfrm>
            <a:off x="3337560" y="1600200"/>
            <a:ext cx="2651760" cy="73152"/>
          </a:xfrm>
          <a:prstGeom prst="rect">
            <a:avLst/>
          </a:prstGeom>
          <a:solidFill>
            <a:srgbClr val="4F6238"/>
          </a:solidFill>
          <a:ln/>
        </p:spPr>
      </p:sp>
      <p:sp>
        <p:nvSpPr>
          <p:cNvPr id="19" name="Text 17"/>
          <p:cNvSpPr/>
          <p:nvPr/>
        </p:nvSpPr>
        <p:spPr>
          <a:xfrm>
            <a:off x="3337560" y="1764792"/>
            <a:ext cx="2651760" cy="637794"/>
          </a:xfrm>
          <a:prstGeom prst="rect">
            <a:avLst/>
          </a:prstGeom>
          <a:noFill/>
          <a:ln/>
        </p:spPr>
        <p:txBody>
          <a:bodyPr wrap="square" lIns="0" tIns="0" rIns="0" bIns="0" rtlCol="0" anchor="ctr"/>
          <a:lstStyle/>
          <a:p>
            <a:pPr algn="ctr" indent="0" marL="0">
              <a:buNone/>
            </a:pPr>
            <a:r>
              <a:rPr lang="en-US" sz="3400" b="1" dirty="0">
                <a:solidFill>
                  <a:srgbClr val="16324F"/>
                </a:solidFill>
                <a:latin typeface="Arial" pitchFamily="34" charset="0"/>
                <a:ea typeface="Arial" pitchFamily="34" charset="-122"/>
                <a:cs typeface="Arial" pitchFamily="34" charset="-120"/>
              </a:rPr>
              <a:t>986+</a:t>
            </a:r>
            <a:endParaRPr lang="en-US" sz="3400" dirty="0"/>
          </a:p>
        </p:txBody>
      </p:sp>
      <p:sp>
        <p:nvSpPr>
          <p:cNvPr id="20" name="Text 18"/>
          <p:cNvSpPr/>
          <p:nvPr/>
        </p:nvSpPr>
        <p:spPr>
          <a:xfrm>
            <a:off x="3337560" y="2379726"/>
            <a:ext cx="2651760" cy="274320"/>
          </a:xfrm>
          <a:prstGeom prst="rect">
            <a:avLst/>
          </a:prstGeom>
          <a:noFill/>
          <a:ln/>
        </p:spPr>
        <p:txBody>
          <a:bodyPr wrap="square" lIns="0" tIns="0" rIns="0" bIns="0" rtlCol="0" anchor="ctr"/>
          <a:lstStyle/>
          <a:p>
            <a:pPr algn="ctr" indent="0" marL="0">
              <a:buNone/>
            </a:pPr>
            <a:r>
              <a:rPr lang="en-US" sz="1200" b="1" dirty="0">
                <a:solidFill>
                  <a:srgbClr val="4F6238"/>
                </a:solidFill>
                <a:latin typeface="Yu Gothic" pitchFamily="34" charset="0"/>
                <a:ea typeface="Yu Gothic" pitchFamily="34" charset="-122"/>
                <a:cs typeface="Yu Gothic" pitchFamily="34" charset="-120"/>
              </a:rPr>
              <a:t>W/Lh</a:t>
            </a:r>
            <a:endParaRPr lang="en-US" sz="1200" dirty="0"/>
          </a:p>
        </p:txBody>
      </p:sp>
      <p:sp>
        <p:nvSpPr>
          <p:cNvPr id="21" name="Text 19"/>
          <p:cNvSpPr/>
          <p:nvPr/>
        </p:nvSpPr>
        <p:spPr>
          <a:xfrm>
            <a:off x="3337560" y="2672334"/>
            <a:ext cx="2651760" cy="292608"/>
          </a:xfrm>
          <a:prstGeom prst="rect">
            <a:avLst/>
          </a:prstGeom>
          <a:noFill/>
          <a:ln/>
        </p:spPr>
        <p:txBody>
          <a:bodyPr wrap="square" lIns="0" tIns="0" rIns="0" bIns="0" rtlCol="0" anchor="ctr"/>
          <a:lstStyle/>
          <a:p>
            <a:pPr algn="ctr" indent="0" marL="0">
              <a:buNone/>
            </a:pPr>
            <a:r>
              <a:rPr lang="en-US" sz="1000" dirty="0">
                <a:solidFill>
                  <a:srgbClr val="5A5A5A"/>
                </a:solidFill>
                <a:latin typeface="Yu Gothic" pitchFamily="34" charset="0"/>
                <a:ea typeface="Yu Gothic" pitchFamily="34" charset="-122"/>
                <a:cs typeface="Yu Gothic" pitchFamily="34" charset="-120"/>
              </a:rPr>
              <a:t>出力密度</a:t>
            </a:r>
            <a:endParaRPr lang="en-US" sz="1000" dirty="0"/>
          </a:p>
        </p:txBody>
      </p:sp>
      <p:sp>
        <p:nvSpPr>
          <p:cNvPr id="22" name="Shape 20"/>
          <p:cNvSpPr/>
          <p:nvPr/>
        </p:nvSpPr>
        <p:spPr>
          <a:xfrm>
            <a:off x="6217920" y="1600200"/>
            <a:ext cx="2651760" cy="1417320"/>
          </a:xfrm>
          <a:prstGeom prst="rect">
            <a:avLst/>
          </a:prstGeom>
          <a:solidFill>
            <a:srgbClr val="FFFFFF"/>
          </a:solidFill>
          <a:ln w="9525">
            <a:solidFill>
              <a:srgbClr val="C8C8C8"/>
            </a:solidFill>
            <a:prstDash val="solid"/>
          </a:ln>
        </p:spPr>
      </p:sp>
      <p:sp>
        <p:nvSpPr>
          <p:cNvPr id="23" name="Shape 21"/>
          <p:cNvSpPr/>
          <p:nvPr/>
        </p:nvSpPr>
        <p:spPr>
          <a:xfrm>
            <a:off x="6217920" y="1600200"/>
            <a:ext cx="2651760" cy="73152"/>
          </a:xfrm>
          <a:prstGeom prst="rect">
            <a:avLst/>
          </a:prstGeom>
          <a:solidFill>
            <a:srgbClr val="45586E"/>
          </a:solidFill>
          <a:ln/>
        </p:spPr>
      </p:sp>
      <p:sp>
        <p:nvSpPr>
          <p:cNvPr id="24" name="Text 22"/>
          <p:cNvSpPr/>
          <p:nvPr/>
        </p:nvSpPr>
        <p:spPr>
          <a:xfrm>
            <a:off x="6217920" y="1764792"/>
            <a:ext cx="2651760" cy="637794"/>
          </a:xfrm>
          <a:prstGeom prst="rect">
            <a:avLst/>
          </a:prstGeom>
          <a:noFill/>
          <a:ln/>
        </p:spPr>
        <p:txBody>
          <a:bodyPr wrap="square" lIns="0" tIns="0" rIns="0" bIns="0" rtlCol="0" anchor="ctr"/>
          <a:lstStyle/>
          <a:p>
            <a:pPr algn="ctr" indent="0" marL="0">
              <a:buNone/>
            </a:pPr>
            <a:r>
              <a:rPr lang="en-US" sz="3400" b="1" dirty="0">
                <a:solidFill>
                  <a:srgbClr val="16324F"/>
                </a:solidFill>
                <a:latin typeface="Arial" pitchFamily="34" charset="0"/>
                <a:ea typeface="Arial" pitchFamily="34" charset="-122"/>
                <a:cs typeface="Arial" pitchFamily="34" charset="-120"/>
              </a:rPr>
              <a:t>6,000+</a:t>
            </a:r>
            <a:endParaRPr lang="en-US" sz="3400" dirty="0"/>
          </a:p>
        </p:txBody>
      </p:sp>
      <p:sp>
        <p:nvSpPr>
          <p:cNvPr id="25" name="Text 23"/>
          <p:cNvSpPr/>
          <p:nvPr/>
        </p:nvSpPr>
        <p:spPr>
          <a:xfrm>
            <a:off x="6217920" y="2379726"/>
            <a:ext cx="2651760" cy="274320"/>
          </a:xfrm>
          <a:prstGeom prst="rect">
            <a:avLst/>
          </a:prstGeom>
          <a:noFill/>
          <a:ln/>
        </p:spPr>
        <p:txBody>
          <a:bodyPr wrap="square" lIns="0" tIns="0" rIns="0" bIns="0" rtlCol="0" anchor="ctr"/>
          <a:lstStyle/>
          <a:p>
            <a:pPr algn="ctr" indent="0" marL="0">
              <a:buNone/>
            </a:pPr>
            <a:r>
              <a:rPr lang="en-US" sz="1200" b="1" dirty="0">
                <a:solidFill>
                  <a:srgbClr val="45586E"/>
                </a:solidFill>
                <a:latin typeface="Yu Gothic" pitchFamily="34" charset="0"/>
                <a:ea typeface="Yu Gothic" pitchFamily="34" charset="-122"/>
                <a:cs typeface="Yu Gothic" pitchFamily="34" charset="-120"/>
              </a:rPr>
              <a:t>サイクル</a:t>
            </a:r>
            <a:endParaRPr lang="en-US" sz="1200" dirty="0"/>
          </a:p>
        </p:txBody>
      </p:sp>
      <p:sp>
        <p:nvSpPr>
          <p:cNvPr id="26" name="Text 24"/>
          <p:cNvSpPr/>
          <p:nvPr/>
        </p:nvSpPr>
        <p:spPr>
          <a:xfrm>
            <a:off x="6217920" y="2672334"/>
            <a:ext cx="2651760" cy="292608"/>
          </a:xfrm>
          <a:prstGeom prst="rect">
            <a:avLst/>
          </a:prstGeom>
          <a:noFill/>
          <a:ln/>
        </p:spPr>
        <p:txBody>
          <a:bodyPr wrap="square" lIns="0" tIns="0" rIns="0" bIns="0" rtlCol="0" anchor="ctr"/>
          <a:lstStyle/>
          <a:p>
            <a:pPr algn="ctr" indent="0" marL="0">
              <a:buNone/>
            </a:pPr>
            <a:r>
              <a:rPr lang="en-US" sz="1000" dirty="0">
                <a:solidFill>
                  <a:srgbClr val="5A5A5A"/>
                </a:solidFill>
                <a:latin typeface="Yu Gothic" pitchFamily="34" charset="0"/>
                <a:ea typeface="Yu Gothic" pitchFamily="34" charset="-122"/>
                <a:cs typeface="Yu Gothic" pitchFamily="34" charset="-120"/>
              </a:rPr>
              <a:t>寿命(UL 10年)</a:t>
            </a:r>
            <a:endParaRPr lang="en-US" sz="1000" dirty="0"/>
          </a:p>
        </p:txBody>
      </p:sp>
      <p:sp>
        <p:nvSpPr>
          <p:cNvPr id="27" name="Shape 25"/>
          <p:cNvSpPr/>
          <p:nvPr/>
        </p:nvSpPr>
        <p:spPr>
          <a:xfrm>
            <a:off x="9098280" y="1600200"/>
            <a:ext cx="2651760" cy="1417320"/>
          </a:xfrm>
          <a:prstGeom prst="rect">
            <a:avLst/>
          </a:prstGeom>
          <a:solidFill>
            <a:srgbClr val="FFFFFF"/>
          </a:solidFill>
          <a:ln w="9525">
            <a:solidFill>
              <a:srgbClr val="C8C8C8"/>
            </a:solidFill>
            <a:prstDash val="solid"/>
          </a:ln>
        </p:spPr>
      </p:sp>
      <p:sp>
        <p:nvSpPr>
          <p:cNvPr id="28" name="Shape 26"/>
          <p:cNvSpPr/>
          <p:nvPr/>
        </p:nvSpPr>
        <p:spPr>
          <a:xfrm>
            <a:off x="9098280" y="1600200"/>
            <a:ext cx="2651760" cy="73152"/>
          </a:xfrm>
          <a:prstGeom prst="rect">
            <a:avLst/>
          </a:prstGeom>
          <a:solidFill>
            <a:srgbClr val="B03A2E"/>
          </a:solidFill>
          <a:ln/>
        </p:spPr>
      </p:sp>
      <p:sp>
        <p:nvSpPr>
          <p:cNvPr id="29" name="Text 27"/>
          <p:cNvSpPr/>
          <p:nvPr/>
        </p:nvSpPr>
        <p:spPr>
          <a:xfrm>
            <a:off x="9098280" y="1764792"/>
            <a:ext cx="2651760" cy="637794"/>
          </a:xfrm>
          <a:prstGeom prst="rect">
            <a:avLst/>
          </a:prstGeom>
          <a:noFill/>
          <a:ln/>
        </p:spPr>
        <p:txBody>
          <a:bodyPr wrap="square" lIns="0" tIns="0" rIns="0" bIns="0" rtlCol="0" anchor="ctr"/>
          <a:lstStyle/>
          <a:p>
            <a:pPr algn="ctr" indent="0" marL="0">
              <a:buNone/>
            </a:pPr>
            <a:r>
              <a:rPr lang="en-US" sz="3400" b="1" dirty="0">
                <a:solidFill>
                  <a:srgbClr val="16324F"/>
                </a:solidFill>
                <a:latin typeface="Arial" pitchFamily="34" charset="0"/>
                <a:ea typeface="Arial" pitchFamily="34" charset="-122"/>
                <a:cs typeface="Arial" pitchFamily="34" charset="-120"/>
              </a:rPr>
              <a:t>248</a:t>
            </a:r>
            <a:endParaRPr lang="en-US" sz="3400" dirty="0"/>
          </a:p>
        </p:txBody>
      </p:sp>
      <p:sp>
        <p:nvSpPr>
          <p:cNvPr id="30" name="Text 28"/>
          <p:cNvSpPr/>
          <p:nvPr/>
        </p:nvSpPr>
        <p:spPr>
          <a:xfrm>
            <a:off x="9098280" y="2379726"/>
            <a:ext cx="2651760" cy="274320"/>
          </a:xfrm>
          <a:prstGeom prst="rect">
            <a:avLst/>
          </a:prstGeom>
          <a:noFill/>
          <a:ln/>
        </p:spPr>
        <p:txBody>
          <a:bodyPr wrap="square" lIns="0" tIns="0" rIns="0" bIns="0" rtlCol="0" anchor="ctr"/>
          <a:lstStyle/>
          <a:p>
            <a:pPr algn="ctr" indent="0" marL="0">
              <a:buNone/>
            </a:pPr>
            <a:r>
              <a:rPr lang="en-US" sz="1200" b="1" dirty="0">
                <a:solidFill>
                  <a:srgbClr val="B03A2E"/>
                </a:solidFill>
                <a:latin typeface="Yu Gothic" pitchFamily="34" charset="0"/>
                <a:ea typeface="Yu Gothic" pitchFamily="34" charset="-122"/>
                <a:cs typeface="Yu Gothic" pitchFamily="34" charset="-120"/>
              </a:rPr>
              <a:t>°C</a:t>
            </a:r>
            <a:endParaRPr lang="en-US" sz="1200" dirty="0"/>
          </a:p>
        </p:txBody>
      </p:sp>
      <p:sp>
        <p:nvSpPr>
          <p:cNvPr id="31" name="Text 29"/>
          <p:cNvSpPr/>
          <p:nvPr/>
        </p:nvSpPr>
        <p:spPr>
          <a:xfrm>
            <a:off x="9098280" y="2672334"/>
            <a:ext cx="2651760" cy="292608"/>
          </a:xfrm>
          <a:prstGeom prst="rect">
            <a:avLst/>
          </a:prstGeom>
          <a:noFill/>
          <a:ln/>
        </p:spPr>
        <p:txBody>
          <a:bodyPr wrap="square" lIns="0" tIns="0" rIns="0" bIns="0" rtlCol="0" anchor="ctr"/>
          <a:lstStyle/>
          <a:p>
            <a:pPr algn="ctr" indent="0" marL="0">
              <a:buNone/>
            </a:pPr>
            <a:r>
              <a:rPr lang="en-US" sz="1000" dirty="0">
                <a:solidFill>
                  <a:srgbClr val="5A5A5A"/>
                </a:solidFill>
                <a:latin typeface="Yu Gothic" pitchFamily="34" charset="0"/>
                <a:ea typeface="Yu Gothic" pitchFamily="34" charset="-122"/>
                <a:cs typeface="Yu Gothic" pitchFamily="34" charset="-120"/>
              </a:rPr>
              <a:t>熱安定性限界(UL)</a:t>
            </a:r>
            <a:endParaRPr lang="en-US" sz="1000" dirty="0"/>
          </a:p>
        </p:txBody>
      </p:sp>
      <p:sp>
        <p:nvSpPr>
          <p:cNvPr id="32" name="Shape 30"/>
          <p:cNvSpPr/>
          <p:nvPr/>
        </p:nvSpPr>
        <p:spPr>
          <a:xfrm>
            <a:off x="457200" y="3291840"/>
            <a:ext cx="2651760" cy="384048"/>
          </a:xfrm>
          <a:prstGeom prst="rect">
            <a:avLst/>
          </a:prstGeom>
          <a:solidFill>
            <a:srgbClr val="B03A2E"/>
          </a:solidFill>
          <a:ln/>
        </p:spPr>
      </p:sp>
      <p:sp>
        <p:nvSpPr>
          <p:cNvPr id="33" name="Text 31"/>
          <p:cNvSpPr/>
          <p:nvPr/>
        </p:nvSpPr>
        <p:spPr>
          <a:xfrm>
            <a:off x="457200" y="3291840"/>
            <a:ext cx="265176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運用安全性</a:t>
            </a:r>
            <a:endParaRPr lang="en-US" sz="1100" dirty="0"/>
          </a:p>
        </p:txBody>
      </p:sp>
      <p:sp>
        <p:nvSpPr>
          <p:cNvPr id="34" name="Shape 32"/>
          <p:cNvSpPr/>
          <p:nvPr/>
        </p:nvSpPr>
        <p:spPr>
          <a:xfrm>
            <a:off x="457200" y="3675888"/>
            <a:ext cx="2651760" cy="1234440"/>
          </a:xfrm>
          <a:prstGeom prst="rect">
            <a:avLst/>
          </a:prstGeom>
          <a:solidFill>
            <a:srgbClr val="FFFFFF"/>
          </a:solidFill>
          <a:ln w="9525">
            <a:solidFill>
              <a:srgbClr val="C8C8C8"/>
            </a:solidFill>
            <a:prstDash val="solid"/>
          </a:ln>
        </p:spPr>
      </p:sp>
      <p:sp>
        <p:nvSpPr>
          <p:cNvPr id="35" name="Text 33"/>
          <p:cNvSpPr/>
          <p:nvPr/>
        </p:nvSpPr>
        <p:spPr>
          <a:xfrm>
            <a:off x="566928" y="3767328"/>
            <a:ext cx="2432304" cy="1051560"/>
          </a:xfrm>
          <a:prstGeom prst="rect">
            <a:avLst/>
          </a:prstGeom>
          <a:noFill/>
          <a:ln/>
        </p:spPr>
        <p:txBody>
          <a:bodyPr wrap="square" lIns="0" tIns="0" rIns="0" bIns="0" rtlCol="0" anchor="ctr"/>
          <a:lstStyle/>
          <a:p>
            <a:pPr algn="ctr" indent="0" marL="0">
              <a:buNone/>
            </a:pPr>
            <a:r>
              <a:rPr lang="en-US" sz="950" dirty="0">
                <a:solidFill>
                  <a:srgbClr val="1A1A1A"/>
                </a:solidFill>
                <a:latin typeface="Yu Gothic" pitchFamily="34" charset="0"/>
                <a:ea typeface="Yu Gothic" pitchFamily="34" charset="-122"/>
                <a:cs typeface="Yu Gothic" pitchFamily="34" charset="-120"/>
              </a:rPr>
              <a:t>7.62 mm貫通 · 発火ゼロ · UL認証</a:t>
            </a:r>
            <a:endParaRPr lang="en-US" sz="950" dirty="0"/>
          </a:p>
        </p:txBody>
      </p:sp>
      <p:sp>
        <p:nvSpPr>
          <p:cNvPr id="36" name="Shape 34"/>
          <p:cNvSpPr/>
          <p:nvPr/>
        </p:nvSpPr>
        <p:spPr>
          <a:xfrm>
            <a:off x="3337560" y="3291840"/>
            <a:ext cx="2651760" cy="384048"/>
          </a:xfrm>
          <a:prstGeom prst="rect">
            <a:avLst/>
          </a:prstGeom>
          <a:solidFill>
            <a:srgbClr val="45586E"/>
          </a:solidFill>
          <a:ln/>
        </p:spPr>
      </p:sp>
      <p:sp>
        <p:nvSpPr>
          <p:cNvPr id="37" name="Text 35"/>
          <p:cNvSpPr/>
          <p:nvPr/>
        </p:nvSpPr>
        <p:spPr>
          <a:xfrm>
            <a:off x="3337560" y="3291840"/>
            <a:ext cx="265176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極限環境動作</a:t>
            </a:r>
            <a:endParaRPr lang="en-US" sz="1100" dirty="0"/>
          </a:p>
        </p:txBody>
      </p:sp>
      <p:sp>
        <p:nvSpPr>
          <p:cNvPr id="38" name="Shape 36"/>
          <p:cNvSpPr/>
          <p:nvPr/>
        </p:nvSpPr>
        <p:spPr>
          <a:xfrm>
            <a:off x="3337560" y="3675888"/>
            <a:ext cx="2651760" cy="1234440"/>
          </a:xfrm>
          <a:prstGeom prst="rect">
            <a:avLst/>
          </a:prstGeom>
          <a:solidFill>
            <a:srgbClr val="FFFFFF"/>
          </a:solidFill>
          <a:ln w="9525">
            <a:solidFill>
              <a:srgbClr val="C8C8C8"/>
            </a:solidFill>
            <a:prstDash val="solid"/>
          </a:ln>
        </p:spPr>
      </p:sp>
      <p:sp>
        <p:nvSpPr>
          <p:cNvPr id="39" name="Text 37"/>
          <p:cNvSpPr/>
          <p:nvPr/>
        </p:nvSpPr>
        <p:spPr>
          <a:xfrm>
            <a:off x="3447288" y="3767328"/>
            <a:ext cx="2432304" cy="1051560"/>
          </a:xfrm>
          <a:prstGeom prst="rect">
            <a:avLst/>
          </a:prstGeom>
          <a:noFill/>
          <a:ln/>
        </p:spPr>
        <p:txBody>
          <a:bodyPr wrap="square" lIns="0" tIns="0" rIns="0" bIns="0" rtlCol="0" anchor="ctr"/>
          <a:lstStyle/>
          <a:p>
            <a:pPr algn="ctr" indent="0" marL="0">
              <a:buNone/>
            </a:pPr>
            <a:r>
              <a:rPr lang="en-US" sz="950" dirty="0">
                <a:solidFill>
                  <a:srgbClr val="1A1A1A"/>
                </a:solidFill>
                <a:latin typeface="Yu Gothic" pitchFamily="34" charset="0"/>
                <a:ea typeface="Yu Gothic" pitchFamily="34" charset="-122"/>
                <a:cs typeface="Yu Gothic" pitchFamily="34" charset="-120"/>
              </a:rPr>
              <a:t>放電 -36.8°C ~ +80°C</a:t>
            </a:r>
            <a:endParaRPr lang="en-US" sz="950" dirty="0"/>
          </a:p>
        </p:txBody>
      </p:sp>
      <p:sp>
        <p:nvSpPr>
          <p:cNvPr id="40" name="Shape 38"/>
          <p:cNvSpPr/>
          <p:nvPr/>
        </p:nvSpPr>
        <p:spPr>
          <a:xfrm>
            <a:off x="6217920" y="3291840"/>
            <a:ext cx="2651760" cy="384048"/>
          </a:xfrm>
          <a:prstGeom prst="rect">
            <a:avLst/>
          </a:prstGeom>
          <a:solidFill>
            <a:srgbClr val="4F6238"/>
          </a:solidFill>
          <a:ln/>
        </p:spPr>
      </p:sp>
      <p:sp>
        <p:nvSpPr>
          <p:cNvPr id="41" name="Text 39"/>
          <p:cNvSpPr/>
          <p:nvPr/>
        </p:nvSpPr>
        <p:spPr>
          <a:xfrm>
            <a:off x="6217920" y="3291840"/>
            <a:ext cx="265176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ミッション信頼性</a:t>
            </a:r>
            <a:endParaRPr lang="en-US" sz="1100" dirty="0"/>
          </a:p>
        </p:txBody>
      </p:sp>
      <p:sp>
        <p:nvSpPr>
          <p:cNvPr id="42" name="Shape 40"/>
          <p:cNvSpPr/>
          <p:nvPr/>
        </p:nvSpPr>
        <p:spPr>
          <a:xfrm>
            <a:off x="6217920" y="3675888"/>
            <a:ext cx="2651760" cy="1234440"/>
          </a:xfrm>
          <a:prstGeom prst="rect">
            <a:avLst/>
          </a:prstGeom>
          <a:solidFill>
            <a:srgbClr val="FFFFFF"/>
          </a:solidFill>
          <a:ln w="9525">
            <a:solidFill>
              <a:srgbClr val="C8C8C8"/>
            </a:solidFill>
            <a:prstDash val="solid"/>
          </a:ln>
        </p:spPr>
      </p:sp>
      <p:sp>
        <p:nvSpPr>
          <p:cNvPr id="43" name="Text 41"/>
          <p:cNvSpPr/>
          <p:nvPr/>
        </p:nvSpPr>
        <p:spPr>
          <a:xfrm>
            <a:off x="6327648" y="3767328"/>
            <a:ext cx="2432304" cy="1051560"/>
          </a:xfrm>
          <a:prstGeom prst="rect">
            <a:avLst/>
          </a:prstGeom>
          <a:noFill/>
          <a:ln/>
        </p:spPr>
        <p:txBody>
          <a:bodyPr wrap="square" lIns="0" tIns="0" rIns="0" bIns="0" rtlCol="0" anchor="ctr"/>
          <a:lstStyle/>
          <a:p>
            <a:pPr algn="ctr" indent="0" marL="0">
              <a:buNone/>
            </a:pPr>
            <a:r>
              <a:rPr lang="en-US" sz="950" dirty="0">
                <a:solidFill>
                  <a:srgbClr val="1A1A1A"/>
                </a:solidFill>
                <a:latin typeface="Yu Gothic" pitchFamily="34" charset="0"/>
                <a:ea typeface="Yu Gothic" pitchFamily="34" charset="-122"/>
                <a:cs typeface="Yu Gothic" pitchFamily="34" charset="-120"/>
              </a:rPr>
              <a:t>BMS WiFi遠隔管理 · 毎日のセル状態チェック · 6,000+サイクル</a:t>
            </a:r>
            <a:endParaRPr lang="en-US" sz="950" dirty="0"/>
          </a:p>
        </p:txBody>
      </p:sp>
      <p:sp>
        <p:nvSpPr>
          <p:cNvPr id="44" name="Shape 42"/>
          <p:cNvSpPr/>
          <p:nvPr/>
        </p:nvSpPr>
        <p:spPr>
          <a:xfrm>
            <a:off x="9098280" y="3291840"/>
            <a:ext cx="2651760" cy="384048"/>
          </a:xfrm>
          <a:prstGeom prst="rect">
            <a:avLst/>
          </a:prstGeom>
          <a:solidFill>
            <a:srgbClr val="C9A227"/>
          </a:solidFill>
          <a:ln/>
        </p:spPr>
      </p:sp>
      <p:sp>
        <p:nvSpPr>
          <p:cNvPr id="45" name="Text 43"/>
          <p:cNvSpPr/>
          <p:nvPr/>
        </p:nvSpPr>
        <p:spPr>
          <a:xfrm>
            <a:off x="9098280" y="3291840"/>
            <a:ext cx="265176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運用効率</a:t>
            </a:r>
            <a:endParaRPr lang="en-US" sz="1100" dirty="0"/>
          </a:p>
        </p:txBody>
      </p:sp>
      <p:sp>
        <p:nvSpPr>
          <p:cNvPr id="46" name="Shape 44"/>
          <p:cNvSpPr/>
          <p:nvPr/>
        </p:nvSpPr>
        <p:spPr>
          <a:xfrm>
            <a:off x="9098280" y="3675888"/>
            <a:ext cx="2651760" cy="1234440"/>
          </a:xfrm>
          <a:prstGeom prst="rect">
            <a:avLst/>
          </a:prstGeom>
          <a:solidFill>
            <a:srgbClr val="FFFFFF"/>
          </a:solidFill>
          <a:ln w="9525">
            <a:solidFill>
              <a:srgbClr val="C8C8C8"/>
            </a:solidFill>
            <a:prstDash val="solid"/>
          </a:ln>
        </p:spPr>
      </p:sp>
      <p:sp>
        <p:nvSpPr>
          <p:cNvPr id="47" name="Text 45"/>
          <p:cNvSpPr/>
          <p:nvPr/>
        </p:nvSpPr>
        <p:spPr>
          <a:xfrm>
            <a:off x="9208008" y="3767328"/>
            <a:ext cx="2432304" cy="1051560"/>
          </a:xfrm>
          <a:prstGeom prst="rect">
            <a:avLst/>
          </a:prstGeom>
          <a:noFill/>
          <a:ln/>
        </p:spPr>
        <p:txBody>
          <a:bodyPr wrap="square" lIns="0" tIns="0" rIns="0" bIns="0" rtlCol="0" anchor="ctr"/>
          <a:lstStyle/>
          <a:p>
            <a:pPr algn="ctr" indent="0" marL="0">
              <a:buNone/>
            </a:pPr>
            <a:r>
              <a:rPr lang="en-US" sz="950" dirty="0">
                <a:solidFill>
                  <a:srgbClr val="1A1A1A"/>
                </a:solidFill>
                <a:latin typeface="Yu Gothic" pitchFamily="34" charset="0"/>
                <a:ea typeface="Yu Gothic" pitchFamily="34" charset="-122"/>
                <a:cs typeface="Yu Gothic" pitchFamily="34" charset="-120"/>
              </a:rPr>
              <a:t>20分で80%急速充電 · 15Cパルス</a:t>
            </a:r>
            <a:endParaRPr lang="en-US" sz="950" dirty="0"/>
          </a:p>
        </p:txBody>
      </p:sp>
      <p:sp>
        <p:nvSpPr>
          <p:cNvPr id="48" name="Shape 46"/>
          <p:cNvSpPr/>
          <p:nvPr/>
        </p:nvSpPr>
        <p:spPr>
          <a:xfrm>
            <a:off x="457200" y="5166360"/>
            <a:ext cx="11274552" cy="1051560"/>
          </a:xfrm>
          <a:prstGeom prst="rect">
            <a:avLst/>
          </a:prstGeom>
          <a:solidFill>
            <a:srgbClr val="16324F"/>
          </a:solidFill>
          <a:ln/>
        </p:spPr>
      </p:sp>
      <p:sp>
        <p:nvSpPr>
          <p:cNvPr id="49" name="Text 47"/>
          <p:cNvSpPr/>
          <p:nvPr/>
        </p:nvSpPr>
        <p:spPr>
          <a:xfrm>
            <a:off x="685800" y="5230368"/>
            <a:ext cx="10881360" cy="566928"/>
          </a:xfrm>
          <a:prstGeom prst="rect">
            <a:avLst/>
          </a:prstGeom>
          <a:noFill/>
          <a:ln/>
        </p:spPr>
        <p:txBody>
          <a:bodyPr wrap="square" lIns="0" tIns="0" rIns="0" bIns="0" rtlCol="0" anchor="t"/>
          <a:lstStyle/>
          <a:p>
            <a:pPr indent="0" marL="0">
              <a:buNone/>
            </a:pPr>
            <a:r>
              <a:rPr lang="en-US" sz="1150" b="1" dirty="0">
                <a:solidFill>
                  <a:srgbClr val="C9A227"/>
                </a:solidFill>
                <a:latin typeface="Yu Gothic" pitchFamily="34" charset="0"/>
                <a:ea typeface="Yu Gothic" pitchFamily="34" charset="-122"/>
                <a:cs typeface="Yu Gothic" pitchFamily="34" charset="-120"/>
              </a:rPr>
              <a:t>結論 · TNO-Sは、火災・資源・性能の面で限界を抱えるLi-ionを代替し、21世紀の防衛・航空宇宙・国家インフラに適用可能な唯一の実証済み電池である。</a:t>
            </a:r>
            <a:endParaRPr lang="en-US" sz="1150" dirty="0"/>
          </a:p>
        </p:txBody>
      </p:sp>
      <p:sp>
        <p:nvSpPr>
          <p:cNvPr id="50" name="Text 48"/>
          <p:cNvSpPr/>
          <p:nvPr/>
        </p:nvSpPr>
        <p:spPr>
          <a:xfrm>
            <a:off x="685800" y="5806440"/>
            <a:ext cx="10881360" cy="320040"/>
          </a:xfrm>
          <a:prstGeom prst="rect">
            <a:avLst/>
          </a:prstGeom>
          <a:noFill/>
          <a:ln/>
        </p:spPr>
        <p:txBody>
          <a:bodyPr wrap="square" lIns="0" tIns="0" rIns="0" bIns="0" rtlCol="0" anchor="ctr"/>
          <a:lstStyle/>
          <a:p>
            <a:pPr indent="0" marL="0">
              <a:buNone/>
            </a:pPr>
            <a:r>
              <a:rPr lang="en-US" sz="950" dirty="0">
                <a:solidFill>
                  <a:srgbClr val="FFFFFF"/>
                </a:solidFill>
                <a:latin typeface="Yu Gothic" pitchFamily="34" charset="0"/>
                <a:ea typeface="Yu Gothic" pitchFamily="34" charset="-122"/>
                <a:cs typeface="Yu Gothic" pitchFamily="34" charset="-120"/>
              </a:rPr>
              <a:t>NATOノルウェー実戦配備  |  KBIA SPS-C KBIA-10104-03  |  ULリスト登録  |  NASA ADCI合格  |  FAA TSO-C179b 進行中</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TABLE OF CONTENTS</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03/55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ホワイトペーパーの構成</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10章 · 60ページ · 防衛特化型技術ホワイトペーパー</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691640"/>
            <a:ext cx="914400" cy="731520"/>
          </a:xfrm>
          <a:prstGeom prst="rect">
            <a:avLst/>
          </a:prstGeom>
          <a:solidFill>
            <a:srgbClr val="16324F"/>
          </a:solidFill>
          <a:ln/>
        </p:spPr>
      </p:sp>
      <p:sp>
        <p:nvSpPr>
          <p:cNvPr id="13" name="Text 11"/>
          <p:cNvSpPr/>
          <p:nvPr/>
        </p:nvSpPr>
        <p:spPr>
          <a:xfrm>
            <a:off x="457200" y="1691640"/>
            <a:ext cx="914400" cy="731520"/>
          </a:xfrm>
          <a:prstGeom prst="rect">
            <a:avLst/>
          </a:prstGeom>
          <a:noFill/>
          <a:ln/>
        </p:spPr>
        <p:txBody>
          <a:bodyPr wrap="square" lIns="0" tIns="0" rIns="0" bIns="0" rtlCol="0" anchor="ctr"/>
          <a:lstStyle/>
          <a:p>
            <a:pPr algn="ctr" indent="0" marL="0">
              <a:buNone/>
            </a:pPr>
            <a:r>
              <a:rPr lang="en-US" sz="1600" b="1" dirty="0">
                <a:solidFill>
                  <a:srgbClr val="C9A227"/>
                </a:solidFill>
                <a:latin typeface="Arial" pitchFamily="34" charset="0"/>
                <a:ea typeface="Arial" pitchFamily="34" charset="-122"/>
                <a:cs typeface="Arial" pitchFamily="34" charset="-120"/>
              </a:rPr>
              <a:t>01</a:t>
            </a:r>
            <a:endParaRPr lang="en-US" sz="1600" dirty="0"/>
          </a:p>
        </p:txBody>
      </p:sp>
      <p:sp>
        <p:nvSpPr>
          <p:cNvPr id="14" name="Shape 12"/>
          <p:cNvSpPr/>
          <p:nvPr/>
        </p:nvSpPr>
        <p:spPr>
          <a:xfrm>
            <a:off x="1371600" y="1691640"/>
            <a:ext cx="4480560" cy="731520"/>
          </a:xfrm>
          <a:prstGeom prst="rect">
            <a:avLst/>
          </a:prstGeom>
          <a:solidFill>
            <a:srgbClr val="FFFFFF"/>
          </a:solidFill>
          <a:ln w="9525">
            <a:solidFill>
              <a:srgbClr val="C8C8C8"/>
            </a:solidFill>
            <a:prstDash val="solid"/>
          </a:ln>
        </p:spPr>
      </p:sp>
      <p:sp>
        <p:nvSpPr>
          <p:cNvPr id="15" name="Text 13"/>
          <p:cNvSpPr/>
          <p:nvPr/>
        </p:nvSpPr>
        <p:spPr>
          <a:xfrm>
            <a:off x="1554480" y="1764792"/>
            <a:ext cx="3291840" cy="585216"/>
          </a:xfrm>
          <a:prstGeom prst="rect">
            <a:avLst/>
          </a:prstGeom>
          <a:noFill/>
          <a:ln/>
        </p:spPr>
        <p:txBody>
          <a:bodyPr wrap="square" lIns="0" tIns="0" rIns="0" bIns="0" rtlCol="0" anchor="ctr"/>
          <a:lstStyle/>
          <a:p>
            <a:pPr indent="0" marL="0">
              <a:buNone/>
            </a:pPr>
            <a:r>
              <a:rPr lang="en-US" sz="1200" b="1" dirty="0">
                <a:solidFill>
                  <a:srgbClr val="16324F"/>
                </a:solidFill>
                <a:latin typeface="Yu Gothic" pitchFamily="34" charset="0"/>
                <a:ea typeface="Yu Gothic" pitchFamily="34" charset="-122"/>
                <a:cs typeface="Yu Gothic" pitchFamily="34" charset="-120"/>
              </a:rPr>
              <a:t>戦場環境と電池のミスマッチ</a:t>
            </a:r>
            <a:endParaRPr lang="en-US" sz="1200" dirty="0"/>
          </a:p>
        </p:txBody>
      </p:sp>
      <p:sp>
        <p:nvSpPr>
          <p:cNvPr id="16" name="Text 14"/>
          <p:cNvSpPr/>
          <p:nvPr/>
        </p:nvSpPr>
        <p:spPr>
          <a:xfrm>
            <a:off x="4663440" y="1691640"/>
            <a:ext cx="1097280" cy="731520"/>
          </a:xfrm>
          <a:prstGeom prst="rect">
            <a:avLst/>
          </a:prstGeom>
          <a:noFill/>
          <a:ln/>
        </p:spPr>
        <p:txBody>
          <a:bodyPr wrap="square" lIns="0" tIns="0" rIns="0" bIns="0" rtlCol="0" anchor="ctr"/>
          <a:lstStyle/>
          <a:p>
            <a:pPr indent="0" marL="0">
              <a:buNone/>
            </a:pPr>
            <a:r>
              <a:rPr lang="en-US" sz="1000" b="1" dirty="0">
                <a:solidFill>
                  <a:srgbClr val="C9A227"/>
                </a:solidFill>
                <a:latin typeface="Arial" pitchFamily="34" charset="0"/>
                <a:ea typeface="Arial" pitchFamily="34" charset="-122"/>
                <a:cs typeface="Arial" pitchFamily="34" charset="-120"/>
              </a:rPr>
              <a:t>p.05-09</a:t>
            </a:r>
            <a:endParaRPr lang="en-US" sz="1000" dirty="0"/>
          </a:p>
        </p:txBody>
      </p:sp>
      <p:sp>
        <p:nvSpPr>
          <p:cNvPr id="17" name="Shape 15"/>
          <p:cNvSpPr/>
          <p:nvPr/>
        </p:nvSpPr>
        <p:spPr>
          <a:xfrm>
            <a:off x="457200" y="2587752"/>
            <a:ext cx="914400" cy="731520"/>
          </a:xfrm>
          <a:prstGeom prst="rect">
            <a:avLst/>
          </a:prstGeom>
          <a:solidFill>
            <a:srgbClr val="16324F"/>
          </a:solidFill>
          <a:ln/>
        </p:spPr>
      </p:sp>
      <p:sp>
        <p:nvSpPr>
          <p:cNvPr id="18" name="Text 16"/>
          <p:cNvSpPr/>
          <p:nvPr/>
        </p:nvSpPr>
        <p:spPr>
          <a:xfrm>
            <a:off x="457200" y="2587752"/>
            <a:ext cx="914400" cy="731520"/>
          </a:xfrm>
          <a:prstGeom prst="rect">
            <a:avLst/>
          </a:prstGeom>
          <a:noFill/>
          <a:ln/>
        </p:spPr>
        <p:txBody>
          <a:bodyPr wrap="square" lIns="0" tIns="0" rIns="0" bIns="0" rtlCol="0" anchor="ctr"/>
          <a:lstStyle/>
          <a:p>
            <a:pPr algn="ctr" indent="0" marL="0">
              <a:buNone/>
            </a:pPr>
            <a:r>
              <a:rPr lang="en-US" sz="1600" b="1" dirty="0">
                <a:solidFill>
                  <a:srgbClr val="C9A227"/>
                </a:solidFill>
                <a:latin typeface="Arial" pitchFamily="34" charset="0"/>
                <a:ea typeface="Arial" pitchFamily="34" charset="-122"/>
                <a:cs typeface="Arial" pitchFamily="34" charset="-120"/>
              </a:rPr>
              <a:t>02</a:t>
            </a:r>
            <a:endParaRPr lang="en-US" sz="1600" dirty="0"/>
          </a:p>
        </p:txBody>
      </p:sp>
      <p:sp>
        <p:nvSpPr>
          <p:cNvPr id="19" name="Shape 17"/>
          <p:cNvSpPr/>
          <p:nvPr/>
        </p:nvSpPr>
        <p:spPr>
          <a:xfrm>
            <a:off x="1371600" y="2587752"/>
            <a:ext cx="4480560" cy="731520"/>
          </a:xfrm>
          <a:prstGeom prst="rect">
            <a:avLst/>
          </a:prstGeom>
          <a:solidFill>
            <a:srgbClr val="FFFFFF"/>
          </a:solidFill>
          <a:ln w="9525">
            <a:solidFill>
              <a:srgbClr val="C8C8C8"/>
            </a:solidFill>
            <a:prstDash val="solid"/>
          </a:ln>
        </p:spPr>
      </p:sp>
      <p:sp>
        <p:nvSpPr>
          <p:cNvPr id="20" name="Text 18"/>
          <p:cNvSpPr/>
          <p:nvPr/>
        </p:nvSpPr>
        <p:spPr>
          <a:xfrm>
            <a:off x="1554480" y="2660904"/>
            <a:ext cx="3291840" cy="585216"/>
          </a:xfrm>
          <a:prstGeom prst="rect">
            <a:avLst/>
          </a:prstGeom>
          <a:noFill/>
          <a:ln/>
        </p:spPr>
        <p:txBody>
          <a:bodyPr wrap="square" lIns="0" tIns="0" rIns="0" bIns="0" rtlCol="0" anchor="ctr"/>
          <a:lstStyle/>
          <a:p>
            <a:pPr indent="0" marL="0">
              <a:buNone/>
            </a:pPr>
            <a:r>
              <a:rPr lang="en-US" sz="1200" b="1" dirty="0">
                <a:solidFill>
                  <a:srgbClr val="16324F"/>
                </a:solidFill>
                <a:latin typeface="Yu Gothic" pitchFamily="34" charset="0"/>
                <a:ea typeface="Yu Gothic" pitchFamily="34" charset="-122"/>
                <a:cs typeface="Yu Gothic" pitchFamily="34" charset="-120"/>
              </a:rPr>
              <a:t>TNO-S 技術アーキテクチャ</a:t>
            </a:r>
            <a:endParaRPr lang="en-US" sz="1200" dirty="0"/>
          </a:p>
        </p:txBody>
      </p:sp>
      <p:sp>
        <p:nvSpPr>
          <p:cNvPr id="21" name="Text 19"/>
          <p:cNvSpPr/>
          <p:nvPr/>
        </p:nvSpPr>
        <p:spPr>
          <a:xfrm>
            <a:off x="4663440" y="2587752"/>
            <a:ext cx="1097280" cy="731520"/>
          </a:xfrm>
          <a:prstGeom prst="rect">
            <a:avLst/>
          </a:prstGeom>
          <a:noFill/>
          <a:ln/>
        </p:spPr>
        <p:txBody>
          <a:bodyPr wrap="square" lIns="0" tIns="0" rIns="0" bIns="0" rtlCol="0" anchor="ctr"/>
          <a:lstStyle/>
          <a:p>
            <a:pPr indent="0" marL="0">
              <a:buNone/>
            </a:pPr>
            <a:r>
              <a:rPr lang="en-US" sz="1000" b="1" dirty="0">
                <a:solidFill>
                  <a:srgbClr val="C9A227"/>
                </a:solidFill>
                <a:latin typeface="Arial" pitchFamily="34" charset="0"/>
                <a:ea typeface="Arial" pitchFamily="34" charset="-122"/>
                <a:cs typeface="Arial" pitchFamily="34" charset="-120"/>
              </a:rPr>
              <a:t>p.10-16</a:t>
            </a:r>
            <a:endParaRPr lang="en-US" sz="1000" dirty="0"/>
          </a:p>
        </p:txBody>
      </p:sp>
      <p:sp>
        <p:nvSpPr>
          <p:cNvPr id="22" name="Shape 20"/>
          <p:cNvSpPr/>
          <p:nvPr/>
        </p:nvSpPr>
        <p:spPr>
          <a:xfrm>
            <a:off x="457200" y="3483864"/>
            <a:ext cx="914400" cy="731520"/>
          </a:xfrm>
          <a:prstGeom prst="rect">
            <a:avLst/>
          </a:prstGeom>
          <a:solidFill>
            <a:srgbClr val="16324F"/>
          </a:solidFill>
          <a:ln/>
        </p:spPr>
      </p:sp>
      <p:sp>
        <p:nvSpPr>
          <p:cNvPr id="23" name="Text 21"/>
          <p:cNvSpPr/>
          <p:nvPr/>
        </p:nvSpPr>
        <p:spPr>
          <a:xfrm>
            <a:off x="457200" y="3483864"/>
            <a:ext cx="914400" cy="731520"/>
          </a:xfrm>
          <a:prstGeom prst="rect">
            <a:avLst/>
          </a:prstGeom>
          <a:noFill/>
          <a:ln/>
        </p:spPr>
        <p:txBody>
          <a:bodyPr wrap="square" lIns="0" tIns="0" rIns="0" bIns="0" rtlCol="0" anchor="ctr"/>
          <a:lstStyle/>
          <a:p>
            <a:pPr algn="ctr" indent="0" marL="0">
              <a:buNone/>
            </a:pPr>
            <a:r>
              <a:rPr lang="en-US" sz="1600" b="1" dirty="0">
                <a:solidFill>
                  <a:srgbClr val="C9A227"/>
                </a:solidFill>
                <a:latin typeface="Arial" pitchFamily="34" charset="0"/>
                <a:ea typeface="Arial" pitchFamily="34" charset="-122"/>
                <a:cs typeface="Arial" pitchFamily="34" charset="-120"/>
              </a:rPr>
              <a:t>03</a:t>
            </a:r>
            <a:endParaRPr lang="en-US" sz="1600" dirty="0"/>
          </a:p>
        </p:txBody>
      </p:sp>
      <p:sp>
        <p:nvSpPr>
          <p:cNvPr id="24" name="Shape 22"/>
          <p:cNvSpPr/>
          <p:nvPr/>
        </p:nvSpPr>
        <p:spPr>
          <a:xfrm>
            <a:off x="1371600" y="3483864"/>
            <a:ext cx="4480560" cy="731520"/>
          </a:xfrm>
          <a:prstGeom prst="rect">
            <a:avLst/>
          </a:prstGeom>
          <a:solidFill>
            <a:srgbClr val="FFFFFF"/>
          </a:solidFill>
          <a:ln w="9525">
            <a:solidFill>
              <a:srgbClr val="C8C8C8"/>
            </a:solidFill>
            <a:prstDash val="solid"/>
          </a:ln>
        </p:spPr>
      </p:sp>
      <p:sp>
        <p:nvSpPr>
          <p:cNvPr id="25" name="Text 23"/>
          <p:cNvSpPr/>
          <p:nvPr/>
        </p:nvSpPr>
        <p:spPr>
          <a:xfrm>
            <a:off x="1554480" y="3557016"/>
            <a:ext cx="3291840" cy="585216"/>
          </a:xfrm>
          <a:prstGeom prst="rect">
            <a:avLst/>
          </a:prstGeom>
          <a:noFill/>
          <a:ln/>
        </p:spPr>
        <p:txBody>
          <a:bodyPr wrap="square" lIns="0" tIns="0" rIns="0" bIns="0" rtlCol="0" anchor="ctr"/>
          <a:lstStyle/>
          <a:p>
            <a:pPr indent="0" marL="0">
              <a:buNone/>
            </a:pPr>
            <a:r>
              <a:rPr lang="en-US" sz="1200" b="1" dirty="0">
                <a:solidFill>
                  <a:srgbClr val="16324F"/>
                </a:solidFill>
                <a:latin typeface="Yu Gothic" pitchFamily="34" charset="0"/>
                <a:ea typeface="Yu Gothic" pitchFamily="34" charset="-122"/>
                <a:cs typeface="Yu Gothic" pitchFamily="34" charset="-120"/>
              </a:rPr>
              <a:t>防衛グレード性能指標</a:t>
            </a:r>
            <a:endParaRPr lang="en-US" sz="1200" dirty="0"/>
          </a:p>
        </p:txBody>
      </p:sp>
      <p:sp>
        <p:nvSpPr>
          <p:cNvPr id="26" name="Text 24"/>
          <p:cNvSpPr/>
          <p:nvPr/>
        </p:nvSpPr>
        <p:spPr>
          <a:xfrm>
            <a:off x="4663440" y="3483864"/>
            <a:ext cx="1097280" cy="731520"/>
          </a:xfrm>
          <a:prstGeom prst="rect">
            <a:avLst/>
          </a:prstGeom>
          <a:noFill/>
          <a:ln/>
        </p:spPr>
        <p:txBody>
          <a:bodyPr wrap="square" lIns="0" tIns="0" rIns="0" bIns="0" rtlCol="0" anchor="ctr"/>
          <a:lstStyle/>
          <a:p>
            <a:pPr indent="0" marL="0">
              <a:buNone/>
            </a:pPr>
            <a:r>
              <a:rPr lang="en-US" sz="1000" b="1" dirty="0">
                <a:solidFill>
                  <a:srgbClr val="C9A227"/>
                </a:solidFill>
                <a:latin typeface="Arial" pitchFamily="34" charset="0"/>
                <a:ea typeface="Arial" pitchFamily="34" charset="-122"/>
                <a:cs typeface="Arial" pitchFamily="34" charset="-120"/>
              </a:rPr>
              <a:t>p.17-23</a:t>
            </a:r>
            <a:endParaRPr lang="en-US" sz="1000" dirty="0"/>
          </a:p>
        </p:txBody>
      </p:sp>
      <p:sp>
        <p:nvSpPr>
          <p:cNvPr id="27" name="Shape 25"/>
          <p:cNvSpPr/>
          <p:nvPr/>
        </p:nvSpPr>
        <p:spPr>
          <a:xfrm>
            <a:off x="457200" y="4379976"/>
            <a:ext cx="914400" cy="731520"/>
          </a:xfrm>
          <a:prstGeom prst="rect">
            <a:avLst/>
          </a:prstGeom>
          <a:solidFill>
            <a:srgbClr val="16324F"/>
          </a:solidFill>
          <a:ln/>
        </p:spPr>
      </p:sp>
      <p:sp>
        <p:nvSpPr>
          <p:cNvPr id="28" name="Text 26"/>
          <p:cNvSpPr/>
          <p:nvPr/>
        </p:nvSpPr>
        <p:spPr>
          <a:xfrm>
            <a:off x="457200" y="4379976"/>
            <a:ext cx="914400" cy="731520"/>
          </a:xfrm>
          <a:prstGeom prst="rect">
            <a:avLst/>
          </a:prstGeom>
          <a:noFill/>
          <a:ln/>
        </p:spPr>
        <p:txBody>
          <a:bodyPr wrap="square" lIns="0" tIns="0" rIns="0" bIns="0" rtlCol="0" anchor="ctr"/>
          <a:lstStyle/>
          <a:p>
            <a:pPr algn="ctr" indent="0" marL="0">
              <a:buNone/>
            </a:pPr>
            <a:r>
              <a:rPr lang="en-US" sz="1600" b="1" dirty="0">
                <a:solidFill>
                  <a:srgbClr val="C9A227"/>
                </a:solidFill>
                <a:latin typeface="Arial" pitchFamily="34" charset="0"/>
                <a:ea typeface="Arial" pitchFamily="34" charset="-122"/>
                <a:cs typeface="Arial" pitchFamily="34" charset="-120"/>
              </a:rPr>
              <a:t>04</a:t>
            </a:r>
            <a:endParaRPr lang="en-US" sz="1600" dirty="0"/>
          </a:p>
        </p:txBody>
      </p:sp>
      <p:sp>
        <p:nvSpPr>
          <p:cNvPr id="29" name="Shape 27"/>
          <p:cNvSpPr/>
          <p:nvPr/>
        </p:nvSpPr>
        <p:spPr>
          <a:xfrm>
            <a:off x="1371600" y="4379976"/>
            <a:ext cx="4480560" cy="731520"/>
          </a:xfrm>
          <a:prstGeom prst="rect">
            <a:avLst/>
          </a:prstGeom>
          <a:solidFill>
            <a:srgbClr val="FFFFFF"/>
          </a:solidFill>
          <a:ln w="9525">
            <a:solidFill>
              <a:srgbClr val="C8C8C8"/>
            </a:solidFill>
            <a:prstDash val="solid"/>
          </a:ln>
        </p:spPr>
      </p:sp>
      <p:sp>
        <p:nvSpPr>
          <p:cNvPr id="30" name="Text 28"/>
          <p:cNvSpPr/>
          <p:nvPr/>
        </p:nvSpPr>
        <p:spPr>
          <a:xfrm>
            <a:off x="1554480" y="4453128"/>
            <a:ext cx="3291840" cy="585216"/>
          </a:xfrm>
          <a:prstGeom prst="rect">
            <a:avLst/>
          </a:prstGeom>
          <a:noFill/>
          <a:ln/>
        </p:spPr>
        <p:txBody>
          <a:bodyPr wrap="square" lIns="0" tIns="0" rIns="0" bIns="0" rtlCol="0" anchor="ctr"/>
          <a:lstStyle/>
          <a:p>
            <a:pPr indent="0" marL="0">
              <a:buNone/>
            </a:pPr>
            <a:r>
              <a:rPr lang="en-US" sz="1200" b="1" dirty="0">
                <a:solidFill>
                  <a:srgbClr val="16324F"/>
                </a:solidFill>
                <a:latin typeface="Yu Gothic" pitchFamily="34" charset="0"/>
                <a:ea typeface="Yu Gothic" pitchFamily="34" charset="-122"/>
                <a:cs typeface="Yu Gothic" pitchFamily="34" charset="-120"/>
              </a:rPr>
              <a:t>安全性 — 発火ゼロ · 熱暴走ゼロ</a:t>
            </a:r>
            <a:endParaRPr lang="en-US" sz="1200" dirty="0"/>
          </a:p>
        </p:txBody>
      </p:sp>
      <p:sp>
        <p:nvSpPr>
          <p:cNvPr id="31" name="Text 29"/>
          <p:cNvSpPr/>
          <p:nvPr/>
        </p:nvSpPr>
        <p:spPr>
          <a:xfrm>
            <a:off x="4663440" y="4379976"/>
            <a:ext cx="1097280" cy="731520"/>
          </a:xfrm>
          <a:prstGeom prst="rect">
            <a:avLst/>
          </a:prstGeom>
          <a:noFill/>
          <a:ln/>
        </p:spPr>
        <p:txBody>
          <a:bodyPr wrap="square" lIns="0" tIns="0" rIns="0" bIns="0" rtlCol="0" anchor="ctr"/>
          <a:lstStyle/>
          <a:p>
            <a:pPr indent="0" marL="0">
              <a:buNone/>
            </a:pPr>
            <a:r>
              <a:rPr lang="en-US" sz="1000" b="1" dirty="0">
                <a:solidFill>
                  <a:srgbClr val="C9A227"/>
                </a:solidFill>
                <a:latin typeface="Arial" pitchFamily="34" charset="0"/>
                <a:ea typeface="Arial" pitchFamily="34" charset="-122"/>
                <a:cs typeface="Arial" pitchFamily="34" charset="-120"/>
              </a:rPr>
              <a:t>p.24-29</a:t>
            </a:r>
            <a:endParaRPr lang="en-US" sz="1000" dirty="0"/>
          </a:p>
        </p:txBody>
      </p:sp>
      <p:sp>
        <p:nvSpPr>
          <p:cNvPr id="32" name="Shape 30"/>
          <p:cNvSpPr/>
          <p:nvPr/>
        </p:nvSpPr>
        <p:spPr>
          <a:xfrm>
            <a:off x="457200" y="5276088"/>
            <a:ext cx="914400" cy="731520"/>
          </a:xfrm>
          <a:prstGeom prst="rect">
            <a:avLst/>
          </a:prstGeom>
          <a:solidFill>
            <a:srgbClr val="16324F"/>
          </a:solidFill>
          <a:ln/>
        </p:spPr>
      </p:sp>
      <p:sp>
        <p:nvSpPr>
          <p:cNvPr id="33" name="Text 31"/>
          <p:cNvSpPr/>
          <p:nvPr/>
        </p:nvSpPr>
        <p:spPr>
          <a:xfrm>
            <a:off x="457200" y="5276088"/>
            <a:ext cx="914400" cy="731520"/>
          </a:xfrm>
          <a:prstGeom prst="rect">
            <a:avLst/>
          </a:prstGeom>
          <a:noFill/>
          <a:ln/>
        </p:spPr>
        <p:txBody>
          <a:bodyPr wrap="square" lIns="0" tIns="0" rIns="0" bIns="0" rtlCol="0" anchor="ctr"/>
          <a:lstStyle/>
          <a:p>
            <a:pPr algn="ctr" indent="0" marL="0">
              <a:buNone/>
            </a:pPr>
            <a:r>
              <a:rPr lang="en-US" sz="1600" b="1" dirty="0">
                <a:solidFill>
                  <a:srgbClr val="C9A227"/>
                </a:solidFill>
                <a:latin typeface="Arial" pitchFamily="34" charset="0"/>
                <a:ea typeface="Arial" pitchFamily="34" charset="-122"/>
                <a:cs typeface="Arial" pitchFamily="34" charset="-120"/>
              </a:rPr>
              <a:t>05</a:t>
            </a:r>
            <a:endParaRPr lang="en-US" sz="1600" dirty="0"/>
          </a:p>
        </p:txBody>
      </p:sp>
      <p:sp>
        <p:nvSpPr>
          <p:cNvPr id="34" name="Shape 32"/>
          <p:cNvSpPr/>
          <p:nvPr/>
        </p:nvSpPr>
        <p:spPr>
          <a:xfrm>
            <a:off x="1371600" y="5276088"/>
            <a:ext cx="4480560" cy="731520"/>
          </a:xfrm>
          <a:prstGeom prst="rect">
            <a:avLst/>
          </a:prstGeom>
          <a:solidFill>
            <a:srgbClr val="FFFFFF"/>
          </a:solidFill>
          <a:ln w="9525">
            <a:solidFill>
              <a:srgbClr val="C8C8C8"/>
            </a:solidFill>
            <a:prstDash val="solid"/>
          </a:ln>
        </p:spPr>
      </p:sp>
      <p:sp>
        <p:nvSpPr>
          <p:cNvPr id="35" name="Text 33"/>
          <p:cNvSpPr/>
          <p:nvPr/>
        </p:nvSpPr>
        <p:spPr>
          <a:xfrm>
            <a:off x="1554480" y="5349240"/>
            <a:ext cx="3291840" cy="585216"/>
          </a:xfrm>
          <a:prstGeom prst="rect">
            <a:avLst/>
          </a:prstGeom>
          <a:noFill/>
          <a:ln/>
        </p:spPr>
        <p:txBody>
          <a:bodyPr wrap="square" lIns="0" tIns="0" rIns="0" bIns="0" rtlCol="0" anchor="ctr"/>
          <a:lstStyle/>
          <a:p>
            <a:pPr indent="0" marL="0">
              <a:buNone/>
            </a:pPr>
            <a:r>
              <a:rPr lang="en-US" sz="1200" b="1" dirty="0">
                <a:solidFill>
                  <a:srgbClr val="16324F"/>
                </a:solidFill>
                <a:latin typeface="Yu Gothic" pitchFamily="34" charset="0"/>
                <a:ea typeface="Yu Gothic" pitchFamily="34" charset="-122"/>
                <a:cs typeface="Yu Gothic" pitchFamily="34" charset="-120"/>
              </a:rPr>
              <a:t>防衛製品ラインナップ</a:t>
            </a:r>
            <a:endParaRPr lang="en-US" sz="1200" dirty="0"/>
          </a:p>
        </p:txBody>
      </p:sp>
      <p:sp>
        <p:nvSpPr>
          <p:cNvPr id="36" name="Text 34"/>
          <p:cNvSpPr/>
          <p:nvPr/>
        </p:nvSpPr>
        <p:spPr>
          <a:xfrm>
            <a:off x="4663440" y="5276088"/>
            <a:ext cx="1097280" cy="731520"/>
          </a:xfrm>
          <a:prstGeom prst="rect">
            <a:avLst/>
          </a:prstGeom>
          <a:noFill/>
          <a:ln/>
        </p:spPr>
        <p:txBody>
          <a:bodyPr wrap="square" lIns="0" tIns="0" rIns="0" bIns="0" rtlCol="0" anchor="ctr"/>
          <a:lstStyle/>
          <a:p>
            <a:pPr indent="0" marL="0">
              <a:buNone/>
            </a:pPr>
            <a:r>
              <a:rPr lang="en-US" sz="1000" b="1" dirty="0">
                <a:solidFill>
                  <a:srgbClr val="C9A227"/>
                </a:solidFill>
                <a:latin typeface="Arial" pitchFamily="34" charset="0"/>
                <a:ea typeface="Arial" pitchFamily="34" charset="-122"/>
                <a:cs typeface="Arial" pitchFamily="34" charset="-120"/>
              </a:rPr>
              <a:t>p.30-37</a:t>
            </a:r>
            <a:endParaRPr lang="en-US" sz="1000" dirty="0"/>
          </a:p>
        </p:txBody>
      </p:sp>
      <p:sp>
        <p:nvSpPr>
          <p:cNvPr id="37" name="Shape 35"/>
          <p:cNvSpPr/>
          <p:nvPr/>
        </p:nvSpPr>
        <p:spPr>
          <a:xfrm>
            <a:off x="6355080" y="1691640"/>
            <a:ext cx="914400" cy="731520"/>
          </a:xfrm>
          <a:prstGeom prst="rect">
            <a:avLst/>
          </a:prstGeom>
          <a:solidFill>
            <a:srgbClr val="16324F"/>
          </a:solidFill>
          <a:ln/>
        </p:spPr>
      </p:sp>
      <p:sp>
        <p:nvSpPr>
          <p:cNvPr id="38" name="Text 36"/>
          <p:cNvSpPr/>
          <p:nvPr/>
        </p:nvSpPr>
        <p:spPr>
          <a:xfrm>
            <a:off x="6355080" y="1691640"/>
            <a:ext cx="914400" cy="731520"/>
          </a:xfrm>
          <a:prstGeom prst="rect">
            <a:avLst/>
          </a:prstGeom>
          <a:noFill/>
          <a:ln/>
        </p:spPr>
        <p:txBody>
          <a:bodyPr wrap="square" lIns="0" tIns="0" rIns="0" bIns="0" rtlCol="0" anchor="ctr"/>
          <a:lstStyle/>
          <a:p>
            <a:pPr algn="ctr" indent="0" marL="0">
              <a:buNone/>
            </a:pPr>
            <a:r>
              <a:rPr lang="en-US" sz="1600" b="1" dirty="0">
                <a:solidFill>
                  <a:srgbClr val="C9A227"/>
                </a:solidFill>
                <a:latin typeface="Arial" pitchFamily="34" charset="0"/>
                <a:ea typeface="Arial" pitchFamily="34" charset="-122"/>
                <a:cs typeface="Arial" pitchFamily="34" charset="-120"/>
              </a:rPr>
              <a:t>06</a:t>
            </a:r>
            <a:endParaRPr lang="en-US" sz="1600" dirty="0"/>
          </a:p>
        </p:txBody>
      </p:sp>
      <p:sp>
        <p:nvSpPr>
          <p:cNvPr id="39" name="Shape 37"/>
          <p:cNvSpPr/>
          <p:nvPr/>
        </p:nvSpPr>
        <p:spPr>
          <a:xfrm>
            <a:off x="7269480" y="1691640"/>
            <a:ext cx="4480560" cy="731520"/>
          </a:xfrm>
          <a:prstGeom prst="rect">
            <a:avLst/>
          </a:prstGeom>
          <a:solidFill>
            <a:srgbClr val="FFFFFF"/>
          </a:solidFill>
          <a:ln w="9525">
            <a:solidFill>
              <a:srgbClr val="C8C8C8"/>
            </a:solidFill>
            <a:prstDash val="solid"/>
          </a:ln>
        </p:spPr>
      </p:sp>
      <p:sp>
        <p:nvSpPr>
          <p:cNvPr id="40" name="Text 38"/>
          <p:cNvSpPr/>
          <p:nvPr/>
        </p:nvSpPr>
        <p:spPr>
          <a:xfrm>
            <a:off x="7452360" y="1764792"/>
            <a:ext cx="3291840" cy="585216"/>
          </a:xfrm>
          <a:prstGeom prst="rect">
            <a:avLst/>
          </a:prstGeom>
          <a:noFill/>
          <a:ln/>
        </p:spPr>
        <p:txBody>
          <a:bodyPr wrap="square" lIns="0" tIns="0" rIns="0" bIns="0" rtlCol="0" anchor="ctr"/>
          <a:lstStyle/>
          <a:p>
            <a:pPr indent="0" marL="0">
              <a:buNone/>
            </a:pPr>
            <a:r>
              <a:rPr lang="en-US" sz="1200" b="1" dirty="0">
                <a:solidFill>
                  <a:srgbClr val="16324F"/>
                </a:solidFill>
                <a:latin typeface="Yu Gothic" pitchFamily="34" charset="0"/>
                <a:ea typeface="Yu Gothic" pitchFamily="34" charset="-122"/>
                <a:cs typeface="Yu Gothic" pitchFamily="34" charset="-120"/>
              </a:rPr>
              <a:t>生産能力とサプライチェーン</a:t>
            </a:r>
            <a:endParaRPr lang="en-US" sz="1200" dirty="0"/>
          </a:p>
        </p:txBody>
      </p:sp>
      <p:sp>
        <p:nvSpPr>
          <p:cNvPr id="41" name="Text 39"/>
          <p:cNvSpPr/>
          <p:nvPr/>
        </p:nvSpPr>
        <p:spPr>
          <a:xfrm>
            <a:off x="10561320" y="1691640"/>
            <a:ext cx="1097280" cy="731520"/>
          </a:xfrm>
          <a:prstGeom prst="rect">
            <a:avLst/>
          </a:prstGeom>
          <a:noFill/>
          <a:ln/>
        </p:spPr>
        <p:txBody>
          <a:bodyPr wrap="square" lIns="0" tIns="0" rIns="0" bIns="0" rtlCol="0" anchor="ctr"/>
          <a:lstStyle/>
          <a:p>
            <a:pPr indent="0" marL="0">
              <a:buNone/>
            </a:pPr>
            <a:r>
              <a:rPr lang="en-US" sz="1000" b="1" dirty="0">
                <a:solidFill>
                  <a:srgbClr val="C9A227"/>
                </a:solidFill>
                <a:latin typeface="Arial" pitchFamily="34" charset="0"/>
                <a:ea typeface="Arial" pitchFamily="34" charset="-122"/>
                <a:cs typeface="Arial" pitchFamily="34" charset="-120"/>
              </a:rPr>
              <a:t>p.38-46</a:t>
            </a:r>
            <a:endParaRPr lang="en-US" sz="1000" dirty="0"/>
          </a:p>
        </p:txBody>
      </p:sp>
      <p:sp>
        <p:nvSpPr>
          <p:cNvPr id="42" name="Shape 40"/>
          <p:cNvSpPr/>
          <p:nvPr/>
        </p:nvSpPr>
        <p:spPr>
          <a:xfrm>
            <a:off x="6355080" y="2587752"/>
            <a:ext cx="914400" cy="731520"/>
          </a:xfrm>
          <a:prstGeom prst="rect">
            <a:avLst/>
          </a:prstGeom>
          <a:solidFill>
            <a:srgbClr val="16324F"/>
          </a:solidFill>
          <a:ln/>
        </p:spPr>
      </p:sp>
      <p:sp>
        <p:nvSpPr>
          <p:cNvPr id="43" name="Text 41"/>
          <p:cNvSpPr/>
          <p:nvPr/>
        </p:nvSpPr>
        <p:spPr>
          <a:xfrm>
            <a:off x="6355080" y="2587752"/>
            <a:ext cx="914400" cy="731520"/>
          </a:xfrm>
          <a:prstGeom prst="rect">
            <a:avLst/>
          </a:prstGeom>
          <a:noFill/>
          <a:ln/>
        </p:spPr>
        <p:txBody>
          <a:bodyPr wrap="square" lIns="0" tIns="0" rIns="0" bIns="0" rtlCol="0" anchor="ctr"/>
          <a:lstStyle/>
          <a:p>
            <a:pPr algn="ctr" indent="0" marL="0">
              <a:buNone/>
            </a:pPr>
            <a:r>
              <a:rPr lang="en-US" sz="1600" b="1" dirty="0">
                <a:solidFill>
                  <a:srgbClr val="C9A227"/>
                </a:solidFill>
                <a:latin typeface="Arial" pitchFamily="34" charset="0"/>
                <a:ea typeface="Arial" pitchFamily="34" charset="-122"/>
                <a:cs typeface="Arial" pitchFamily="34" charset="-120"/>
              </a:rPr>
              <a:t>07</a:t>
            </a:r>
            <a:endParaRPr lang="en-US" sz="1600" dirty="0"/>
          </a:p>
        </p:txBody>
      </p:sp>
      <p:sp>
        <p:nvSpPr>
          <p:cNvPr id="44" name="Shape 42"/>
          <p:cNvSpPr/>
          <p:nvPr/>
        </p:nvSpPr>
        <p:spPr>
          <a:xfrm>
            <a:off x="7269480" y="2587752"/>
            <a:ext cx="4480560" cy="731520"/>
          </a:xfrm>
          <a:prstGeom prst="rect">
            <a:avLst/>
          </a:prstGeom>
          <a:solidFill>
            <a:srgbClr val="FFFFFF"/>
          </a:solidFill>
          <a:ln w="9525">
            <a:solidFill>
              <a:srgbClr val="C8C8C8"/>
            </a:solidFill>
            <a:prstDash val="solid"/>
          </a:ln>
        </p:spPr>
      </p:sp>
      <p:sp>
        <p:nvSpPr>
          <p:cNvPr id="45" name="Text 43"/>
          <p:cNvSpPr/>
          <p:nvPr/>
        </p:nvSpPr>
        <p:spPr>
          <a:xfrm>
            <a:off x="7452360" y="2660904"/>
            <a:ext cx="3291840" cy="585216"/>
          </a:xfrm>
          <a:prstGeom prst="rect">
            <a:avLst/>
          </a:prstGeom>
          <a:noFill/>
          <a:ln/>
        </p:spPr>
        <p:txBody>
          <a:bodyPr wrap="square" lIns="0" tIns="0" rIns="0" bIns="0" rtlCol="0" anchor="ctr"/>
          <a:lstStyle/>
          <a:p>
            <a:pPr indent="0" marL="0">
              <a:buNone/>
            </a:pPr>
            <a:r>
              <a:rPr lang="en-US" sz="1200" b="1" dirty="0">
                <a:solidFill>
                  <a:srgbClr val="16324F"/>
                </a:solidFill>
                <a:latin typeface="Yu Gothic" pitchFamily="34" charset="0"/>
                <a:ea typeface="Yu Gothic" pitchFamily="34" charset="-122"/>
                <a:cs typeface="Yu Gothic" pitchFamily="34" charset="-120"/>
              </a:rPr>
              <a:t>実地検証 · グローバル実績</a:t>
            </a:r>
            <a:endParaRPr lang="en-US" sz="1200" dirty="0"/>
          </a:p>
        </p:txBody>
      </p:sp>
      <p:sp>
        <p:nvSpPr>
          <p:cNvPr id="46" name="Text 44"/>
          <p:cNvSpPr/>
          <p:nvPr/>
        </p:nvSpPr>
        <p:spPr>
          <a:xfrm>
            <a:off x="10561320" y="2587752"/>
            <a:ext cx="1097280" cy="731520"/>
          </a:xfrm>
          <a:prstGeom prst="rect">
            <a:avLst/>
          </a:prstGeom>
          <a:noFill/>
          <a:ln/>
        </p:spPr>
        <p:txBody>
          <a:bodyPr wrap="square" lIns="0" tIns="0" rIns="0" bIns="0" rtlCol="0" anchor="ctr"/>
          <a:lstStyle/>
          <a:p>
            <a:pPr indent="0" marL="0">
              <a:buNone/>
            </a:pPr>
            <a:r>
              <a:rPr lang="en-US" sz="1000" b="1" dirty="0">
                <a:solidFill>
                  <a:srgbClr val="C9A227"/>
                </a:solidFill>
                <a:latin typeface="Arial" pitchFamily="34" charset="0"/>
                <a:ea typeface="Arial" pitchFamily="34" charset="-122"/>
                <a:cs typeface="Arial" pitchFamily="34" charset="-120"/>
              </a:rPr>
              <a:t>p.47-52</a:t>
            </a:r>
            <a:endParaRPr lang="en-US" sz="1000" dirty="0"/>
          </a:p>
        </p:txBody>
      </p:sp>
      <p:sp>
        <p:nvSpPr>
          <p:cNvPr id="47" name="Shape 45"/>
          <p:cNvSpPr/>
          <p:nvPr/>
        </p:nvSpPr>
        <p:spPr>
          <a:xfrm>
            <a:off x="6355080" y="3483864"/>
            <a:ext cx="914400" cy="731520"/>
          </a:xfrm>
          <a:prstGeom prst="rect">
            <a:avLst/>
          </a:prstGeom>
          <a:solidFill>
            <a:srgbClr val="16324F"/>
          </a:solidFill>
          <a:ln/>
        </p:spPr>
      </p:sp>
      <p:sp>
        <p:nvSpPr>
          <p:cNvPr id="48" name="Text 46"/>
          <p:cNvSpPr/>
          <p:nvPr/>
        </p:nvSpPr>
        <p:spPr>
          <a:xfrm>
            <a:off x="6355080" y="3483864"/>
            <a:ext cx="914400" cy="731520"/>
          </a:xfrm>
          <a:prstGeom prst="rect">
            <a:avLst/>
          </a:prstGeom>
          <a:noFill/>
          <a:ln/>
        </p:spPr>
        <p:txBody>
          <a:bodyPr wrap="square" lIns="0" tIns="0" rIns="0" bIns="0" rtlCol="0" anchor="ctr"/>
          <a:lstStyle/>
          <a:p>
            <a:pPr algn="ctr" indent="0" marL="0">
              <a:buNone/>
            </a:pPr>
            <a:r>
              <a:rPr lang="en-US" sz="1600" b="1" dirty="0">
                <a:solidFill>
                  <a:srgbClr val="C9A227"/>
                </a:solidFill>
                <a:latin typeface="Arial" pitchFamily="34" charset="0"/>
                <a:ea typeface="Arial" pitchFamily="34" charset="-122"/>
                <a:cs typeface="Arial" pitchFamily="34" charset="-120"/>
              </a:rPr>
              <a:t>08</a:t>
            </a:r>
            <a:endParaRPr lang="en-US" sz="1600" dirty="0"/>
          </a:p>
        </p:txBody>
      </p:sp>
      <p:sp>
        <p:nvSpPr>
          <p:cNvPr id="49" name="Shape 47"/>
          <p:cNvSpPr/>
          <p:nvPr/>
        </p:nvSpPr>
        <p:spPr>
          <a:xfrm>
            <a:off x="7269480" y="3483864"/>
            <a:ext cx="4480560" cy="731520"/>
          </a:xfrm>
          <a:prstGeom prst="rect">
            <a:avLst/>
          </a:prstGeom>
          <a:solidFill>
            <a:srgbClr val="FFFFFF"/>
          </a:solidFill>
          <a:ln w="9525">
            <a:solidFill>
              <a:srgbClr val="C8C8C8"/>
            </a:solidFill>
            <a:prstDash val="solid"/>
          </a:ln>
        </p:spPr>
      </p:sp>
      <p:sp>
        <p:nvSpPr>
          <p:cNvPr id="50" name="Text 48"/>
          <p:cNvSpPr/>
          <p:nvPr/>
        </p:nvSpPr>
        <p:spPr>
          <a:xfrm>
            <a:off x="7452360" y="3557016"/>
            <a:ext cx="3291840" cy="585216"/>
          </a:xfrm>
          <a:prstGeom prst="rect">
            <a:avLst/>
          </a:prstGeom>
          <a:noFill/>
          <a:ln/>
        </p:spPr>
        <p:txBody>
          <a:bodyPr wrap="square" lIns="0" tIns="0" rIns="0" bIns="0" rtlCol="0" anchor="ctr"/>
          <a:lstStyle/>
          <a:p>
            <a:pPr indent="0" marL="0">
              <a:buNone/>
            </a:pPr>
            <a:r>
              <a:rPr lang="en-US" sz="1200" b="1" dirty="0">
                <a:solidFill>
                  <a:srgbClr val="16324F"/>
                </a:solidFill>
                <a:latin typeface="Yu Gothic" pitchFamily="34" charset="0"/>
                <a:ea typeface="Yu Gothic" pitchFamily="34" charset="-122"/>
                <a:cs typeface="Yu Gothic" pitchFamily="34" charset="-120"/>
              </a:rPr>
              <a:t>防衛調達適用アプローチ</a:t>
            </a:r>
            <a:endParaRPr lang="en-US" sz="1200" dirty="0"/>
          </a:p>
        </p:txBody>
      </p:sp>
      <p:sp>
        <p:nvSpPr>
          <p:cNvPr id="51" name="Text 49"/>
          <p:cNvSpPr/>
          <p:nvPr/>
        </p:nvSpPr>
        <p:spPr>
          <a:xfrm>
            <a:off x="10561320" y="3483864"/>
            <a:ext cx="1097280" cy="731520"/>
          </a:xfrm>
          <a:prstGeom prst="rect">
            <a:avLst/>
          </a:prstGeom>
          <a:noFill/>
          <a:ln/>
        </p:spPr>
        <p:txBody>
          <a:bodyPr wrap="square" lIns="0" tIns="0" rIns="0" bIns="0" rtlCol="0" anchor="ctr"/>
          <a:lstStyle/>
          <a:p>
            <a:pPr indent="0" marL="0">
              <a:buNone/>
            </a:pPr>
            <a:r>
              <a:rPr lang="en-US" sz="1000" b="1" dirty="0">
                <a:solidFill>
                  <a:srgbClr val="C9A227"/>
                </a:solidFill>
                <a:latin typeface="Arial" pitchFamily="34" charset="0"/>
                <a:ea typeface="Arial" pitchFamily="34" charset="-122"/>
                <a:cs typeface="Arial" pitchFamily="34" charset="-120"/>
              </a:rPr>
              <a:t>p.53-56</a:t>
            </a:r>
            <a:endParaRPr lang="en-US" sz="1000" dirty="0"/>
          </a:p>
        </p:txBody>
      </p:sp>
      <p:sp>
        <p:nvSpPr>
          <p:cNvPr id="52" name="Shape 50"/>
          <p:cNvSpPr/>
          <p:nvPr/>
        </p:nvSpPr>
        <p:spPr>
          <a:xfrm>
            <a:off x="6355080" y="4379976"/>
            <a:ext cx="914400" cy="731520"/>
          </a:xfrm>
          <a:prstGeom prst="rect">
            <a:avLst/>
          </a:prstGeom>
          <a:solidFill>
            <a:srgbClr val="16324F"/>
          </a:solidFill>
          <a:ln/>
        </p:spPr>
      </p:sp>
      <p:sp>
        <p:nvSpPr>
          <p:cNvPr id="53" name="Text 51"/>
          <p:cNvSpPr/>
          <p:nvPr/>
        </p:nvSpPr>
        <p:spPr>
          <a:xfrm>
            <a:off x="6355080" y="4379976"/>
            <a:ext cx="914400" cy="731520"/>
          </a:xfrm>
          <a:prstGeom prst="rect">
            <a:avLst/>
          </a:prstGeom>
          <a:noFill/>
          <a:ln/>
        </p:spPr>
        <p:txBody>
          <a:bodyPr wrap="square" lIns="0" tIns="0" rIns="0" bIns="0" rtlCol="0" anchor="ctr"/>
          <a:lstStyle/>
          <a:p>
            <a:pPr algn="ctr" indent="0" marL="0">
              <a:buNone/>
            </a:pPr>
            <a:r>
              <a:rPr lang="en-US" sz="1600" b="1" dirty="0">
                <a:solidFill>
                  <a:srgbClr val="C9A227"/>
                </a:solidFill>
                <a:latin typeface="Arial" pitchFamily="34" charset="0"/>
                <a:ea typeface="Arial" pitchFamily="34" charset="-122"/>
                <a:cs typeface="Arial" pitchFamily="34" charset="-120"/>
              </a:rPr>
              <a:t>09</a:t>
            </a:r>
            <a:endParaRPr lang="en-US" sz="1600" dirty="0"/>
          </a:p>
        </p:txBody>
      </p:sp>
      <p:sp>
        <p:nvSpPr>
          <p:cNvPr id="54" name="Shape 52"/>
          <p:cNvSpPr/>
          <p:nvPr/>
        </p:nvSpPr>
        <p:spPr>
          <a:xfrm>
            <a:off x="7269480" y="4379976"/>
            <a:ext cx="4480560" cy="731520"/>
          </a:xfrm>
          <a:prstGeom prst="rect">
            <a:avLst/>
          </a:prstGeom>
          <a:solidFill>
            <a:srgbClr val="FFFFFF"/>
          </a:solidFill>
          <a:ln w="9525">
            <a:solidFill>
              <a:srgbClr val="C8C8C8"/>
            </a:solidFill>
            <a:prstDash val="solid"/>
          </a:ln>
        </p:spPr>
      </p:sp>
      <p:sp>
        <p:nvSpPr>
          <p:cNvPr id="55" name="Text 53"/>
          <p:cNvSpPr/>
          <p:nvPr/>
        </p:nvSpPr>
        <p:spPr>
          <a:xfrm>
            <a:off x="7452360" y="4453128"/>
            <a:ext cx="3291840" cy="585216"/>
          </a:xfrm>
          <a:prstGeom prst="rect">
            <a:avLst/>
          </a:prstGeom>
          <a:noFill/>
          <a:ln/>
        </p:spPr>
        <p:txBody>
          <a:bodyPr wrap="square" lIns="0" tIns="0" rIns="0" bIns="0" rtlCol="0" anchor="ctr"/>
          <a:lstStyle/>
          <a:p>
            <a:pPr indent="0" marL="0">
              <a:buNone/>
            </a:pPr>
            <a:r>
              <a:rPr lang="en-US" sz="1200" b="1" dirty="0">
                <a:solidFill>
                  <a:srgbClr val="16324F"/>
                </a:solidFill>
                <a:latin typeface="Yu Gothic" pitchFamily="34" charset="0"/>
                <a:ea typeface="Yu Gothic" pitchFamily="34" charset="-122"/>
                <a:cs typeface="Yu Gothic" pitchFamily="34" charset="-120"/>
              </a:rPr>
              <a:t>会社概要とR&amp;D能力</a:t>
            </a:r>
            <a:endParaRPr lang="en-US" sz="1200" dirty="0"/>
          </a:p>
        </p:txBody>
      </p:sp>
      <p:sp>
        <p:nvSpPr>
          <p:cNvPr id="56" name="Text 54"/>
          <p:cNvSpPr/>
          <p:nvPr/>
        </p:nvSpPr>
        <p:spPr>
          <a:xfrm>
            <a:off x="10561320" y="4379976"/>
            <a:ext cx="1097280" cy="731520"/>
          </a:xfrm>
          <a:prstGeom prst="rect">
            <a:avLst/>
          </a:prstGeom>
          <a:noFill/>
          <a:ln/>
        </p:spPr>
        <p:txBody>
          <a:bodyPr wrap="square" lIns="0" tIns="0" rIns="0" bIns="0" rtlCol="0" anchor="ctr"/>
          <a:lstStyle/>
          <a:p>
            <a:pPr indent="0" marL="0">
              <a:buNone/>
            </a:pPr>
            <a:r>
              <a:rPr lang="en-US" sz="1000" b="1" dirty="0">
                <a:solidFill>
                  <a:srgbClr val="C9A227"/>
                </a:solidFill>
                <a:latin typeface="Arial" pitchFamily="34" charset="0"/>
                <a:ea typeface="Arial" pitchFamily="34" charset="-122"/>
                <a:cs typeface="Arial" pitchFamily="34" charset="-120"/>
              </a:rPr>
              <a:t>p.57-58</a:t>
            </a:r>
            <a:endParaRPr lang="en-US" sz="1000" dirty="0"/>
          </a:p>
        </p:txBody>
      </p:sp>
      <p:sp>
        <p:nvSpPr>
          <p:cNvPr id="57" name="Shape 55"/>
          <p:cNvSpPr/>
          <p:nvPr/>
        </p:nvSpPr>
        <p:spPr>
          <a:xfrm>
            <a:off x="6355080" y="5276088"/>
            <a:ext cx="914400" cy="731520"/>
          </a:xfrm>
          <a:prstGeom prst="rect">
            <a:avLst/>
          </a:prstGeom>
          <a:solidFill>
            <a:srgbClr val="16324F"/>
          </a:solidFill>
          <a:ln/>
        </p:spPr>
      </p:sp>
      <p:sp>
        <p:nvSpPr>
          <p:cNvPr id="58" name="Text 56"/>
          <p:cNvSpPr/>
          <p:nvPr/>
        </p:nvSpPr>
        <p:spPr>
          <a:xfrm>
            <a:off x="6355080" y="5276088"/>
            <a:ext cx="914400" cy="731520"/>
          </a:xfrm>
          <a:prstGeom prst="rect">
            <a:avLst/>
          </a:prstGeom>
          <a:noFill/>
          <a:ln/>
        </p:spPr>
        <p:txBody>
          <a:bodyPr wrap="square" lIns="0" tIns="0" rIns="0" bIns="0" rtlCol="0" anchor="ctr"/>
          <a:lstStyle/>
          <a:p>
            <a:pPr algn="ctr" indent="0" marL="0">
              <a:buNone/>
            </a:pPr>
            <a:r>
              <a:rPr lang="en-US" sz="1600" b="1" dirty="0">
                <a:solidFill>
                  <a:srgbClr val="C9A227"/>
                </a:solidFill>
                <a:latin typeface="Arial" pitchFamily="34" charset="0"/>
                <a:ea typeface="Arial" pitchFamily="34" charset="-122"/>
                <a:cs typeface="Arial" pitchFamily="34" charset="-120"/>
              </a:rPr>
              <a:t>10</a:t>
            </a:r>
            <a:endParaRPr lang="en-US" sz="1600" dirty="0"/>
          </a:p>
        </p:txBody>
      </p:sp>
      <p:sp>
        <p:nvSpPr>
          <p:cNvPr id="59" name="Shape 57"/>
          <p:cNvSpPr/>
          <p:nvPr/>
        </p:nvSpPr>
        <p:spPr>
          <a:xfrm>
            <a:off x="7269480" y="5276088"/>
            <a:ext cx="4480560" cy="731520"/>
          </a:xfrm>
          <a:prstGeom prst="rect">
            <a:avLst/>
          </a:prstGeom>
          <a:solidFill>
            <a:srgbClr val="FFFFFF"/>
          </a:solidFill>
          <a:ln w="9525">
            <a:solidFill>
              <a:srgbClr val="C8C8C8"/>
            </a:solidFill>
            <a:prstDash val="solid"/>
          </a:ln>
        </p:spPr>
      </p:sp>
      <p:sp>
        <p:nvSpPr>
          <p:cNvPr id="60" name="Text 58"/>
          <p:cNvSpPr/>
          <p:nvPr/>
        </p:nvSpPr>
        <p:spPr>
          <a:xfrm>
            <a:off x="7452360" y="5349240"/>
            <a:ext cx="3291840" cy="585216"/>
          </a:xfrm>
          <a:prstGeom prst="rect">
            <a:avLst/>
          </a:prstGeom>
          <a:noFill/>
          <a:ln/>
        </p:spPr>
        <p:txBody>
          <a:bodyPr wrap="square" lIns="0" tIns="0" rIns="0" bIns="0" rtlCol="0" anchor="ctr"/>
          <a:lstStyle/>
          <a:p>
            <a:pPr indent="0" marL="0">
              <a:buNone/>
            </a:pPr>
            <a:r>
              <a:rPr lang="en-US" sz="1200" b="1" dirty="0">
                <a:solidFill>
                  <a:srgbClr val="16324F"/>
                </a:solidFill>
                <a:latin typeface="Yu Gothic" pitchFamily="34" charset="0"/>
                <a:ea typeface="Yu Gothic" pitchFamily="34" charset="-122"/>
                <a:cs typeface="Yu Gothic" pitchFamily="34" charset="-120"/>
              </a:rPr>
              <a:t>結論と連絡先</a:t>
            </a:r>
            <a:endParaRPr lang="en-US" sz="1200" dirty="0"/>
          </a:p>
        </p:txBody>
      </p:sp>
      <p:sp>
        <p:nvSpPr>
          <p:cNvPr id="61" name="Text 59"/>
          <p:cNvSpPr/>
          <p:nvPr/>
        </p:nvSpPr>
        <p:spPr>
          <a:xfrm>
            <a:off x="10561320" y="5276088"/>
            <a:ext cx="1097280" cy="731520"/>
          </a:xfrm>
          <a:prstGeom prst="rect">
            <a:avLst/>
          </a:prstGeom>
          <a:noFill/>
          <a:ln/>
        </p:spPr>
        <p:txBody>
          <a:bodyPr wrap="square" lIns="0" tIns="0" rIns="0" bIns="0" rtlCol="0" anchor="ctr"/>
          <a:lstStyle/>
          <a:p>
            <a:pPr indent="0" marL="0">
              <a:buNone/>
            </a:pPr>
            <a:r>
              <a:rPr lang="en-US" sz="1000" b="1" dirty="0">
                <a:solidFill>
                  <a:srgbClr val="C9A227"/>
                </a:solidFill>
                <a:latin typeface="Arial" pitchFamily="34" charset="0"/>
                <a:ea typeface="Arial" pitchFamily="34" charset="-122"/>
                <a:cs typeface="Arial" pitchFamily="34" charset="-120"/>
              </a:rPr>
              <a:t>p.59-60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PUBLISHER'S NOTE</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04/55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防衛意思決定者へのメッセージ</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A Message to Defense Decision-Makers</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645920"/>
            <a:ext cx="3291840" cy="3657600"/>
          </a:xfrm>
          <a:prstGeom prst="rect">
            <a:avLst/>
          </a:prstGeom>
          <a:solidFill>
            <a:srgbClr val="24466B"/>
          </a:solidFill>
          <a:ln/>
        </p:spPr>
      </p:sp>
      <p:sp>
        <p:nvSpPr>
          <p:cNvPr id="13" name="Shape 11"/>
          <p:cNvSpPr/>
          <p:nvPr/>
        </p:nvSpPr>
        <p:spPr>
          <a:xfrm>
            <a:off x="457200" y="1645920"/>
            <a:ext cx="3291840" cy="73152"/>
          </a:xfrm>
          <a:prstGeom prst="rect">
            <a:avLst/>
          </a:prstGeom>
          <a:solidFill>
            <a:srgbClr val="C9A227"/>
          </a:solidFill>
          <a:ln/>
        </p:spPr>
      </p:sp>
      <p:sp>
        <p:nvSpPr>
          <p:cNvPr id="14" name="Text 12"/>
          <p:cNvSpPr/>
          <p:nvPr/>
        </p:nvSpPr>
        <p:spPr>
          <a:xfrm>
            <a:off x="457200" y="2377440"/>
            <a:ext cx="3291840" cy="14630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BK</a:t>
            </a:r>
            <a:endParaRPr lang="en-US" sz="2000" dirty="0"/>
          </a:p>
          <a:p>
            <a:pPr algn="ctr" indent="0" marL="0">
              <a:buNone/>
            </a:pPr>
            <a:r>
              <a:rPr lang="en-US" sz="2000" b="1" dirty="0">
                <a:solidFill>
                  <a:srgbClr val="FFFFFF"/>
                </a:solidFill>
                <a:latin typeface="Arial" pitchFamily="34" charset="0"/>
                <a:ea typeface="Arial" pitchFamily="34" charset="-122"/>
                <a:cs typeface="Arial" pitchFamily="34" charset="-120"/>
              </a:rPr>
              <a:t>DONGYEOUNG</a:t>
            </a:r>
            <a:endParaRPr lang="en-US" sz="2000" dirty="0"/>
          </a:p>
          <a:p>
            <a:pPr algn="ctr" indent="0" marL="0">
              <a:buNone/>
            </a:pPr>
            <a:r>
              <a:rPr lang="en-US" sz="2000" b="1" dirty="0">
                <a:solidFill>
                  <a:srgbClr val="FFFFFF"/>
                </a:solidFill>
                <a:latin typeface="Arial" pitchFamily="34" charset="0"/>
                <a:ea typeface="Arial" pitchFamily="34" charset="-122"/>
                <a:cs typeface="Arial" pitchFamily="34" charset="-120"/>
              </a:rPr>
              <a:t>TECH</a:t>
            </a:r>
            <a:endParaRPr lang="en-US" sz="2000" dirty="0"/>
          </a:p>
        </p:txBody>
      </p:sp>
      <p:sp>
        <p:nvSpPr>
          <p:cNvPr id="15" name="Text 13"/>
          <p:cNvSpPr/>
          <p:nvPr/>
        </p:nvSpPr>
        <p:spPr>
          <a:xfrm>
            <a:off x="457200" y="5440680"/>
            <a:ext cx="3474720" cy="320040"/>
          </a:xfrm>
          <a:prstGeom prst="rect">
            <a:avLst/>
          </a:prstGeom>
          <a:noFill/>
          <a:ln/>
        </p:spPr>
        <p:txBody>
          <a:bodyPr wrap="square" lIns="0" tIns="0" rIns="0" bIns="0" rtlCol="0" anchor="ctr"/>
          <a:lstStyle/>
          <a:p>
            <a:pPr indent="0" marL="0">
              <a:buNone/>
            </a:pPr>
            <a:r>
              <a:rPr lang="en-US" sz="1300" b="1" dirty="0">
                <a:solidFill>
                  <a:srgbClr val="16324F"/>
                </a:solidFill>
                <a:latin typeface="Yu Gothic" pitchFamily="34" charset="0"/>
                <a:ea typeface="Yu Gothic" pitchFamily="34" charset="-122"/>
                <a:cs typeface="Yu Gothic" pitchFamily="34" charset="-120"/>
              </a:rPr>
              <a:t>Lee Ki Hong(イ・ギホン)</a:t>
            </a:r>
            <a:endParaRPr lang="en-US" sz="1300" dirty="0"/>
          </a:p>
        </p:txBody>
      </p:sp>
      <p:sp>
        <p:nvSpPr>
          <p:cNvPr id="16" name="Text 14"/>
          <p:cNvSpPr/>
          <p:nvPr/>
        </p:nvSpPr>
        <p:spPr>
          <a:xfrm>
            <a:off x="457200" y="5742432"/>
            <a:ext cx="3474720" cy="274320"/>
          </a:xfrm>
          <a:prstGeom prst="rect">
            <a:avLst/>
          </a:prstGeom>
          <a:noFill/>
          <a:ln/>
        </p:spPr>
        <p:txBody>
          <a:bodyPr wrap="square" lIns="0" tIns="0" rIns="0" bIns="0" rtlCol="0" anchor="ctr"/>
          <a:lstStyle/>
          <a:p>
            <a:pPr indent="0" marL="0">
              <a:buNone/>
            </a:pPr>
            <a:r>
              <a:rPr lang="en-US" sz="1000" dirty="0">
                <a:solidFill>
                  <a:srgbClr val="5A5A5A"/>
                </a:solidFill>
                <a:latin typeface="Yu Gothic" pitchFamily="34" charset="0"/>
                <a:ea typeface="Yu Gothic" pitchFamily="34" charset="-122"/>
                <a:cs typeface="Yu Gothic" pitchFamily="34" charset="-120"/>
              </a:rPr>
              <a:t>CEO · BK Dongyeoung Tech Co., Ltd.</a:t>
            </a:r>
            <a:endParaRPr lang="en-US" sz="1000" dirty="0"/>
          </a:p>
        </p:txBody>
      </p:sp>
      <p:sp>
        <p:nvSpPr>
          <p:cNvPr id="17" name="Text 15"/>
          <p:cNvSpPr/>
          <p:nvPr/>
        </p:nvSpPr>
        <p:spPr>
          <a:xfrm>
            <a:off x="457200" y="5989320"/>
            <a:ext cx="3566160" cy="274320"/>
          </a:xfrm>
          <a:prstGeom prst="rect">
            <a:avLst/>
          </a:prstGeom>
          <a:noFill/>
          <a:ln/>
        </p:spPr>
        <p:txBody>
          <a:bodyPr wrap="square" lIns="0" tIns="0" rIns="0" bIns="0" rtlCol="0" anchor="ctr"/>
          <a:lstStyle/>
          <a:p>
            <a:pPr indent="0" marL="0">
              <a:buNone/>
            </a:pPr>
            <a:r>
              <a:rPr lang="en-US" sz="950" dirty="0">
                <a:solidFill>
                  <a:srgbClr val="C9A227"/>
                </a:solidFill>
                <a:latin typeface="Arial" pitchFamily="34" charset="0"/>
                <a:ea typeface="Arial" pitchFamily="34" charset="-122"/>
                <a:cs typeface="Arial" pitchFamily="34" charset="-120"/>
              </a:rPr>
              <a:t>lkhong38@naver.com | +82-31-295-4046</a:t>
            </a:r>
            <a:endParaRPr lang="en-US" sz="950" dirty="0"/>
          </a:p>
        </p:txBody>
      </p:sp>
      <p:sp>
        <p:nvSpPr>
          <p:cNvPr id="18" name="Shape 16"/>
          <p:cNvSpPr/>
          <p:nvPr/>
        </p:nvSpPr>
        <p:spPr>
          <a:xfrm>
            <a:off x="4114800" y="1645920"/>
            <a:ext cx="7616952" cy="4617720"/>
          </a:xfrm>
          <a:prstGeom prst="rect">
            <a:avLst/>
          </a:prstGeom>
          <a:solidFill>
            <a:srgbClr val="FFFFFF"/>
          </a:solidFill>
          <a:ln w="9525">
            <a:solidFill>
              <a:srgbClr val="C8C8C8"/>
            </a:solidFill>
            <a:prstDash val="solid"/>
          </a:ln>
        </p:spPr>
      </p:sp>
      <p:sp>
        <p:nvSpPr>
          <p:cNvPr id="19" name="Shape 17"/>
          <p:cNvSpPr/>
          <p:nvPr/>
        </p:nvSpPr>
        <p:spPr>
          <a:xfrm>
            <a:off x="4114800" y="1645920"/>
            <a:ext cx="82296" cy="4617720"/>
          </a:xfrm>
          <a:prstGeom prst="rect">
            <a:avLst/>
          </a:prstGeom>
          <a:solidFill>
            <a:srgbClr val="C9A227"/>
          </a:solidFill>
          <a:ln/>
        </p:spPr>
      </p:sp>
      <p:sp>
        <p:nvSpPr>
          <p:cNvPr id="20" name="Text 18"/>
          <p:cNvSpPr/>
          <p:nvPr/>
        </p:nvSpPr>
        <p:spPr>
          <a:xfrm>
            <a:off x="4434840" y="1828800"/>
            <a:ext cx="7086600" cy="411480"/>
          </a:xfrm>
          <a:prstGeom prst="rect">
            <a:avLst/>
          </a:prstGeom>
          <a:noFill/>
          <a:ln/>
        </p:spPr>
        <p:txBody>
          <a:bodyPr wrap="square" lIns="0" tIns="0" rIns="0" bIns="0" rtlCol="0" anchor="ctr"/>
          <a:lstStyle/>
          <a:p>
            <a:pPr indent="0" marL="0">
              <a:buNone/>
            </a:pPr>
            <a:r>
              <a:rPr lang="en-US" sz="1400" b="1" dirty="0">
                <a:solidFill>
                  <a:srgbClr val="16324F"/>
                </a:solidFill>
                <a:latin typeface="Yu Gothic" pitchFamily="34" charset="0"/>
                <a:ea typeface="Yu Gothic" pitchFamily="34" charset="-122"/>
                <a:cs typeface="Yu Gothic" pitchFamily="34" charset="-120"/>
              </a:rPr>
              <a:t>「Li-ion火災はもはや事故ではない — 構造的欠陥である。」</a:t>
            </a:r>
            <a:endParaRPr lang="en-US" sz="1400" dirty="0"/>
          </a:p>
        </p:txBody>
      </p:sp>
      <p:sp>
        <p:nvSpPr>
          <p:cNvPr id="21" name="Text 19"/>
          <p:cNvSpPr/>
          <p:nvPr/>
        </p:nvSpPr>
        <p:spPr>
          <a:xfrm>
            <a:off x="4434840" y="2377440"/>
            <a:ext cx="7086600" cy="3749040"/>
          </a:xfrm>
          <a:prstGeom prst="rect">
            <a:avLst/>
          </a:prstGeom>
          <a:noFill/>
          <a:ln/>
        </p:spPr>
        <p:txBody>
          <a:bodyPr wrap="square" lIns="0" tIns="0" rIns="0" bIns="0" rtlCol="0" anchor="t"/>
          <a:lstStyle/>
          <a:p>
            <a:pPr indent="0" marL="0">
              <a:lnSpc>
                <a:spcPct val="115000"/>
              </a:lnSpc>
              <a:buNone/>
            </a:pPr>
            <a:r>
              <a:rPr lang="en-US" sz="1100" dirty="0">
                <a:solidFill>
                  <a:srgbClr val="1A1A1A"/>
                </a:solidFill>
                <a:latin typeface="Yu Gothic" pitchFamily="34" charset="0"/>
                <a:ea typeface="Yu Gothic" pitchFamily="34" charset="-122"/>
                <a:cs typeface="Yu Gothic" pitchFamily="34" charset="-120"/>
              </a:rPr>
              <a:t>Li-ion電池は1991年、ポータブル電子機器向けに商用化された。今日、同じ化学系がそのまま軍用ドローン、衛星、UGV、戦車補助電源、野戦ESSを動かしている。その結果が、仁川青羅EV火災、大田国家情報資源管理院UPS火災、そして54件に及ぶESS火災である。</a:t>
            </a:r>
            <a:endParaRPr lang="en-US" sz="1100" dirty="0"/>
          </a:p>
          <a:p>
            <a:pPr indent="0" marL="0">
              <a:lnSpc>
                <a:spcPct val="115000"/>
              </a:lnSpc>
              <a:buNone/>
            </a:pPr>
            <a:endParaRPr lang="en-US" sz="1100" dirty="0"/>
          </a:p>
          <a:p>
            <a:pPr indent="0" marL="0">
              <a:lnSpc>
                <a:spcPct val="115000"/>
              </a:lnSpc>
              <a:buNone/>
            </a:pPr>
            <a:r>
              <a:rPr lang="en-US" sz="1100" dirty="0">
                <a:solidFill>
                  <a:srgbClr val="1A1A1A"/>
                </a:solidFill>
                <a:latin typeface="Yu Gothic" pitchFamily="34" charset="0"/>
                <a:ea typeface="Yu Gothic" pitchFamily="34" charset="-122"/>
                <a:cs typeface="Yu Gothic" pitchFamily="34" charset="-120"/>
              </a:rPr>
              <a:t>戦場において、電池火災は即ちミッションの失敗を意味する。TNO-Sは、火災の3大原因である液体電解質・SEI層・デンドライトを構造的に排除したリチウムフリー全固体電池である。本ホワイトペーパーは、NATOノルウェーでの実地検証、KCC・UL・NASA・ETRIによる公認試験報告書、そして7.62 mm貫通試験における発火ゼロの結果を記録するものである。</a:t>
            </a:r>
            <a:endParaRPr lang="en-US" sz="1100" dirty="0"/>
          </a:p>
          <a:p>
            <a:pPr indent="0" marL="0">
              <a:lnSpc>
                <a:spcPct val="115000"/>
              </a:lnSpc>
              <a:buNone/>
            </a:pPr>
            <a:endParaRPr lang="en-US" sz="1100" dirty="0"/>
          </a:p>
          <a:p>
            <a:pPr indent="0" marL="0">
              <a:lnSpc>
                <a:spcPct val="115000"/>
              </a:lnSpc>
              <a:buNone/>
            </a:pPr>
            <a:r>
              <a:rPr lang="en-US" sz="1100" dirty="0">
                <a:solidFill>
                  <a:srgbClr val="1A1A1A"/>
                </a:solidFill>
                <a:latin typeface="Yu Gothic" pitchFamily="34" charset="0"/>
                <a:ea typeface="Yu Gothic" pitchFamily="34" charset="-122"/>
                <a:cs typeface="Yu Gothic" pitchFamily="34" charset="-120"/>
              </a:rPr>
              <a:t>本書は、防衛調達および運用判断に必要な技術データを60ページに集約した。韓国・ノルウェー・日本の軍および政府のパートナーの皆様に深く感謝申し上げる。</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324F"/>
        </a:solidFill>
      </p:bgPr>
    </p:bg>
    <p:spTree>
      <p:nvGrpSpPr>
        <p:cNvPr id="1" name=""/>
        <p:cNvGrpSpPr/>
        <p:nvPr/>
      </p:nvGrpSpPr>
      <p:grpSpPr>
        <a:xfrm>
          <a:off x="0" y="0"/>
          <a:ext cx="0" cy="0"/>
          <a:chOff x="0" y="0"/>
          <a:chExt cx="0" cy="0"/>
        </a:xfrm>
      </p:grpSpPr>
      <p:sp>
        <p:nvSpPr>
          <p:cNvPr id="2" name="Text 0"/>
          <p:cNvSpPr/>
          <p:nvPr/>
        </p:nvSpPr>
        <p:spPr>
          <a:xfrm>
            <a:off x="457200" y="411480"/>
            <a:ext cx="274320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BK DONGYEOUNG TECH</a:t>
            </a:r>
            <a:endParaRPr lang="en-US" sz="900" dirty="0"/>
          </a:p>
        </p:txBody>
      </p:sp>
      <p:sp>
        <p:nvSpPr>
          <p:cNvPr id="3" name="Text 1"/>
          <p:cNvSpPr/>
          <p:nvPr/>
        </p:nvSpPr>
        <p:spPr>
          <a:xfrm>
            <a:off x="502920" y="1417320"/>
            <a:ext cx="4572000" cy="411480"/>
          </a:xfrm>
          <a:prstGeom prst="rect">
            <a:avLst/>
          </a:prstGeom>
          <a:noFill/>
          <a:ln/>
        </p:spPr>
        <p:txBody>
          <a:bodyPr wrap="square" lIns="0" tIns="0" rIns="0" bIns="0" rtlCol="0" anchor="ctr"/>
          <a:lstStyle/>
          <a:p>
            <a:pPr indent="0" marL="0">
              <a:buNone/>
            </a:pPr>
            <a:r>
              <a:rPr lang="en-US" sz="1800" b="1" dirty="0">
                <a:solidFill>
                  <a:srgbClr val="C9A227"/>
                </a:solidFill>
                <a:latin typeface="Arial" pitchFamily="34" charset="0"/>
                <a:ea typeface="Arial" pitchFamily="34" charset="-122"/>
                <a:cs typeface="Arial" pitchFamily="34" charset="-120"/>
              </a:rPr>
              <a:t>CHAPTER 01</a:t>
            </a:r>
            <a:endParaRPr lang="en-US" sz="1800" dirty="0"/>
          </a:p>
        </p:txBody>
      </p:sp>
      <p:sp>
        <p:nvSpPr>
          <p:cNvPr id="4" name="Shape 2"/>
          <p:cNvSpPr/>
          <p:nvPr/>
        </p:nvSpPr>
        <p:spPr>
          <a:xfrm>
            <a:off x="530352" y="1965960"/>
            <a:ext cx="502920" cy="64008"/>
          </a:xfrm>
          <a:prstGeom prst="rect">
            <a:avLst/>
          </a:prstGeom>
          <a:solidFill>
            <a:srgbClr val="C9A227"/>
          </a:solidFill>
          <a:ln/>
        </p:spPr>
      </p:sp>
      <p:sp>
        <p:nvSpPr>
          <p:cNvPr id="5" name="Text 3"/>
          <p:cNvSpPr/>
          <p:nvPr/>
        </p:nvSpPr>
        <p:spPr>
          <a:xfrm>
            <a:off x="457200" y="2148840"/>
            <a:ext cx="5852160" cy="2011680"/>
          </a:xfrm>
          <a:prstGeom prst="rect">
            <a:avLst/>
          </a:prstGeom>
          <a:noFill/>
          <a:ln/>
        </p:spPr>
        <p:txBody>
          <a:bodyPr wrap="square" lIns="0" tIns="0" rIns="0" bIns="0" rtlCol="0" anchor="t"/>
          <a:lstStyle/>
          <a:p>
            <a:pPr indent="0" marL="0">
              <a:buNone/>
            </a:pPr>
            <a:r>
              <a:rPr lang="en-US" sz="3400" b="1" dirty="0">
                <a:solidFill>
                  <a:srgbClr val="FFFFFF"/>
                </a:solidFill>
                <a:latin typeface="Yu Gothic" pitchFamily="34" charset="0"/>
                <a:ea typeface="Yu Gothic" pitchFamily="34" charset="-122"/>
                <a:cs typeface="Yu Gothic" pitchFamily="34" charset="-120"/>
              </a:rPr>
              <a:t>戦場環境と</a:t>
            </a:r>
            <a:endParaRPr lang="en-US" sz="3400" dirty="0"/>
          </a:p>
          <a:p>
            <a:pPr indent="0" marL="0">
              <a:buNone/>
            </a:pPr>
            <a:r>
              <a:rPr lang="en-US" sz="3400" b="1" dirty="0">
                <a:solidFill>
                  <a:srgbClr val="FFFFFF"/>
                </a:solidFill>
                <a:latin typeface="Yu Gothic" pitchFamily="34" charset="0"/>
                <a:ea typeface="Yu Gothic" pitchFamily="34" charset="-122"/>
                <a:cs typeface="Yu Gothic" pitchFamily="34" charset="-120"/>
              </a:rPr>
              <a:t>電池のミスマッチ</a:t>
            </a:r>
            <a:endParaRPr lang="en-US" sz="3400" dirty="0"/>
          </a:p>
        </p:txBody>
      </p:sp>
      <p:sp>
        <p:nvSpPr>
          <p:cNvPr id="6" name="Text 4"/>
          <p:cNvSpPr/>
          <p:nvPr/>
        </p:nvSpPr>
        <p:spPr>
          <a:xfrm>
            <a:off x="502920" y="4434840"/>
            <a:ext cx="5394960" cy="1920240"/>
          </a:xfrm>
          <a:prstGeom prst="rect">
            <a:avLst/>
          </a:prstGeom>
          <a:noFill/>
          <a:ln/>
        </p:spPr>
        <p:txBody>
          <a:bodyPr wrap="square" lIns="0" tIns="0" rIns="0" bIns="0" rtlCol="0" anchor="t"/>
          <a:lstStyle/>
          <a:p>
            <a:pPr indent="0" marL="0">
              <a:buNone/>
            </a:pPr>
            <a:r>
              <a:rPr lang="en-US" sz="1150" dirty="0">
                <a:solidFill>
                  <a:srgbClr val="D8DEE8"/>
                </a:solidFill>
                <a:latin typeface="Yu Gothic" pitchFamily="34" charset="0"/>
                <a:ea typeface="Yu Gothic" pitchFamily="34" charset="-122"/>
                <a:cs typeface="Yu Gothic" pitchFamily="34" charset="-120"/>
              </a:rPr>
              <a:t>ポータブル電子機器向けに設計されたLi-ionが、戦場環境で直面する構造的限界を扱う。</a:t>
            </a:r>
            <a:endParaRPr lang="en-US" sz="1150" dirty="0"/>
          </a:p>
          <a:p>
            <a:pPr indent="0" marL="0">
              <a:buNone/>
            </a:pPr>
            <a:endParaRPr lang="en-US" sz="1150" dirty="0"/>
          </a:p>
          <a:p>
            <a:pPr indent="0" marL="0">
              <a:buNone/>
            </a:pPr>
            <a:r>
              <a:rPr lang="en-US" sz="1150" dirty="0">
                <a:solidFill>
                  <a:srgbClr val="D8DEE8"/>
                </a:solidFill>
                <a:latin typeface="Yu Gothic" pitchFamily="34" charset="0"/>
                <a:ea typeface="Yu Gothic" pitchFamily="34" charset="-122"/>
                <a:cs typeface="Yu Gothic" pitchFamily="34" charset="-120"/>
              </a:rPr>
              <a:t>火災事故・資源集中・極限環境への不適合という構造的限界を分析し、21世紀の無人システム需要とのギャップを定量的に提示する。</a:t>
            </a:r>
            <a:endParaRPr lang="en-US" sz="1150" dirty="0"/>
          </a:p>
        </p:txBody>
      </p:sp>
      <p:sp>
        <p:nvSpPr>
          <p:cNvPr id="7" name="Shape 5"/>
          <p:cNvSpPr/>
          <p:nvPr/>
        </p:nvSpPr>
        <p:spPr>
          <a:xfrm>
            <a:off x="6400800" y="914400"/>
            <a:ext cx="5330952" cy="5029200"/>
          </a:xfrm>
          <a:prstGeom prst="rect">
            <a:avLst/>
          </a:prstGeom>
          <a:solidFill>
            <a:srgbClr val="24466B"/>
          </a:solidFill>
          <a:ln/>
        </p:spPr>
      </p:sp>
      <p:sp>
        <p:nvSpPr>
          <p:cNvPr id="8" name="Shape 6"/>
          <p:cNvSpPr/>
          <p:nvPr/>
        </p:nvSpPr>
        <p:spPr>
          <a:xfrm>
            <a:off x="6400800" y="914400"/>
            <a:ext cx="5330952" cy="82296"/>
          </a:xfrm>
          <a:prstGeom prst="rect">
            <a:avLst/>
          </a:prstGeom>
          <a:solidFill>
            <a:srgbClr val="C9A227"/>
          </a:solidFill>
          <a:ln/>
        </p:spPr>
      </p:sp>
      <p:sp>
        <p:nvSpPr>
          <p:cNvPr id="9" name="Text 7"/>
          <p:cNvSpPr/>
          <p:nvPr/>
        </p:nvSpPr>
        <p:spPr>
          <a:xfrm>
            <a:off x="6400800" y="2743200"/>
            <a:ext cx="5330952"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TNO-S</a:t>
            </a:r>
            <a:endParaRPr lang="en-US" sz="4400" dirty="0"/>
          </a:p>
        </p:txBody>
      </p:sp>
      <p:sp>
        <p:nvSpPr>
          <p:cNvPr id="10" name="Text 8"/>
          <p:cNvSpPr/>
          <p:nvPr/>
        </p:nvSpPr>
        <p:spPr>
          <a:xfrm>
            <a:off x="6400800" y="3657600"/>
            <a:ext cx="5330952" cy="365760"/>
          </a:xfrm>
          <a:prstGeom prst="rect">
            <a:avLst/>
          </a:prstGeom>
          <a:noFill/>
          <a:ln/>
        </p:spPr>
        <p:txBody>
          <a:bodyPr wrap="square" lIns="0" tIns="0" rIns="0" bIns="0" rtlCol="0" anchor="ctr"/>
          <a:lstStyle/>
          <a:p>
            <a:pPr algn="ctr" indent="0" marL="0">
              <a:buNone/>
            </a:pPr>
            <a:r>
              <a:rPr lang="en-US" sz="1200" dirty="0">
                <a:solidFill>
                  <a:srgbClr val="C9A227"/>
                </a:solidFill>
                <a:latin typeface="Arial" pitchFamily="34" charset="0"/>
                <a:ea typeface="Arial" pitchFamily="34" charset="-122"/>
                <a:cs typeface="Arial" pitchFamily="34" charset="-120"/>
              </a:rPr>
              <a:t>Lithium-Free All-Solid-State Battery</a:t>
            </a:r>
            <a:endParaRPr lang="en-US" sz="1200" dirty="0"/>
          </a:p>
        </p:txBody>
      </p:sp>
      <p:sp>
        <p:nvSpPr>
          <p:cNvPr id="11" name="Text 9"/>
          <p:cNvSpPr/>
          <p:nvPr/>
        </p:nvSpPr>
        <p:spPr>
          <a:xfrm>
            <a:off x="10725912" y="6355080"/>
            <a:ext cx="1097280" cy="274320"/>
          </a:xfrm>
          <a:prstGeom prst="rect">
            <a:avLst/>
          </a:prstGeom>
          <a:noFill/>
          <a:ln/>
        </p:spPr>
        <p:txBody>
          <a:bodyPr wrap="square" lIns="0" tIns="0" rIns="0" bIns="0" rtlCol="0" anchor="ctr"/>
          <a:lstStyle/>
          <a:p>
            <a:pPr algn="r" indent="0" marL="0">
              <a:buNone/>
            </a:pPr>
            <a:r>
              <a:rPr lang="en-US" sz="1000" b="1" dirty="0">
                <a:solidFill>
                  <a:srgbClr val="C9A227"/>
                </a:solidFill>
                <a:latin typeface="Arial" pitchFamily="34" charset="0"/>
                <a:ea typeface="Arial" pitchFamily="34" charset="-122"/>
                <a:cs typeface="Arial" pitchFamily="34" charset="-120"/>
              </a:rPr>
              <a:t>p.05/55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1.1  実際の事故事例</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06/55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直近5年間のLi-ion火災事故 — 韓国</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Li-ion火災事故(韓国、2020–2025)</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645920"/>
            <a:ext cx="1828800" cy="841248"/>
          </a:xfrm>
          <a:prstGeom prst="rect">
            <a:avLst/>
          </a:prstGeom>
          <a:solidFill>
            <a:srgbClr val="B03A2E"/>
          </a:solidFill>
          <a:ln/>
        </p:spPr>
      </p:sp>
      <p:sp>
        <p:nvSpPr>
          <p:cNvPr id="13" name="Text 11"/>
          <p:cNvSpPr/>
          <p:nvPr/>
        </p:nvSpPr>
        <p:spPr>
          <a:xfrm>
            <a:off x="457200" y="1645920"/>
            <a:ext cx="1828800" cy="8412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2020-2025</a:t>
            </a:r>
            <a:endParaRPr lang="en-US" sz="1300" dirty="0"/>
          </a:p>
        </p:txBody>
      </p:sp>
      <p:sp>
        <p:nvSpPr>
          <p:cNvPr id="14" name="Shape 12"/>
          <p:cNvSpPr/>
          <p:nvPr/>
        </p:nvSpPr>
        <p:spPr>
          <a:xfrm>
            <a:off x="2286000" y="1645920"/>
            <a:ext cx="9445752" cy="841248"/>
          </a:xfrm>
          <a:prstGeom prst="rect">
            <a:avLst/>
          </a:prstGeom>
          <a:solidFill>
            <a:srgbClr val="FFFFFF"/>
          </a:solidFill>
          <a:ln w="9525">
            <a:solidFill>
              <a:srgbClr val="C8C8C8"/>
            </a:solidFill>
            <a:prstDash val="solid"/>
          </a:ln>
        </p:spPr>
      </p:sp>
      <p:sp>
        <p:nvSpPr>
          <p:cNvPr id="15" name="Text 13"/>
          <p:cNvSpPr/>
          <p:nvPr/>
        </p:nvSpPr>
        <p:spPr>
          <a:xfrm>
            <a:off x="2514600" y="1719072"/>
            <a:ext cx="9052560" cy="365760"/>
          </a:xfrm>
          <a:prstGeom prst="rect">
            <a:avLst/>
          </a:prstGeom>
          <a:noFill/>
          <a:ln/>
        </p:spPr>
        <p:txBody>
          <a:bodyPr wrap="square" lIns="0" tIns="0" rIns="0" bIns="0" rtlCol="0" anchor="ctr"/>
          <a:lstStyle/>
          <a:p>
            <a:pPr indent="0" marL="0">
              <a:buNone/>
            </a:pPr>
            <a:r>
              <a:rPr lang="en-US" sz="1300" b="1" dirty="0">
                <a:solidFill>
                  <a:srgbClr val="16324F"/>
                </a:solidFill>
                <a:latin typeface="Yu Gothic" pitchFamily="34" charset="0"/>
                <a:ea typeface="Yu Gothic" pitchFamily="34" charset="-122"/>
                <a:cs typeface="Yu Gothic" pitchFamily="34" charset="-120"/>
              </a:rPr>
              <a:t>ESS火災 54件</a:t>
            </a:r>
            <a:endParaRPr lang="en-US" sz="1300" dirty="0"/>
          </a:p>
        </p:txBody>
      </p:sp>
      <p:sp>
        <p:nvSpPr>
          <p:cNvPr id="16" name="Text 14"/>
          <p:cNvSpPr/>
          <p:nvPr/>
        </p:nvSpPr>
        <p:spPr>
          <a:xfrm>
            <a:off x="2514600" y="2084832"/>
            <a:ext cx="9052560" cy="320040"/>
          </a:xfrm>
          <a:prstGeom prst="rect">
            <a:avLst/>
          </a:prstGeom>
          <a:noFill/>
          <a:ln/>
        </p:spPr>
        <p:txBody>
          <a:bodyPr wrap="square" lIns="0" tIns="0" rIns="0" bIns="0" rtlCol="0" anchor="ctr"/>
          <a:lstStyle/>
          <a:p>
            <a:pPr indent="0" marL="0">
              <a:buNone/>
            </a:pPr>
            <a:r>
              <a:rPr lang="en-US" sz="1000" dirty="0">
                <a:solidFill>
                  <a:srgbClr val="5A5A5A"/>
                </a:solidFill>
                <a:latin typeface="Yu Gothic" pitchFamily="34" charset="0"/>
                <a:ea typeface="Yu Gothic" pitchFamily="34" charset="-122"/>
                <a:cs typeface="Yu Gothic" pitchFamily="34" charset="-120"/>
              </a:rPr>
              <a:t>稼働率が90% → 約20%に急落、ESS産業が縮小</a:t>
            </a:r>
            <a:endParaRPr lang="en-US" sz="1000" dirty="0"/>
          </a:p>
        </p:txBody>
      </p:sp>
      <p:sp>
        <p:nvSpPr>
          <p:cNvPr id="17" name="Shape 15"/>
          <p:cNvSpPr/>
          <p:nvPr/>
        </p:nvSpPr>
        <p:spPr>
          <a:xfrm>
            <a:off x="457200" y="2633472"/>
            <a:ext cx="1828800" cy="841248"/>
          </a:xfrm>
          <a:prstGeom prst="rect">
            <a:avLst/>
          </a:prstGeom>
          <a:solidFill>
            <a:srgbClr val="B03A2E"/>
          </a:solidFill>
          <a:ln/>
        </p:spPr>
      </p:sp>
      <p:sp>
        <p:nvSpPr>
          <p:cNvPr id="18" name="Text 16"/>
          <p:cNvSpPr/>
          <p:nvPr/>
        </p:nvSpPr>
        <p:spPr>
          <a:xfrm>
            <a:off x="457200" y="2633472"/>
            <a:ext cx="1828800" cy="8412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2024.08</a:t>
            </a:r>
            <a:endParaRPr lang="en-US" sz="1300" dirty="0"/>
          </a:p>
        </p:txBody>
      </p:sp>
      <p:sp>
        <p:nvSpPr>
          <p:cNvPr id="19" name="Shape 17"/>
          <p:cNvSpPr/>
          <p:nvPr/>
        </p:nvSpPr>
        <p:spPr>
          <a:xfrm>
            <a:off x="2286000" y="2633472"/>
            <a:ext cx="9445752" cy="841248"/>
          </a:xfrm>
          <a:prstGeom prst="rect">
            <a:avLst/>
          </a:prstGeom>
          <a:solidFill>
            <a:srgbClr val="FFFFFF"/>
          </a:solidFill>
          <a:ln w="9525">
            <a:solidFill>
              <a:srgbClr val="C8C8C8"/>
            </a:solidFill>
            <a:prstDash val="solid"/>
          </a:ln>
        </p:spPr>
      </p:sp>
      <p:sp>
        <p:nvSpPr>
          <p:cNvPr id="20" name="Text 18"/>
          <p:cNvSpPr/>
          <p:nvPr/>
        </p:nvSpPr>
        <p:spPr>
          <a:xfrm>
            <a:off x="2514600" y="2706624"/>
            <a:ext cx="9052560" cy="365760"/>
          </a:xfrm>
          <a:prstGeom prst="rect">
            <a:avLst/>
          </a:prstGeom>
          <a:noFill/>
          <a:ln/>
        </p:spPr>
        <p:txBody>
          <a:bodyPr wrap="square" lIns="0" tIns="0" rIns="0" bIns="0" rtlCol="0" anchor="ctr"/>
          <a:lstStyle/>
          <a:p>
            <a:pPr indent="0" marL="0">
              <a:buNone/>
            </a:pPr>
            <a:r>
              <a:rPr lang="en-US" sz="1300" b="1" dirty="0">
                <a:solidFill>
                  <a:srgbClr val="16324F"/>
                </a:solidFill>
                <a:latin typeface="Yu Gothic" pitchFamily="34" charset="0"/>
                <a:ea typeface="Yu Gothic" pitchFamily="34" charset="-122"/>
                <a:cs typeface="Yu Gothic" pitchFamily="34" charset="-120"/>
              </a:rPr>
              <a:t>仁川青羅 EV地下駐車場火災</a:t>
            </a:r>
            <a:endParaRPr lang="en-US" sz="1300" dirty="0"/>
          </a:p>
        </p:txBody>
      </p:sp>
      <p:sp>
        <p:nvSpPr>
          <p:cNvPr id="21" name="Text 19"/>
          <p:cNvSpPr/>
          <p:nvPr/>
        </p:nvSpPr>
        <p:spPr>
          <a:xfrm>
            <a:off x="2514600" y="3072384"/>
            <a:ext cx="9052560" cy="320040"/>
          </a:xfrm>
          <a:prstGeom prst="rect">
            <a:avLst/>
          </a:prstGeom>
          <a:noFill/>
          <a:ln/>
        </p:spPr>
        <p:txBody>
          <a:bodyPr wrap="square" lIns="0" tIns="0" rIns="0" bIns="0" rtlCol="0" anchor="ctr"/>
          <a:lstStyle/>
          <a:p>
            <a:pPr indent="0" marL="0">
              <a:buNone/>
            </a:pPr>
            <a:r>
              <a:rPr lang="en-US" sz="1000" dirty="0">
                <a:solidFill>
                  <a:srgbClr val="5A5A5A"/>
                </a:solidFill>
                <a:latin typeface="Yu Gothic" pitchFamily="34" charset="0"/>
                <a:ea typeface="Yu Gothic" pitchFamily="34" charset="-122"/>
                <a:cs typeface="Yu Gothic" pitchFamily="34" charset="-120"/>
              </a:rPr>
              <a:t>駐車場が1年以上閉鎖、住民に大規模被害</a:t>
            </a:r>
            <a:endParaRPr lang="en-US" sz="1000" dirty="0"/>
          </a:p>
        </p:txBody>
      </p:sp>
      <p:sp>
        <p:nvSpPr>
          <p:cNvPr id="22" name="Shape 20"/>
          <p:cNvSpPr/>
          <p:nvPr/>
        </p:nvSpPr>
        <p:spPr>
          <a:xfrm>
            <a:off x="457200" y="3621024"/>
            <a:ext cx="1828800" cy="841248"/>
          </a:xfrm>
          <a:prstGeom prst="rect">
            <a:avLst/>
          </a:prstGeom>
          <a:solidFill>
            <a:srgbClr val="B03A2E"/>
          </a:solidFill>
          <a:ln/>
        </p:spPr>
      </p:sp>
      <p:sp>
        <p:nvSpPr>
          <p:cNvPr id="23" name="Text 21"/>
          <p:cNvSpPr/>
          <p:nvPr/>
        </p:nvSpPr>
        <p:spPr>
          <a:xfrm>
            <a:off x="457200" y="3621024"/>
            <a:ext cx="1828800" cy="8412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2025.09</a:t>
            </a:r>
            <a:endParaRPr lang="en-US" sz="1300" dirty="0"/>
          </a:p>
        </p:txBody>
      </p:sp>
      <p:sp>
        <p:nvSpPr>
          <p:cNvPr id="24" name="Shape 22"/>
          <p:cNvSpPr/>
          <p:nvPr/>
        </p:nvSpPr>
        <p:spPr>
          <a:xfrm>
            <a:off x="2286000" y="3621024"/>
            <a:ext cx="9445752" cy="841248"/>
          </a:xfrm>
          <a:prstGeom prst="rect">
            <a:avLst/>
          </a:prstGeom>
          <a:solidFill>
            <a:srgbClr val="FFFFFF"/>
          </a:solidFill>
          <a:ln w="9525">
            <a:solidFill>
              <a:srgbClr val="C8C8C8"/>
            </a:solidFill>
            <a:prstDash val="solid"/>
          </a:ln>
        </p:spPr>
      </p:sp>
      <p:sp>
        <p:nvSpPr>
          <p:cNvPr id="25" name="Text 23"/>
          <p:cNvSpPr/>
          <p:nvPr/>
        </p:nvSpPr>
        <p:spPr>
          <a:xfrm>
            <a:off x="2514600" y="3694176"/>
            <a:ext cx="9052560" cy="365760"/>
          </a:xfrm>
          <a:prstGeom prst="rect">
            <a:avLst/>
          </a:prstGeom>
          <a:noFill/>
          <a:ln/>
        </p:spPr>
        <p:txBody>
          <a:bodyPr wrap="square" lIns="0" tIns="0" rIns="0" bIns="0" rtlCol="0" anchor="ctr"/>
          <a:lstStyle/>
          <a:p>
            <a:pPr indent="0" marL="0">
              <a:buNone/>
            </a:pPr>
            <a:r>
              <a:rPr lang="en-US" sz="1300" b="1" dirty="0">
                <a:solidFill>
                  <a:srgbClr val="16324F"/>
                </a:solidFill>
                <a:latin typeface="Yu Gothic" pitchFamily="34" charset="0"/>
                <a:ea typeface="Yu Gothic" pitchFamily="34" charset="-122"/>
                <a:cs typeface="Yu Gothic" pitchFamily="34" charset="-120"/>
              </a:rPr>
              <a:t>大田 国家情報資源管理院</a:t>
            </a:r>
            <a:endParaRPr lang="en-US" sz="1300" dirty="0"/>
          </a:p>
        </p:txBody>
      </p:sp>
      <p:sp>
        <p:nvSpPr>
          <p:cNvPr id="26" name="Text 24"/>
          <p:cNvSpPr/>
          <p:nvPr/>
        </p:nvSpPr>
        <p:spPr>
          <a:xfrm>
            <a:off x="2514600" y="4059936"/>
            <a:ext cx="9052560" cy="320040"/>
          </a:xfrm>
          <a:prstGeom prst="rect">
            <a:avLst/>
          </a:prstGeom>
          <a:noFill/>
          <a:ln/>
        </p:spPr>
        <p:txBody>
          <a:bodyPr wrap="square" lIns="0" tIns="0" rIns="0" bIns="0" rtlCol="0" anchor="ctr"/>
          <a:lstStyle/>
          <a:p>
            <a:pPr indent="0" marL="0">
              <a:buNone/>
            </a:pPr>
            <a:r>
              <a:rPr lang="en-US" sz="1000" dirty="0">
                <a:solidFill>
                  <a:srgbClr val="5A5A5A"/>
                </a:solidFill>
                <a:latin typeface="Yu Gothic" pitchFamily="34" charset="0"/>
                <a:ea typeface="Yu Gothic" pitchFamily="34" charset="-122"/>
                <a:cs typeface="Yu Gothic" pitchFamily="34" charset="-120"/>
              </a:rPr>
              <a:t>Li-ion UPS発火 → 政府ネットワークが麻痺</a:t>
            </a:r>
            <a:endParaRPr lang="en-US" sz="1000" dirty="0"/>
          </a:p>
        </p:txBody>
      </p:sp>
      <p:sp>
        <p:nvSpPr>
          <p:cNvPr id="27" name="Shape 25"/>
          <p:cNvSpPr/>
          <p:nvPr/>
        </p:nvSpPr>
        <p:spPr>
          <a:xfrm>
            <a:off x="457200" y="4608576"/>
            <a:ext cx="1828800" cy="841248"/>
          </a:xfrm>
          <a:prstGeom prst="rect">
            <a:avLst/>
          </a:prstGeom>
          <a:solidFill>
            <a:srgbClr val="B03A2E"/>
          </a:solidFill>
          <a:ln/>
        </p:spPr>
      </p:sp>
      <p:sp>
        <p:nvSpPr>
          <p:cNvPr id="28" name="Text 26"/>
          <p:cNvSpPr/>
          <p:nvPr/>
        </p:nvSpPr>
        <p:spPr>
          <a:xfrm>
            <a:off x="457200" y="4608576"/>
            <a:ext cx="1828800" cy="8412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2020-2025</a:t>
            </a:r>
            <a:endParaRPr lang="en-US" sz="1300" dirty="0"/>
          </a:p>
        </p:txBody>
      </p:sp>
      <p:sp>
        <p:nvSpPr>
          <p:cNvPr id="29" name="Shape 27"/>
          <p:cNvSpPr/>
          <p:nvPr/>
        </p:nvSpPr>
        <p:spPr>
          <a:xfrm>
            <a:off x="2286000" y="4608576"/>
            <a:ext cx="9445752" cy="841248"/>
          </a:xfrm>
          <a:prstGeom prst="rect">
            <a:avLst/>
          </a:prstGeom>
          <a:solidFill>
            <a:srgbClr val="FFFFFF"/>
          </a:solidFill>
          <a:ln w="9525">
            <a:solidFill>
              <a:srgbClr val="C8C8C8"/>
            </a:solidFill>
            <a:prstDash val="solid"/>
          </a:ln>
        </p:spPr>
      </p:sp>
      <p:sp>
        <p:nvSpPr>
          <p:cNvPr id="30" name="Text 28"/>
          <p:cNvSpPr/>
          <p:nvPr/>
        </p:nvSpPr>
        <p:spPr>
          <a:xfrm>
            <a:off x="2514600" y="4681728"/>
            <a:ext cx="9052560" cy="365760"/>
          </a:xfrm>
          <a:prstGeom prst="rect">
            <a:avLst/>
          </a:prstGeom>
          <a:noFill/>
          <a:ln/>
        </p:spPr>
        <p:txBody>
          <a:bodyPr wrap="square" lIns="0" tIns="0" rIns="0" bIns="0" rtlCol="0" anchor="ctr"/>
          <a:lstStyle/>
          <a:p>
            <a:pPr indent="0" marL="0">
              <a:buNone/>
            </a:pPr>
            <a:r>
              <a:rPr lang="en-US" sz="1300" b="1" dirty="0">
                <a:solidFill>
                  <a:srgbClr val="16324F"/>
                </a:solidFill>
                <a:latin typeface="Yu Gothic" pitchFamily="34" charset="0"/>
                <a:ea typeface="Yu Gothic" pitchFamily="34" charset="-122"/>
                <a:cs typeface="Yu Gothic" pitchFamily="34" charset="-120"/>
              </a:rPr>
              <a:t>EV火災 累計</a:t>
            </a:r>
            <a:endParaRPr lang="en-US" sz="1300" dirty="0"/>
          </a:p>
        </p:txBody>
      </p:sp>
      <p:sp>
        <p:nvSpPr>
          <p:cNvPr id="31" name="Text 29"/>
          <p:cNvSpPr/>
          <p:nvPr/>
        </p:nvSpPr>
        <p:spPr>
          <a:xfrm>
            <a:off x="2514600" y="5047488"/>
            <a:ext cx="9052560" cy="320040"/>
          </a:xfrm>
          <a:prstGeom prst="rect">
            <a:avLst/>
          </a:prstGeom>
          <a:noFill/>
          <a:ln/>
        </p:spPr>
        <p:txBody>
          <a:bodyPr wrap="square" lIns="0" tIns="0" rIns="0" bIns="0" rtlCol="0" anchor="ctr"/>
          <a:lstStyle/>
          <a:p>
            <a:pPr indent="0" marL="0">
              <a:buNone/>
            </a:pPr>
            <a:r>
              <a:rPr lang="en-US" sz="1000" dirty="0">
                <a:solidFill>
                  <a:srgbClr val="5A5A5A"/>
                </a:solidFill>
                <a:latin typeface="Yu Gothic" pitchFamily="34" charset="0"/>
                <a:ea typeface="Yu Gothic" pitchFamily="34" charset="-122"/>
                <a:cs typeface="Yu Gothic" pitchFamily="34" charset="-120"/>
              </a:rPr>
              <a:t>5年間の累計被害 約2,000億ウォン、死傷者21名</a:t>
            </a:r>
            <a:endParaRPr lang="en-US" sz="1000" dirty="0"/>
          </a:p>
        </p:txBody>
      </p:sp>
      <p:sp>
        <p:nvSpPr>
          <p:cNvPr id="32" name="Shape 30"/>
          <p:cNvSpPr/>
          <p:nvPr/>
        </p:nvSpPr>
        <p:spPr>
          <a:xfrm>
            <a:off x="457200" y="5715000"/>
            <a:ext cx="11274552" cy="502920"/>
          </a:xfrm>
          <a:prstGeom prst="rect">
            <a:avLst/>
          </a:prstGeom>
          <a:solidFill>
            <a:srgbClr val="16324F"/>
          </a:solidFill>
          <a:ln/>
        </p:spPr>
      </p:sp>
      <p:sp>
        <p:nvSpPr>
          <p:cNvPr id="33" name="Text 31"/>
          <p:cNvSpPr/>
          <p:nvPr/>
        </p:nvSpPr>
        <p:spPr>
          <a:xfrm>
            <a:off x="685800" y="5715000"/>
            <a:ext cx="10881360" cy="502920"/>
          </a:xfrm>
          <a:prstGeom prst="rect">
            <a:avLst/>
          </a:prstGeom>
          <a:noFill/>
          <a:ln/>
        </p:spPr>
        <p:txBody>
          <a:bodyPr wrap="square" lIns="0" tIns="0" rIns="0" bIns="0" rtlCol="0" anchor="ctr"/>
          <a:lstStyle/>
          <a:p>
            <a:pPr indent="0" marL="0">
              <a:buNone/>
            </a:pPr>
            <a:r>
              <a:rPr lang="en-US" sz="1150" b="1" dirty="0">
                <a:solidFill>
                  <a:srgbClr val="C9A227"/>
                </a:solidFill>
                <a:latin typeface="Yu Gothic" pitchFamily="34" charset="0"/>
                <a:ea typeface="Yu Gothic" pitchFamily="34" charset="-122"/>
                <a:cs typeface="Yu Gothic" pitchFamily="34" charset="-120"/>
              </a:rPr>
              <a:t>防衛上の含意:野戦・島嶼・艦艇環境で同等の事故が発生すれば、それは直ちにミッション失敗と人命損失につながる。</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1.2  Li-ionの3つの構造的限界</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07/55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Li-ionの3つの構造的限界</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Three Structural Limits of Li-ion</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645920"/>
            <a:ext cx="3611880" cy="777240"/>
          </a:xfrm>
          <a:prstGeom prst="rect">
            <a:avLst/>
          </a:prstGeom>
          <a:solidFill>
            <a:srgbClr val="B03A2E"/>
          </a:solidFill>
          <a:ln/>
        </p:spPr>
      </p:sp>
      <p:sp>
        <p:nvSpPr>
          <p:cNvPr id="13" name="Text 11"/>
          <p:cNvSpPr/>
          <p:nvPr/>
        </p:nvSpPr>
        <p:spPr>
          <a:xfrm>
            <a:off x="457200" y="1700784"/>
            <a:ext cx="361188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FIRE</a:t>
            </a:r>
            <a:endParaRPr lang="en-US" sz="1200" dirty="0"/>
          </a:p>
        </p:txBody>
      </p:sp>
      <p:sp>
        <p:nvSpPr>
          <p:cNvPr id="14" name="Text 12"/>
          <p:cNvSpPr/>
          <p:nvPr/>
        </p:nvSpPr>
        <p:spPr>
          <a:xfrm>
            <a:off x="457200" y="1993392"/>
            <a:ext cx="361188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火災</a:t>
            </a:r>
            <a:endParaRPr lang="en-US" sz="1600" dirty="0"/>
          </a:p>
        </p:txBody>
      </p:sp>
      <p:sp>
        <p:nvSpPr>
          <p:cNvPr id="15" name="Shape 13"/>
          <p:cNvSpPr/>
          <p:nvPr/>
        </p:nvSpPr>
        <p:spPr>
          <a:xfrm>
            <a:off x="457200" y="2423160"/>
            <a:ext cx="3611880" cy="3566160"/>
          </a:xfrm>
          <a:prstGeom prst="rect">
            <a:avLst/>
          </a:prstGeom>
          <a:solidFill>
            <a:srgbClr val="FFFFFF"/>
          </a:solidFill>
          <a:ln w="9525">
            <a:solidFill>
              <a:srgbClr val="C8C8C8"/>
            </a:solidFill>
            <a:prstDash val="solid"/>
          </a:ln>
        </p:spPr>
      </p:sp>
      <p:sp>
        <p:nvSpPr>
          <p:cNvPr id="16" name="Text 14"/>
          <p:cNvSpPr/>
          <p:nvPr/>
        </p:nvSpPr>
        <p:spPr>
          <a:xfrm>
            <a:off x="640080" y="2606040"/>
            <a:ext cx="3246120" cy="1051560"/>
          </a:xfrm>
          <a:prstGeom prst="rect">
            <a:avLst/>
          </a:prstGeom>
          <a:noFill/>
          <a:ln/>
        </p:spPr>
        <p:txBody>
          <a:bodyPr wrap="square" lIns="0" tIns="0" rIns="0" bIns="0" rtlCol="0" anchor="ctr"/>
          <a:lstStyle/>
          <a:p>
            <a:pPr algn="ctr" indent="0" marL="0">
              <a:buNone/>
            </a:pPr>
            <a:r>
              <a:rPr lang="en-US" sz="1050" b="1" dirty="0">
                <a:solidFill>
                  <a:srgbClr val="1A1A1A"/>
                </a:solidFill>
                <a:latin typeface="Yu Gothic" pitchFamily="34" charset="0"/>
                <a:ea typeface="Yu Gothic" pitchFamily="34" charset="-122"/>
                <a:cs typeface="Yu Gothic" pitchFamily="34" charset="-120"/>
              </a:rPr>
              <a:t>可燃性液体電解質 · SEI分解 · デンドライト → 熱暴走は不可避</a:t>
            </a:r>
            <a:endParaRPr lang="en-US" sz="1050" dirty="0"/>
          </a:p>
        </p:txBody>
      </p:sp>
      <p:sp>
        <p:nvSpPr>
          <p:cNvPr id="17" name="Text 15"/>
          <p:cNvSpPr/>
          <p:nvPr/>
        </p:nvSpPr>
        <p:spPr>
          <a:xfrm>
            <a:off x="777240" y="3794760"/>
            <a:ext cx="3108960" cy="201168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2024年 青羅EV火災</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2025年 大田国家ITセンター火災</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ESS事故 54件</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被害額 約2,000億ウォン</a:t>
            </a:r>
            <a:endParaRPr lang="en-US" sz="1000" dirty="0"/>
          </a:p>
        </p:txBody>
      </p:sp>
      <p:sp>
        <p:nvSpPr>
          <p:cNvPr id="18" name="Shape 16"/>
          <p:cNvSpPr/>
          <p:nvPr/>
        </p:nvSpPr>
        <p:spPr>
          <a:xfrm>
            <a:off x="4297680" y="1645920"/>
            <a:ext cx="3611880" cy="777240"/>
          </a:xfrm>
          <a:prstGeom prst="rect">
            <a:avLst/>
          </a:prstGeom>
          <a:solidFill>
            <a:srgbClr val="4F6238"/>
          </a:solidFill>
          <a:ln/>
        </p:spPr>
      </p:sp>
      <p:sp>
        <p:nvSpPr>
          <p:cNvPr id="19" name="Text 17"/>
          <p:cNvSpPr/>
          <p:nvPr/>
        </p:nvSpPr>
        <p:spPr>
          <a:xfrm>
            <a:off x="4297680" y="1700784"/>
            <a:ext cx="361188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SUPPLY</a:t>
            </a:r>
            <a:endParaRPr lang="en-US" sz="1200" dirty="0"/>
          </a:p>
        </p:txBody>
      </p:sp>
      <p:sp>
        <p:nvSpPr>
          <p:cNvPr id="20" name="Text 18"/>
          <p:cNvSpPr/>
          <p:nvPr/>
        </p:nvSpPr>
        <p:spPr>
          <a:xfrm>
            <a:off x="4297680" y="1993392"/>
            <a:ext cx="361188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資源</a:t>
            </a:r>
            <a:endParaRPr lang="en-US" sz="1600" dirty="0"/>
          </a:p>
        </p:txBody>
      </p:sp>
      <p:sp>
        <p:nvSpPr>
          <p:cNvPr id="21" name="Shape 19"/>
          <p:cNvSpPr/>
          <p:nvPr/>
        </p:nvSpPr>
        <p:spPr>
          <a:xfrm>
            <a:off x="4297680" y="2423160"/>
            <a:ext cx="3611880" cy="3566160"/>
          </a:xfrm>
          <a:prstGeom prst="rect">
            <a:avLst/>
          </a:prstGeom>
          <a:solidFill>
            <a:srgbClr val="FFFFFF"/>
          </a:solidFill>
          <a:ln w="9525">
            <a:solidFill>
              <a:srgbClr val="C8C8C8"/>
            </a:solidFill>
            <a:prstDash val="solid"/>
          </a:ln>
        </p:spPr>
      </p:sp>
      <p:sp>
        <p:nvSpPr>
          <p:cNvPr id="22" name="Text 20"/>
          <p:cNvSpPr/>
          <p:nvPr/>
        </p:nvSpPr>
        <p:spPr>
          <a:xfrm>
            <a:off x="4480560" y="2606040"/>
            <a:ext cx="3246120" cy="1051560"/>
          </a:xfrm>
          <a:prstGeom prst="rect">
            <a:avLst/>
          </a:prstGeom>
          <a:noFill/>
          <a:ln/>
        </p:spPr>
        <p:txBody>
          <a:bodyPr wrap="square" lIns="0" tIns="0" rIns="0" bIns="0" rtlCol="0" anchor="ctr"/>
          <a:lstStyle/>
          <a:p>
            <a:pPr algn="ctr" indent="0" marL="0">
              <a:buNone/>
            </a:pPr>
            <a:r>
              <a:rPr lang="en-US" sz="1050" b="1" dirty="0">
                <a:solidFill>
                  <a:srgbClr val="1A1A1A"/>
                </a:solidFill>
                <a:latin typeface="Yu Gothic" pitchFamily="34" charset="0"/>
                <a:ea typeface="Yu Gothic" pitchFamily="34" charset="-122"/>
                <a:cs typeface="Yu Gothic" pitchFamily="34" charset="-120"/>
              </a:rPr>
              <a:t>リチウム80% 豪州/チリ · コバルト70% DRC — 紛争鉱物への依存</a:t>
            </a:r>
            <a:endParaRPr lang="en-US" sz="1050" dirty="0"/>
          </a:p>
        </p:txBody>
      </p:sp>
      <p:sp>
        <p:nvSpPr>
          <p:cNvPr id="23" name="Text 21"/>
          <p:cNvSpPr/>
          <p:nvPr/>
        </p:nvSpPr>
        <p:spPr>
          <a:xfrm>
            <a:off x="4617720" y="3794760"/>
            <a:ext cx="3108960" cy="201168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豪州+チリ = リチウムの80%</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DRCコバルト 70%</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価格変動 ±300%</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2030年需要 2,600 GWh</a:t>
            </a:r>
            <a:endParaRPr lang="en-US" sz="1000" dirty="0"/>
          </a:p>
        </p:txBody>
      </p:sp>
      <p:sp>
        <p:nvSpPr>
          <p:cNvPr id="24" name="Shape 22"/>
          <p:cNvSpPr/>
          <p:nvPr/>
        </p:nvSpPr>
        <p:spPr>
          <a:xfrm>
            <a:off x="8138160" y="1645920"/>
            <a:ext cx="3611880" cy="777240"/>
          </a:xfrm>
          <a:prstGeom prst="rect">
            <a:avLst/>
          </a:prstGeom>
          <a:solidFill>
            <a:srgbClr val="45586E"/>
          </a:solidFill>
          <a:ln/>
        </p:spPr>
      </p:sp>
      <p:sp>
        <p:nvSpPr>
          <p:cNvPr id="25" name="Text 23"/>
          <p:cNvSpPr/>
          <p:nvPr/>
        </p:nvSpPr>
        <p:spPr>
          <a:xfrm>
            <a:off x="8138160" y="1700784"/>
            <a:ext cx="361188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CEILING</a:t>
            </a:r>
            <a:endParaRPr lang="en-US" sz="1200" dirty="0"/>
          </a:p>
        </p:txBody>
      </p:sp>
      <p:sp>
        <p:nvSpPr>
          <p:cNvPr id="26" name="Text 24"/>
          <p:cNvSpPr/>
          <p:nvPr/>
        </p:nvSpPr>
        <p:spPr>
          <a:xfrm>
            <a:off x="8138160" y="1993392"/>
            <a:ext cx="361188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性能</a:t>
            </a:r>
            <a:endParaRPr lang="en-US" sz="1600" dirty="0"/>
          </a:p>
        </p:txBody>
      </p:sp>
      <p:sp>
        <p:nvSpPr>
          <p:cNvPr id="27" name="Shape 25"/>
          <p:cNvSpPr/>
          <p:nvPr/>
        </p:nvSpPr>
        <p:spPr>
          <a:xfrm>
            <a:off x="8138160" y="2423160"/>
            <a:ext cx="3611880" cy="3566160"/>
          </a:xfrm>
          <a:prstGeom prst="rect">
            <a:avLst/>
          </a:prstGeom>
          <a:solidFill>
            <a:srgbClr val="FFFFFF"/>
          </a:solidFill>
          <a:ln w="9525">
            <a:solidFill>
              <a:srgbClr val="C8C8C8"/>
            </a:solidFill>
            <a:prstDash val="solid"/>
          </a:ln>
        </p:spPr>
      </p:sp>
      <p:sp>
        <p:nvSpPr>
          <p:cNvPr id="28" name="Text 26"/>
          <p:cNvSpPr/>
          <p:nvPr/>
        </p:nvSpPr>
        <p:spPr>
          <a:xfrm>
            <a:off x="8321040" y="2606040"/>
            <a:ext cx="3246120" cy="1051560"/>
          </a:xfrm>
          <a:prstGeom prst="rect">
            <a:avLst/>
          </a:prstGeom>
          <a:noFill/>
          <a:ln/>
        </p:spPr>
        <p:txBody>
          <a:bodyPr wrap="square" lIns="0" tIns="0" rIns="0" bIns="0" rtlCol="0" anchor="ctr"/>
          <a:lstStyle/>
          <a:p>
            <a:pPr algn="ctr" indent="0" marL="0">
              <a:buNone/>
            </a:pPr>
            <a:r>
              <a:rPr lang="en-US" sz="1050" b="1" dirty="0">
                <a:solidFill>
                  <a:srgbClr val="1A1A1A"/>
                </a:solidFill>
                <a:latin typeface="Yu Gothic" pitchFamily="34" charset="0"/>
                <a:ea typeface="Yu Gothic" pitchFamily="34" charset="-122"/>
                <a:cs typeface="Yu Gothic" pitchFamily="34" charset="-120"/>
              </a:rPr>
              <a:t>NCM正極の理論限界 約300 Wh/kg / 低温 -20°Cの限界</a:t>
            </a:r>
            <a:endParaRPr lang="en-US" sz="1050" dirty="0"/>
          </a:p>
        </p:txBody>
      </p:sp>
      <p:sp>
        <p:nvSpPr>
          <p:cNvPr id="29" name="Text 27"/>
          <p:cNvSpPr/>
          <p:nvPr/>
        </p:nvSpPr>
        <p:spPr>
          <a:xfrm>
            <a:off x="8458200" y="3794760"/>
            <a:ext cx="3108960" cy="201168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NCM上限 300 Wh/kg</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充電30分以上(4C限界)</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-20°Cで性能が崩壊</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サイクル寿命 1,000~2,000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1.3  21世紀 防衛無人システム需要</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08/55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防衛無人システム需要(2025–2035)</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Defense Unmanned System Demand</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74552" cy="914400"/>
        </p:xfrm>
        <a:graphic>
          <a:graphicData uri="http://schemas.openxmlformats.org/drawingml/2006/table">
            <a:tbl>
              <a:tblPr/>
              <a:tblGrid>
                <a:gridCol w="2743200"/>
                <a:gridCol w="3200400"/>
                <a:gridCol w="2011680"/>
                <a:gridCol w="1371600"/>
                <a:gridCol w="1947672"/>
              </a:tblGrid>
              <a:tr h="457200">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システム</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運用環境</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エネルギー需要</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出力需要</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現行Li-ionの対応</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軍用UAV(小型偵察)</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-30~+50°C · 高出力回避機動</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150~250 Wh/kg</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5~10C</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 限界的</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軍用UAV(中型攻撃)</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-30~+50°C · 長時間滞空</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300~400 Wh/kg</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3~7C</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 不可能</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UGV(無人地上車両)</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-25~+60°C · 不整地 · 貫通リスク</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200~350 Wh/kg</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10C+</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 火災リスク</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携帯通信 / 装備</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-30~+60°C · 兵士携行</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200~300 Wh/kg</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2~5C</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 安全性不十分</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艦艇 / 潜水艦補助電源</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+45°C · 衝撃 · 海水暴露</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150~250 Wh/kg</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5~10C</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 火災懸念</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ミサイル / 誘導兵器電源</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-40~+85°C · 衝撃 · 振動</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100~200 Wh/kg</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20C+</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 安全性不十分</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野戦ESS / UPS</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-40~+70°C · 無人運用</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Wh/kg &lt; コスト</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5C</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 火災リスク</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bl>
          </a:graphicData>
        </a:graphic>
      </p:graphicFrame>
      <p:sp>
        <p:nvSpPr>
          <p:cNvPr id="13" name="Shape 10"/>
          <p:cNvSpPr/>
          <p:nvPr/>
        </p:nvSpPr>
        <p:spPr>
          <a:xfrm>
            <a:off x="457200" y="5897880"/>
            <a:ext cx="11274552" cy="457200"/>
          </a:xfrm>
          <a:prstGeom prst="rect">
            <a:avLst/>
          </a:prstGeom>
          <a:solidFill>
            <a:srgbClr val="16324F"/>
          </a:solidFill>
          <a:ln/>
        </p:spPr>
      </p:sp>
      <p:sp>
        <p:nvSpPr>
          <p:cNvPr id="14" name="Text 11"/>
          <p:cNvSpPr/>
          <p:nvPr/>
        </p:nvSpPr>
        <p:spPr>
          <a:xfrm>
            <a:off x="685800" y="5897880"/>
            <a:ext cx="10881360" cy="457200"/>
          </a:xfrm>
          <a:prstGeom prst="rect">
            <a:avLst/>
          </a:prstGeom>
          <a:noFill/>
          <a:ln/>
        </p:spPr>
        <p:txBody>
          <a:bodyPr wrap="square" lIns="0" tIns="0" rIns="0" bIns="0" rtlCol="0" anchor="ctr"/>
          <a:lstStyle/>
          <a:p>
            <a:pPr indent="0" marL="0">
              <a:buNone/>
            </a:pPr>
            <a:r>
              <a:rPr lang="en-US" sz="1150" b="1" dirty="0">
                <a:solidFill>
                  <a:srgbClr val="C9A227"/>
                </a:solidFill>
                <a:latin typeface="Yu Gothic" pitchFamily="34" charset="0"/>
                <a:ea typeface="Yu Gothic" pitchFamily="34" charset="-122"/>
                <a:cs typeface="Yu Gothic" pitchFamily="34" charset="-120"/>
              </a:rPr>
              <a:t>7つの無人システムカテゴリーのうち5つで、現行Li-ionは「不可能」または「限界的」— TNO-Sの採用が必要である。</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1.4  防衛システム別の適合性</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09/55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防衛システム別の適合性</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Suitability Score · Li-ion vs TNO-S</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74552" cy="914400"/>
        </p:xfrm>
        <a:graphic>
          <a:graphicData uri="http://schemas.openxmlformats.org/drawingml/2006/table">
            <a:tbl>
              <a:tblPr/>
              <a:tblGrid>
                <a:gridCol w="3931920"/>
                <a:gridCol w="2926080"/>
                <a:gridCol w="2926080"/>
                <a:gridCol w="1490472"/>
              </a:tblGrid>
              <a:tr h="457200">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防衛システム</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Li-ion評価</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TNO-S評価</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Δ</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r>
              <a:tr h="457200">
                <a:tc>
                  <a:txBody>
                    <a:bodyPr/>
                    <a:lstStyle/>
                    <a:p>
                      <a:pPr algn="l" indent="0" marL="0">
                        <a:buNone/>
                      </a:pPr>
                      <a:r>
                        <a:rPr lang="en-US" sz="1000" b="1" dirty="0">
                          <a:solidFill>
                            <a:srgbClr val="1A1A1A"/>
                          </a:solidFill>
                          <a:latin typeface="Yu Gothic" pitchFamily="34" charset="0"/>
                          <a:ea typeface="Yu Gothic" pitchFamily="34" charset="-122"/>
                          <a:cs typeface="Yu Gothic" pitchFamily="34" charset="-120"/>
                        </a:rPr>
                        <a:t>軍用UAV(偵察 / 攻撃)</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 2/5</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 5/5</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+3</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1000" b="1" dirty="0">
                          <a:solidFill>
                            <a:srgbClr val="1A1A1A"/>
                          </a:solidFill>
                          <a:latin typeface="Yu Gothic" pitchFamily="34" charset="0"/>
                          <a:ea typeface="Yu Gothic" pitchFamily="34" charset="-122"/>
                          <a:cs typeface="Yu Gothic" pitchFamily="34" charset="-120"/>
                        </a:rPr>
                        <a:t>UGV(無人地上車両)</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 1/5</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 5/5</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+4</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57200">
                <a:tc>
                  <a:txBody>
                    <a:bodyPr/>
                    <a:lstStyle/>
                    <a:p>
                      <a:pPr algn="l" indent="0" marL="0">
                        <a:buNone/>
                      </a:pPr>
                      <a:r>
                        <a:rPr lang="en-US" sz="1000" b="1" dirty="0">
                          <a:solidFill>
                            <a:srgbClr val="1A1A1A"/>
                          </a:solidFill>
                          <a:latin typeface="Yu Gothic" pitchFamily="34" charset="0"/>
                          <a:ea typeface="Yu Gothic" pitchFamily="34" charset="-122"/>
                          <a:cs typeface="Yu Gothic" pitchFamily="34" charset="-120"/>
                        </a:rPr>
                        <a:t>艦艇 / 潜水艦補助電源</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 1/5</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 5/5</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+4</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1000" b="1" dirty="0">
                          <a:solidFill>
                            <a:srgbClr val="1A1A1A"/>
                          </a:solidFill>
                          <a:latin typeface="Yu Gothic" pitchFamily="34" charset="0"/>
                          <a:ea typeface="Yu Gothic" pitchFamily="34" charset="-122"/>
                          <a:cs typeface="Yu Gothic" pitchFamily="34" charset="-120"/>
                        </a:rPr>
                        <a:t>ミサイル / 誘導兵器電源</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 1/5</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 4/5</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+3</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57200">
                <a:tc>
                  <a:txBody>
                    <a:bodyPr/>
                    <a:lstStyle/>
                    <a:p>
                      <a:pPr algn="l" indent="0" marL="0">
                        <a:buNone/>
                      </a:pPr>
                      <a:r>
                        <a:rPr lang="en-US" sz="1000" b="1" dirty="0">
                          <a:solidFill>
                            <a:srgbClr val="1A1A1A"/>
                          </a:solidFill>
                          <a:latin typeface="Yu Gothic" pitchFamily="34" charset="0"/>
                          <a:ea typeface="Yu Gothic" pitchFamily="34" charset="-122"/>
                          <a:cs typeface="Yu Gothic" pitchFamily="34" charset="-120"/>
                        </a:rPr>
                        <a:t>携帯通信 / 装備</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 3/5</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 5/5</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+2</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1000" b="1" dirty="0">
                          <a:solidFill>
                            <a:srgbClr val="1A1A1A"/>
                          </a:solidFill>
                          <a:latin typeface="Yu Gothic" pitchFamily="34" charset="0"/>
                          <a:ea typeface="Yu Gothic" pitchFamily="34" charset="-122"/>
                          <a:cs typeface="Yu Gothic" pitchFamily="34" charset="-120"/>
                        </a:rPr>
                        <a:t>野戦ESS / UPS</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 1/5</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 5/5</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+4</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57200">
                <a:tc>
                  <a:txBody>
                    <a:bodyPr/>
                    <a:lstStyle/>
                    <a:p>
                      <a:pPr algn="l" indent="0" marL="0">
                        <a:buNone/>
                      </a:pPr>
                      <a:r>
                        <a:rPr lang="en-US" sz="1000" b="1" dirty="0">
                          <a:solidFill>
                            <a:srgbClr val="1A1A1A"/>
                          </a:solidFill>
                          <a:latin typeface="Yu Gothic" pitchFamily="34" charset="0"/>
                          <a:ea typeface="Yu Gothic" pitchFamily="34" charset="-122"/>
                          <a:cs typeface="Yu Gothic" pitchFamily="34" charset="-120"/>
                        </a:rPr>
                        <a:t>衛星 / 宇宙電源</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 2/5</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 5/5</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+3</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1000" b="1" dirty="0">
                          <a:solidFill>
                            <a:srgbClr val="1A1A1A"/>
                          </a:solidFill>
                          <a:latin typeface="Yu Gothic" pitchFamily="34" charset="0"/>
                          <a:ea typeface="Yu Gothic" pitchFamily="34" charset="-122"/>
                          <a:cs typeface="Yu Gothic" pitchFamily="34" charset="-120"/>
                        </a:rPr>
                        <a:t>極低温運用(≤ -30°C)</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 1/5</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 5/5</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+4</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bl>
          </a:graphicData>
        </a:graphic>
      </p:graphicFrame>
      <p:sp>
        <p:nvSpPr>
          <p:cNvPr id="13" name="Shape 10"/>
          <p:cNvSpPr/>
          <p:nvPr/>
        </p:nvSpPr>
        <p:spPr>
          <a:xfrm>
            <a:off x="457200" y="5852160"/>
            <a:ext cx="11274552" cy="457200"/>
          </a:xfrm>
          <a:prstGeom prst="rect">
            <a:avLst/>
          </a:prstGeom>
          <a:solidFill>
            <a:srgbClr val="16324F"/>
          </a:solidFill>
          <a:ln/>
        </p:spPr>
      </p:sp>
      <p:sp>
        <p:nvSpPr>
          <p:cNvPr id="14" name="Text 11"/>
          <p:cNvSpPr/>
          <p:nvPr/>
        </p:nvSpPr>
        <p:spPr>
          <a:xfrm>
            <a:off x="685800" y="5852160"/>
            <a:ext cx="10881360" cy="457200"/>
          </a:xfrm>
          <a:prstGeom prst="rect">
            <a:avLst/>
          </a:prstGeom>
          <a:noFill/>
          <a:ln/>
        </p:spPr>
        <p:txBody>
          <a:bodyPr wrap="square" lIns="0" tIns="0" rIns="0" bIns="0" rtlCol="0" anchor="ctr"/>
          <a:lstStyle/>
          <a:p>
            <a:pPr indent="0" marL="0">
              <a:buNone/>
            </a:pPr>
            <a:r>
              <a:rPr lang="en-US" sz="1150" b="1" dirty="0">
                <a:solidFill>
                  <a:srgbClr val="C9A227"/>
                </a:solidFill>
                <a:latin typeface="Yu Gothic" pitchFamily="34" charset="0"/>
                <a:ea typeface="Yu Gothic" pitchFamily="34" charset="-122"/>
                <a:cs typeface="Yu Gothic" pitchFamily="34" charset="-120"/>
              </a:rPr>
              <a:t>結論:8つの主要防衛システムすべてでTNO-Sが優位 — 平均差 +3.4ポイント</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324F"/>
        </a:solidFill>
      </p:bgPr>
    </p:bg>
    <p:spTree>
      <p:nvGrpSpPr>
        <p:cNvPr id="1" name=""/>
        <p:cNvGrpSpPr/>
        <p:nvPr/>
      </p:nvGrpSpPr>
      <p:grpSpPr>
        <a:xfrm>
          <a:off x="0" y="0"/>
          <a:ext cx="0" cy="0"/>
          <a:chOff x="0" y="0"/>
          <a:chExt cx="0" cy="0"/>
        </a:xfrm>
      </p:grpSpPr>
      <p:sp>
        <p:nvSpPr>
          <p:cNvPr id="2" name="Text 0"/>
          <p:cNvSpPr/>
          <p:nvPr/>
        </p:nvSpPr>
        <p:spPr>
          <a:xfrm>
            <a:off x="457200" y="411480"/>
            <a:ext cx="274320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BK DONGYEOUNG TECH</a:t>
            </a:r>
            <a:endParaRPr lang="en-US" sz="900" dirty="0"/>
          </a:p>
        </p:txBody>
      </p:sp>
      <p:sp>
        <p:nvSpPr>
          <p:cNvPr id="3" name="Text 1"/>
          <p:cNvSpPr/>
          <p:nvPr/>
        </p:nvSpPr>
        <p:spPr>
          <a:xfrm>
            <a:off x="502920" y="1417320"/>
            <a:ext cx="4572000" cy="411480"/>
          </a:xfrm>
          <a:prstGeom prst="rect">
            <a:avLst/>
          </a:prstGeom>
          <a:noFill/>
          <a:ln/>
        </p:spPr>
        <p:txBody>
          <a:bodyPr wrap="square" lIns="0" tIns="0" rIns="0" bIns="0" rtlCol="0" anchor="ctr"/>
          <a:lstStyle/>
          <a:p>
            <a:pPr indent="0" marL="0">
              <a:buNone/>
            </a:pPr>
            <a:r>
              <a:rPr lang="en-US" sz="1800" b="1" dirty="0">
                <a:solidFill>
                  <a:srgbClr val="C9A227"/>
                </a:solidFill>
                <a:latin typeface="Arial" pitchFamily="34" charset="0"/>
                <a:ea typeface="Arial" pitchFamily="34" charset="-122"/>
                <a:cs typeface="Arial" pitchFamily="34" charset="-120"/>
              </a:rPr>
              <a:t>CHAPTER 02</a:t>
            </a:r>
            <a:endParaRPr lang="en-US" sz="1800" dirty="0"/>
          </a:p>
        </p:txBody>
      </p:sp>
      <p:sp>
        <p:nvSpPr>
          <p:cNvPr id="4" name="Shape 2"/>
          <p:cNvSpPr/>
          <p:nvPr/>
        </p:nvSpPr>
        <p:spPr>
          <a:xfrm>
            <a:off x="530352" y="1965960"/>
            <a:ext cx="502920" cy="64008"/>
          </a:xfrm>
          <a:prstGeom prst="rect">
            <a:avLst/>
          </a:prstGeom>
          <a:solidFill>
            <a:srgbClr val="C9A227"/>
          </a:solidFill>
          <a:ln/>
        </p:spPr>
      </p:sp>
      <p:sp>
        <p:nvSpPr>
          <p:cNvPr id="5" name="Text 3"/>
          <p:cNvSpPr/>
          <p:nvPr/>
        </p:nvSpPr>
        <p:spPr>
          <a:xfrm>
            <a:off x="457200" y="2148840"/>
            <a:ext cx="5852160" cy="2011680"/>
          </a:xfrm>
          <a:prstGeom prst="rect">
            <a:avLst/>
          </a:prstGeom>
          <a:noFill/>
          <a:ln/>
        </p:spPr>
        <p:txBody>
          <a:bodyPr wrap="square" lIns="0" tIns="0" rIns="0" bIns="0" rtlCol="0" anchor="t"/>
          <a:lstStyle/>
          <a:p>
            <a:pPr indent="0" marL="0">
              <a:buNone/>
            </a:pPr>
            <a:r>
              <a:rPr lang="en-US" sz="3400" b="1" dirty="0">
                <a:solidFill>
                  <a:srgbClr val="FFFFFF"/>
                </a:solidFill>
                <a:latin typeface="Yu Gothic" pitchFamily="34" charset="0"/>
                <a:ea typeface="Yu Gothic" pitchFamily="34" charset="-122"/>
                <a:cs typeface="Yu Gothic" pitchFamily="34" charset="-120"/>
              </a:rPr>
              <a:t>TNO-S</a:t>
            </a:r>
            <a:endParaRPr lang="en-US" sz="3400" dirty="0"/>
          </a:p>
          <a:p>
            <a:pPr indent="0" marL="0">
              <a:buNone/>
            </a:pPr>
            <a:r>
              <a:rPr lang="en-US" sz="3400" b="1" dirty="0">
                <a:solidFill>
                  <a:srgbClr val="FFFFFF"/>
                </a:solidFill>
                <a:latin typeface="Yu Gothic" pitchFamily="34" charset="0"/>
                <a:ea typeface="Yu Gothic" pitchFamily="34" charset="-122"/>
                <a:cs typeface="Yu Gothic" pitchFamily="34" charset="-120"/>
              </a:rPr>
              <a:t>技術アーキテクチャ</a:t>
            </a:r>
            <a:endParaRPr lang="en-US" sz="3400" dirty="0"/>
          </a:p>
        </p:txBody>
      </p:sp>
      <p:sp>
        <p:nvSpPr>
          <p:cNvPr id="6" name="Text 4"/>
          <p:cNvSpPr/>
          <p:nvPr/>
        </p:nvSpPr>
        <p:spPr>
          <a:xfrm>
            <a:off x="502920" y="4434840"/>
            <a:ext cx="5394960" cy="1920240"/>
          </a:xfrm>
          <a:prstGeom prst="rect">
            <a:avLst/>
          </a:prstGeom>
          <a:noFill/>
          <a:ln/>
        </p:spPr>
        <p:txBody>
          <a:bodyPr wrap="square" lIns="0" tIns="0" rIns="0" bIns="0" rtlCol="0" anchor="t"/>
          <a:lstStyle/>
          <a:p>
            <a:pPr indent="0" marL="0">
              <a:buNone/>
            </a:pPr>
            <a:r>
              <a:rPr lang="en-US" sz="1150" dirty="0">
                <a:solidFill>
                  <a:srgbClr val="D8DEE8"/>
                </a:solidFill>
                <a:latin typeface="Yu Gothic" pitchFamily="34" charset="0"/>
                <a:ea typeface="Yu Gothic" pitchFamily="34" charset="-122"/>
                <a:cs typeface="Yu Gothic" pitchFamily="34" charset="-120"/>
              </a:rPr>
              <a:t>化学的エネルギー貯蔵と物理的出力供給を単一セルに統合した新しいハイブリッドアーキテクチャ。</a:t>
            </a:r>
            <a:endParaRPr lang="en-US" sz="1150" dirty="0"/>
          </a:p>
          <a:p>
            <a:pPr indent="0" marL="0">
              <a:buNone/>
            </a:pPr>
            <a:endParaRPr lang="en-US" sz="1150" dirty="0"/>
          </a:p>
          <a:p>
            <a:pPr indent="0" marL="0">
              <a:buNone/>
            </a:pPr>
            <a:r>
              <a:rPr lang="en-US" sz="1150" dirty="0">
                <a:solidFill>
                  <a:srgbClr val="D8DEE8"/>
                </a:solidFill>
                <a:latin typeface="Yu Gothic" pitchFamily="34" charset="0"/>
                <a:ea typeface="Yu Gothic" pitchFamily="34" charset="-122"/>
                <a:cs typeface="Yu Gothic" pitchFamily="34" charset="-120"/>
              </a:rPr>
              <a:t>5層セル構造、EDLC+ファラデー機構、TiNb₂O₇ Wadsley-Roth結晶構造、リチウムフリー動作 — 7つの科学的証拠を提示する。</a:t>
            </a:r>
            <a:endParaRPr lang="en-US" sz="1150" dirty="0"/>
          </a:p>
        </p:txBody>
      </p:sp>
      <p:sp>
        <p:nvSpPr>
          <p:cNvPr id="7" name="Shape 5"/>
          <p:cNvSpPr/>
          <p:nvPr/>
        </p:nvSpPr>
        <p:spPr>
          <a:xfrm>
            <a:off x="6400800" y="914400"/>
            <a:ext cx="5330952" cy="5029200"/>
          </a:xfrm>
          <a:prstGeom prst="rect">
            <a:avLst/>
          </a:prstGeom>
          <a:solidFill>
            <a:srgbClr val="24466B"/>
          </a:solidFill>
          <a:ln/>
        </p:spPr>
      </p:sp>
      <p:sp>
        <p:nvSpPr>
          <p:cNvPr id="8" name="Shape 6"/>
          <p:cNvSpPr/>
          <p:nvPr/>
        </p:nvSpPr>
        <p:spPr>
          <a:xfrm>
            <a:off x="6400800" y="914400"/>
            <a:ext cx="5330952" cy="82296"/>
          </a:xfrm>
          <a:prstGeom prst="rect">
            <a:avLst/>
          </a:prstGeom>
          <a:solidFill>
            <a:srgbClr val="C9A227"/>
          </a:solidFill>
          <a:ln/>
        </p:spPr>
      </p:sp>
      <p:sp>
        <p:nvSpPr>
          <p:cNvPr id="9" name="Text 7"/>
          <p:cNvSpPr/>
          <p:nvPr/>
        </p:nvSpPr>
        <p:spPr>
          <a:xfrm>
            <a:off x="6400800" y="2743200"/>
            <a:ext cx="5330952"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TNO-S</a:t>
            </a:r>
            <a:endParaRPr lang="en-US" sz="4400" dirty="0"/>
          </a:p>
        </p:txBody>
      </p:sp>
      <p:sp>
        <p:nvSpPr>
          <p:cNvPr id="10" name="Text 8"/>
          <p:cNvSpPr/>
          <p:nvPr/>
        </p:nvSpPr>
        <p:spPr>
          <a:xfrm>
            <a:off x="6400800" y="3657600"/>
            <a:ext cx="5330952" cy="365760"/>
          </a:xfrm>
          <a:prstGeom prst="rect">
            <a:avLst/>
          </a:prstGeom>
          <a:noFill/>
          <a:ln/>
        </p:spPr>
        <p:txBody>
          <a:bodyPr wrap="square" lIns="0" tIns="0" rIns="0" bIns="0" rtlCol="0" anchor="ctr"/>
          <a:lstStyle/>
          <a:p>
            <a:pPr algn="ctr" indent="0" marL="0">
              <a:buNone/>
            </a:pPr>
            <a:r>
              <a:rPr lang="en-US" sz="1200" dirty="0">
                <a:solidFill>
                  <a:srgbClr val="C9A227"/>
                </a:solidFill>
                <a:latin typeface="Arial" pitchFamily="34" charset="0"/>
                <a:ea typeface="Arial" pitchFamily="34" charset="-122"/>
                <a:cs typeface="Arial" pitchFamily="34" charset="-120"/>
              </a:rPr>
              <a:t>Lithium-Free All-Solid-State Battery</a:t>
            </a:r>
            <a:endParaRPr lang="en-US" sz="1200" dirty="0"/>
          </a:p>
        </p:txBody>
      </p:sp>
      <p:sp>
        <p:nvSpPr>
          <p:cNvPr id="11" name="Text 9"/>
          <p:cNvSpPr/>
          <p:nvPr/>
        </p:nvSpPr>
        <p:spPr>
          <a:xfrm>
            <a:off x="10725912" y="6355080"/>
            <a:ext cx="1097280" cy="274320"/>
          </a:xfrm>
          <a:prstGeom prst="rect">
            <a:avLst/>
          </a:prstGeom>
          <a:noFill/>
          <a:ln/>
        </p:spPr>
        <p:txBody>
          <a:bodyPr wrap="square" lIns="0" tIns="0" rIns="0" bIns="0" rtlCol="0" anchor="ctr"/>
          <a:lstStyle/>
          <a:p>
            <a:pPr algn="r" indent="0" marL="0">
              <a:buNone/>
            </a:pPr>
            <a:r>
              <a:rPr lang="en-US" sz="1000" b="1" dirty="0">
                <a:solidFill>
                  <a:srgbClr val="C9A227"/>
                </a:solidFill>
                <a:latin typeface="Arial" pitchFamily="34" charset="0"/>
                <a:ea typeface="Arial" pitchFamily="34" charset="-122"/>
                <a:cs typeface="Arial" pitchFamily="34" charset="-120"/>
              </a:rPr>
              <a:t>p.10/55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2.1  TNO-Sとは</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11/55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TNO-Sの定義 — 3つの動作原理</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Definition — Three Operating Principles</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600200"/>
            <a:ext cx="11274552" cy="868680"/>
          </a:xfrm>
          <a:prstGeom prst="rect">
            <a:avLst/>
          </a:prstGeom>
          <a:solidFill>
            <a:srgbClr val="16324F"/>
          </a:solidFill>
          <a:ln/>
        </p:spPr>
      </p:sp>
      <p:sp>
        <p:nvSpPr>
          <p:cNvPr id="13" name="Text 11"/>
          <p:cNvSpPr/>
          <p:nvPr/>
        </p:nvSpPr>
        <p:spPr>
          <a:xfrm>
            <a:off x="685800" y="1673352"/>
            <a:ext cx="10881360" cy="365760"/>
          </a:xfrm>
          <a:prstGeom prst="rect">
            <a:avLst/>
          </a:prstGeom>
          <a:noFill/>
          <a:ln/>
        </p:spPr>
        <p:txBody>
          <a:bodyPr wrap="square" lIns="0" tIns="0" rIns="0" bIns="0" rtlCol="0" anchor="ctr"/>
          <a:lstStyle/>
          <a:p>
            <a:pPr indent="0" marL="0">
              <a:buNone/>
            </a:pPr>
            <a:r>
              <a:rPr lang="en-US" sz="1400" b="1" dirty="0">
                <a:solidFill>
                  <a:srgbClr val="C9A227"/>
                </a:solidFill>
                <a:latin typeface="Yu Gothic" pitchFamily="34" charset="0"/>
                <a:ea typeface="Yu Gothic" pitchFamily="34" charset="-122"/>
                <a:cs typeface="Yu Gothic" pitchFamily="34" charset="-120"/>
              </a:rPr>
              <a:t>TNO-S = チタン・ニオブ酸化物系全固体電池</a:t>
            </a:r>
            <a:endParaRPr lang="en-US" sz="1400" dirty="0"/>
          </a:p>
        </p:txBody>
      </p:sp>
      <p:sp>
        <p:nvSpPr>
          <p:cNvPr id="14" name="Text 12"/>
          <p:cNvSpPr/>
          <p:nvPr/>
        </p:nvSpPr>
        <p:spPr>
          <a:xfrm>
            <a:off x="685800" y="2048256"/>
            <a:ext cx="10881360" cy="320040"/>
          </a:xfrm>
          <a:prstGeom prst="rect">
            <a:avLst/>
          </a:prstGeom>
          <a:noFill/>
          <a:ln/>
        </p:spPr>
        <p:txBody>
          <a:bodyPr wrap="square" lIns="0" tIns="0" rIns="0" bIns="0" rtlCol="0" anchor="ctr"/>
          <a:lstStyle/>
          <a:p>
            <a:pPr indent="0" marL="0">
              <a:buNone/>
            </a:pPr>
            <a:r>
              <a:rPr lang="en-US" sz="1050" dirty="0">
                <a:solidFill>
                  <a:srgbClr val="FFFFFF"/>
                </a:solidFill>
                <a:latin typeface="Yu Gothic" pitchFamily="34" charset="0"/>
                <a:ea typeface="Yu Gothic" pitchFamily="34" charset="-122"/>
                <a:cs typeface="Yu Gothic" pitchFamily="34" charset="-120"/>
              </a:rPr>
              <a:t>チタン・ニオブ酸化物(TiNb₂O₇)をベースとするリチウムフリー全固体電池</a:t>
            </a:r>
            <a:endParaRPr lang="en-US" sz="1050" dirty="0"/>
          </a:p>
        </p:txBody>
      </p:sp>
      <p:sp>
        <p:nvSpPr>
          <p:cNvPr id="15" name="Shape 13"/>
          <p:cNvSpPr/>
          <p:nvPr/>
        </p:nvSpPr>
        <p:spPr>
          <a:xfrm>
            <a:off x="457200" y="2743200"/>
            <a:ext cx="3611880" cy="640080"/>
          </a:xfrm>
          <a:prstGeom prst="rect">
            <a:avLst/>
          </a:prstGeom>
          <a:solidFill>
            <a:srgbClr val="16324F"/>
          </a:solidFill>
          <a:ln/>
        </p:spPr>
      </p:sp>
      <p:sp>
        <p:nvSpPr>
          <p:cNvPr id="16" name="Text 14"/>
          <p:cNvSpPr/>
          <p:nvPr/>
        </p:nvSpPr>
        <p:spPr>
          <a:xfrm>
            <a:off x="640080" y="2743200"/>
            <a:ext cx="3291840" cy="640080"/>
          </a:xfrm>
          <a:prstGeom prst="rect">
            <a:avLst/>
          </a:prstGeom>
          <a:noFill/>
          <a:ln/>
        </p:spPr>
        <p:txBody>
          <a:bodyPr wrap="square" lIns="0" tIns="0" rIns="0" bIns="0" rtlCol="0" anchor="ctr"/>
          <a:lstStyle/>
          <a:p>
            <a:pPr indent="0" marL="0">
              <a:buNone/>
            </a:pPr>
            <a:r>
              <a:rPr lang="en-US" sz="1500" b="1" dirty="0">
                <a:solidFill>
                  <a:srgbClr val="C9A227"/>
                </a:solidFill>
                <a:latin typeface="Arial" pitchFamily="34" charset="0"/>
                <a:ea typeface="Arial" pitchFamily="34" charset="-122"/>
                <a:cs typeface="Arial" pitchFamily="34" charset="-120"/>
              </a:rPr>
              <a:t>01   </a:t>
            </a:r>
            <a:pPr indent="0" marL="0">
              <a:buNone/>
            </a:pPr>
            <a:r>
              <a:rPr lang="en-US" sz="1300" b="1" dirty="0">
                <a:solidFill>
                  <a:srgbClr val="FFFFFF"/>
                </a:solidFill>
                <a:latin typeface="Arial" pitchFamily="34" charset="0"/>
                <a:ea typeface="Arial" pitchFamily="34" charset="-122"/>
                <a:cs typeface="Arial" pitchFamily="34" charset="-120"/>
              </a:rPr>
              <a:t>NO LIQUID</a:t>
            </a:r>
            <a:endParaRPr lang="en-US" sz="1500" dirty="0"/>
          </a:p>
        </p:txBody>
      </p:sp>
      <p:sp>
        <p:nvSpPr>
          <p:cNvPr id="17" name="Shape 15"/>
          <p:cNvSpPr/>
          <p:nvPr/>
        </p:nvSpPr>
        <p:spPr>
          <a:xfrm>
            <a:off x="457200" y="3383280"/>
            <a:ext cx="3611880" cy="2651760"/>
          </a:xfrm>
          <a:prstGeom prst="rect">
            <a:avLst/>
          </a:prstGeom>
          <a:solidFill>
            <a:srgbClr val="FFFFFF"/>
          </a:solidFill>
          <a:ln w="9525">
            <a:solidFill>
              <a:srgbClr val="C8C8C8"/>
            </a:solidFill>
            <a:prstDash val="solid"/>
          </a:ln>
        </p:spPr>
      </p:sp>
      <p:sp>
        <p:nvSpPr>
          <p:cNvPr id="18" name="Text 16"/>
          <p:cNvSpPr/>
          <p:nvPr/>
        </p:nvSpPr>
        <p:spPr>
          <a:xfrm>
            <a:off x="640080" y="3520440"/>
            <a:ext cx="3246120" cy="365760"/>
          </a:xfrm>
          <a:prstGeom prst="rect">
            <a:avLst/>
          </a:prstGeom>
          <a:noFill/>
          <a:ln/>
        </p:spPr>
        <p:txBody>
          <a:bodyPr wrap="square" lIns="0" tIns="0" rIns="0" bIns="0" rtlCol="0" anchor="ctr"/>
          <a:lstStyle/>
          <a:p>
            <a:pPr indent="0" marL="0">
              <a:buNone/>
            </a:pPr>
            <a:r>
              <a:rPr lang="en-US" sz="1250" b="1" dirty="0">
                <a:solidFill>
                  <a:srgbClr val="16324F"/>
                </a:solidFill>
                <a:latin typeface="Yu Gothic" pitchFamily="34" charset="0"/>
                <a:ea typeface="Yu Gothic" pitchFamily="34" charset="-122"/>
                <a:cs typeface="Yu Gothic" pitchFamily="34" charset="-120"/>
              </a:rPr>
              <a:t>液体電解質なし</a:t>
            </a:r>
            <a:endParaRPr lang="en-US" sz="1250" dirty="0"/>
          </a:p>
        </p:txBody>
      </p:sp>
      <p:sp>
        <p:nvSpPr>
          <p:cNvPr id="19" name="Text 17"/>
          <p:cNvSpPr/>
          <p:nvPr/>
        </p:nvSpPr>
        <p:spPr>
          <a:xfrm>
            <a:off x="777240" y="3977640"/>
            <a:ext cx="3108960" cy="192024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固体酸化物電解質のみを使用</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漏液 / 蒸発 / 発火リスク:0</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可燃性そのものが不在</a:t>
            </a:r>
            <a:endParaRPr lang="en-US" sz="1000" dirty="0"/>
          </a:p>
        </p:txBody>
      </p:sp>
      <p:sp>
        <p:nvSpPr>
          <p:cNvPr id="20" name="Shape 18"/>
          <p:cNvSpPr/>
          <p:nvPr/>
        </p:nvSpPr>
        <p:spPr>
          <a:xfrm>
            <a:off x="4297680" y="2743200"/>
            <a:ext cx="3611880" cy="640080"/>
          </a:xfrm>
          <a:prstGeom prst="rect">
            <a:avLst/>
          </a:prstGeom>
          <a:solidFill>
            <a:srgbClr val="16324F"/>
          </a:solidFill>
          <a:ln/>
        </p:spPr>
      </p:sp>
      <p:sp>
        <p:nvSpPr>
          <p:cNvPr id="21" name="Text 19"/>
          <p:cNvSpPr/>
          <p:nvPr/>
        </p:nvSpPr>
        <p:spPr>
          <a:xfrm>
            <a:off x="4480560" y="2743200"/>
            <a:ext cx="3291840" cy="640080"/>
          </a:xfrm>
          <a:prstGeom prst="rect">
            <a:avLst/>
          </a:prstGeom>
          <a:noFill/>
          <a:ln/>
        </p:spPr>
        <p:txBody>
          <a:bodyPr wrap="square" lIns="0" tIns="0" rIns="0" bIns="0" rtlCol="0" anchor="ctr"/>
          <a:lstStyle/>
          <a:p>
            <a:pPr indent="0" marL="0">
              <a:buNone/>
            </a:pPr>
            <a:r>
              <a:rPr lang="en-US" sz="1500" b="1" dirty="0">
                <a:solidFill>
                  <a:srgbClr val="C9A227"/>
                </a:solidFill>
                <a:latin typeface="Arial" pitchFamily="34" charset="0"/>
                <a:ea typeface="Arial" pitchFamily="34" charset="-122"/>
                <a:cs typeface="Arial" pitchFamily="34" charset="-120"/>
              </a:rPr>
              <a:t>02   </a:t>
            </a:r>
            <a:pPr indent="0" marL="0">
              <a:buNone/>
            </a:pPr>
            <a:r>
              <a:rPr lang="en-US" sz="1300" b="1" dirty="0">
                <a:solidFill>
                  <a:srgbClr val="FFFFFF"/>
                </a:solidFill>
                <a:latin typeface="Arial" pitchFamily="34" charset="0"/>
                <a:ea typeface="Arial" pitchFamily="34" charset="-122"/>
                <a:cs typeface="Arial" pitchFamily="34" charset="-120"/>
              </a:rPr>
              <a:t>NO SEI</a:t>
            </a:r>
            <a:endParaRPr lang="en-US" sz="1500" dirty="0"/>
          </a:p>
        </p:txBody>
      </p:sp>
      <p:sp>
        <p:nvSpPr>
          <p:cNvPr id="22" name="Shape 20"/>
          <p:cNvSpPr/>
          <p:nvPr/>
        </p:nvSpPr>
        <p:spPr>
          <a:xfrm>
            <a:off x="4297680" y="3383280"/>
            <a:ext cx="3611880" cy="2651760"/>
          </a:xfrm>
          <a:prstGeom prst="rect">
            <a:avLst/>
          </a:prstGeom>
          <a:solidFill>
            <a:srgbClr val="FFFFFF"/>
          </a:solidFill>
          <a:ln w="9525">
            <a:solidFill>
              <a:srgbClr val="C8C8C8"/>
            </a:solidFill>
            <a:prstDash val="solid"/>
          </a:ln>
        </p:spPr>
      </p:sp>
      <p:sp>
        <p:nvSpPr>
          <p:cNvPr id="23" name="Text 21"/>
          <p:cNvSpPr/>
          <p:nvPr/>
        </p:nvSpPr>
        <p:spPr>
          <a:xfrm>
            <a:off x="4480560" y="3520440"/>
            <a:ext cx="3246120" cy="365760"/>
          </a:xfrm>
          <a:prstGeom prst="rect">
            <a:avLst/>
          </a:prstGeom>
          <a:noFill/>
          <a:ln/>
        </p:spPr>
        <p:txBody>
          <a:bodyPr wrap="square" lIns="0" tIns="0" rIns="0" bIns="0" rtlCol="0" anchor="ctr"/>
          <a:lstStyle/>
          <a:p>
            <a:pPr indent="0" marL="0">
              <a:buNone/>
            </a:pPr>
            <a:r>
              <a:rPr lang="en-US" sz="1250" b="1" dirty="0">
                <a:solidFill>
                  <a:srgbClr val="16324F"/>
                </a:solidFill>
                <a:latin typeface="Yu Gothic" pitchFamily="34" charset="0"/>
                <a:ea typeface="Yu Gothic" pitchFamily="34" charset="-122"/>
                <a:cs typeface="Yu Gothic" pitchFamily="34" charset="-120"/>
              </a:rPr>
              <a:t>SEI層形成ゼロ</a:t>
            </a:r>
            <a:endParaRPr lang="en-US" sz="1250" dirty="0"/>
          </a:p>
        </p:txBody>
      </p:sp>
      <p:sp>
        <p:nvSpPr>
          <p:cNvPr id="24" name="Text 22"/>
          <p:cNvSpPr/>
          <p:nvPr/>
        </p:nvSpPr>
        <p:spPr>
          <a:xfrm>
            <a:off x="4617720" y="3977640"/>
            <a:ext cx="3108960" cy="192024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電極-電解質間のガス発生ゼロ</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セル膨張ゼロ</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サイクル劣化なし</a:t>
            </a:r>
            <a:endParaRPr lang="en-US" sz="1000" dirty="0"/>
          </a:p>
        </p:txBody>
      </p:sp>
      <p:sp>
        <p:nvSpPr>
          <p:cNvPr id="25" name="Shape 23"/>
          <p:cNvSpPr/>
          <p:nvPr/>
        </p:nvSpPr>
        <p:spPr>
          <a:xfrm>
            <a:off x="8138160" y="2743200"/>
            <a:ext cx="3611880" cy="640080"/>
          </a:xfrm>
          <a:prstGeom prst="rect">
            <a:avLst/>
          </a:prstGeom>
          <a:solidFill>
            <a:srgbClr val="16324F"/>
          </a:solidFill>
          <a:ln/>
        </p:spPr>
      </p:sp>
      <p:sp>
        <p:nvSpPr>
          <p:cNvPr id="26" name="Text 24"/>
          <p:cNvSpPr/>
          <p:nvPr/>
        </p:nvSpPr>
        <p:spPr>
          <a:xfrm>
            <a:off x="8321040" y="2743200"/>
            <a:ext cx="3291840" cy="640080"/>
          </a:xfrm>
          <a:prstGeom prst="rect">
            <a:avLst/>
          </a:prstGeom>
          <a:noFill/>
          <a:ln/>
        </p:spPr>
        <p:txBody>
          <a:bodyPr wrap="square" lIns="0" tIns="0" rIns="0" bIns="0" rtlCol="0" anchor="ctr"/>
          <a:lstStyle/>
          <a:p>
            <a:pPr indent="0" marL="0">
              <a:buNone/>
            </a:pPr>
            <a:r>
              <a:rPr lang="en-US" sz="1500" b="1" dirty="0">
                <a:solidFill>
                  <a:srgbClr val="C9A227"/>
                </a:solidFill>
                <a:latin typeface="Arial" pitchFamily="34" charset="0"/>
                <a:ea typeface="Arial" pitchFamily="34" charset="-122"/>
                <a:cs typeface="Arial" pitchFamily="34" charset="-120"/>
              </a:rPr>
              <a:t>03   </a:t>
            </a:r>
            <a:pPr indent="0" marL="0">
              <a:buNone/>
            </a:pPr>
            <a:r>
              <a:rPr lang="en-US" sz="1300" b="1" dirty="0">
                <a:solidFill>
                  <a:srgbClr val="FFFFFF"/>
                </a:solidFill>
                <a:latin typeface="Arial" pitchFamily="34" charset="0"/>
                <a:ea typeface="Arial" pitchFamily="34" charset="-122"/>
                <a:cs typeface="Arial" pitchFamily="34" charset="-120"/>
              </a:rPr>
              <a:t>NO DENDRITE</a:t>
            </a:r>
            <a:endParaRPr lang="en-US" sz="1500" dirty="0"/>
          </a:p>
        </p:txBody>
      </p:sp>
      <p:sp>
        <p:nvSpPr>
          <p:cNvPr id="27" name="Shape 25"/>
          <p:cNvSpPr/>
          <p:nvPr/>
        </p:nvSpPr>
        <p:spPr>
          <a:xfrm>
            <a:off x="8138160" y="3383280"/>
            <a:ext cx="3611880" cy="2651760"/>
          </a:xfrm>
          <a:prstGeom prst="rect">
            <a:avLst/>
          </a:prstGeom>
          <a:solidFill>
            <a:srgbClr val="FFFFFF"/>
          </a:solidFill>
          <a:ln w="9525">
            <a:solidFill>
              <a:srgbClr val="C8C8C8"/>
            </a:solidFill>
            <a:prstDash val="solid"/>
          </a:ln>
        </p:spPr>
      </p:sp>
      <p:sp>
        <p:nvSpPr>
          <p:cNvPr id="28" name="Text 26"/>
          <p:cNvSpPr/>
          <p:nvPr/>
        </p:nvSpPr>
        <p:spPr>
          <a:xfrm>
            <a:off x="8321040" y="3520440"/>
            <a:ext cx="3246120" cy="365760"/>
          </a:xfrm>
          <a:prstGeom prst="rect">
            <a:avLst/>
          </a:prstGeom>
          <a:noFill/>
          <a:ln/>
        </p:spPr>
        <p:txBody>
          <a:bodyPr wrap="square" lIns="0" tIns="0" rIns="0" bIns="0" rtlCol="0" anchor="ctr"/>
          <a:lstStyle/>
          <a:p>
            <a:pPr indent="0" marL="0">
              <a:buNone/>
            </a:pPr>
            <a:r>
              <a:rPr lang="en-US" sz="1250" b="1" dirty="0">
                <a:solidFill>
                  <a:srgbClr val="16324F"/>
                </a:solidFill>
                <a:latin typeface="Yu Gothic" pitchFamily="34" charset="0"/>
                <a:ea typeface="Yu Gothic" pitchFamily="34" charset="-122"/>
                <a:cs typeface="Yu Gothic" pitchFamily="34" charset="-120"/>
              </a:rPr>
              <a:t>デンドライト形成なし</a:t>
            </a:r>
            <a:endParaRPr lang="en-US" sz="1250" dirty="0"/>
          </a:p>
        </p:txBody>
      </p:sp>
      <p:sp>
        <p:nvSpPr>
          <p:cNvPr id="29" name="Text 27"/>
          <p:cNvSpPr/>
          <p:nvPr/>
        </p:nvSpPr>
        <p:spPr>
          <a:xfrm>
            <a:off x="8458200" y="3977640"/>
            <a:ext cx="3108960" cy="192024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リチウム金属析出を根源から排除</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内部短絡リスクゼロ</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過充電 / 過放電に強靭</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2.2  5層セルアーキテクチャ</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12/55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5層セルアーキテクチャ</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Five-Layer Cell Architecture · 総厚 約110 μm</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645920"/>
            <a:ext cx="1005840" cy="777240"/>
          </a:xfrm>
          <a:prstGeom prst="rect">
            <a:avLst/>
          </a:prstGeom>
          <a:solidFill>
            <a:srgbClr val="45586E"/>
          </a:solidFill>
          <a:ln/>
        </p:spPr>
      </p:sp>
      <p:sp>
        <p:nvSpPr>
          <p:cNvPr id="13" name="Text 11"/>
          <p:cNvSpPr/>
          <p:nvPr/>
        </p:nvSpPr>
        <p:spPr>
          <a:xfrm>
            <a:off x="457200" y="1645920"/>
            <a:ext cx="1005840"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L1</a:t>
            </a:r>
            <a:endParaRPr lang="en-US" sz="1600" dirty="0"/>
          </a:p>
        </p:txBody>
      </p:sp>
      <p:sp>
        <p:nvSpPr>
          <p:cNvPr id="14" name="Shape 12"/>
          <p:cNvSpPr/>
          <p:nvPr/>
        </p:nvSpPr>
        <p:spPr>
          <a:xfrm>
            <a:off x="1463040" y="1645920"/>
            <a:ext cx="10268712" cy="777240"/>
          </a:xfrm>
          <a:prstGeom prst="rect">
            <a:avLst/>
          </a:prstGeom>
          <a:solidFill>
            <a:srgbClr val="FFFFFF"/>
          </a:solidFill>
          <a:ln w="9525">
            <a:solidFill>
              <a:srgbClr val="C8C8C8"/>
            </a:solidFill>
            <a:prstDash val="solid"/>
          </a:ln>
        </p:spPr>
      </p:sp>
      <p:sp>
        <p:nvSpPr>
          <p:cNvPr id="15" name="Text 13"/>
          <p:cNvSpPr/>
          <p:nvPr/>
        </p:nvSpPr>
        <p:spPr>
          <a:xfrm>
            <a:off x="1691640" y="1709928"/>
            <a:ext cx="9875520" cy="347472"/>
          </a:xfrm>
          <a:prstGeom prst="rect">
            <a:avLst/>
          </a:prstGeom>
          <a:noFill/>
          <a:ln/>
        </p:spPr>
        <p:txBody>
          <a:bodyPr wrap="square" lIns="0" tIns="0" rIns="0" bIns="0" rtlCol="0" anchor="ctr"/>
          <a:lstStyle/>
          <a:p>
            <a:pPr indent="0" marL="0">
              <a:buNone/>
            </a:pPr>
            <a:r>
              <a:rPr lang="en-US" sz="1250" b="1" dirty="0">
                <a:solidFill>
                  <a:srgbClr val="16324F"/>
                </a:solidFill>
                <a:latin typeface="Yu Gothic" pitchFamily="34" charset="0"/>
                <a:ea typeface="Yu Gothic" pitchFamily="34" charset="-122"/>
                <a:cs typeface="Yu Gothic" pitchFamily="34" charset="-120"/>
              </a:rPr>
              <a:t>Al集電体</a:t>
            </a:r>
            <a:endParaRPr lang="en-US" sz="1250" dirty="0"/>
          </a:p>
        </p:txBody>
      </p:sp>
      <p:sp>
        <p:nvSpPr>
          <p:cNvPr id="16" name="Text 14"/>
          <p:cNvSpPr/>
          <p:nvPr/>
        </p:nvSpPr>
        <p:spPr>
          <a:xfrm>
            <a:off x="1691640" y="2048256"/>
            <a:ext cx="9875520" cy="301752"/>
          </a:xfrm>
          <a:prstGeom prst="rect">
            <a:avLst/>
          </a:prstGeom>
          <a:noFill/>
          <a:ln/>
        </p:spPr>
        <p:txBody>
          <a:bodyPr wrap="square" lIns="0" tIns="0" rIns="0" bIns="0" rtlCol="0" anchor="ctr"/>
          <a:lstStyle/>
          <a:p>
            <a:pPr indent="0" marL="0">
              <a:buNone/>
            </a:pPr>
            <a:r>
              <a:rPr lang="en-US" sz="950" dirty="0">
                <a:solidFill>
                  <a:srgbClr val="5A5A5A"/>
                </a:solidFill>
                <a:latin typeface="Yu Gothic" pitchFamily="34" charset="0"/>
                <a:ea typeface="Yu Gothic" pitchFamily="34" charset="-122"/>
                <a:cs typeface="Yu Gothic" pitchFamily="34" charset="-120"/>
              </a:rPr>
              <a:t>アルミニウム集電体 — 厚さ 約10 μm / 素材:アルミニウム(Al)</a:t>
            </a:r>
            <a:endParaRPr lang="en-US" sz="950" dirty="0"/>
          </a:p>
        </p:txBody>
      </p:sp>
      <p:sp>
        <p:nvSpPr>
          <p:cNvPr id="17" name="Shape 15"/>
          <p:cNvSpPr/>
          <p:nvPr/>
        </p:nvSpPr>
        <p:spPr>
          <a:xfrm>
            <a:off x="457200" y="2542032"/>
            <a:ext cx="1005840" cy="777240"/>
          </a:xfrm>
          <a:prstGeom prst="rect">
            <a:avLst/>
          </a:prstGeom>
          <a:solidFill>
            <a:srgbClr val="16324F"/>
          </a:solidFill>
          <a:ln/>
        </p:spPr>
      </p:sp>
      <p:sp>
        <p:nvSpPr>
          <p:cNvPr id="18" name="Text 16"/>
          <p:cNvSpPr/>
          <p:nvPr/>
        </p:nvSpPr>
        <p:spPr>
          <a:xfrm>
            <a:off x="457200" y="2542032"/>
            <a:ext cx="1005840"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L2</a:t>
            </a:r>
            <a:endParaRPr lang="en-US" sz="1600" dirty="0"/>
          </a:p>
        </p:txBody>
      </p:sp>
      <p:sp>
        <p:nvSpPr>
          <p:cNvPr id="19" name="Shape 17"/>
          <p:cNvSpPr/>
          <p:nvPr/>
        </p:nvSpPr>
        <p:spPr>
          <a:xfrm>
            <a:off x="1463040" y="2542032"/>
            <a:ext cx="10268712" cy="777240"/>
          </a:xfrm>
          <a:prstGeom prst="rect">
            <a:avLst/>
          </a:prstGeom>
          <a:solidFill>
            <a:srgbClr val="FFFFFF"/>
          </a:solidFill>
          <a:ln w="9525">
            <a:solidFill>
              <a:srgbClr val="C8C8C8"/>
            </a:solidFill>
            <a:prstDash val="solid"/>
          </a:ln>
        </p:spPr>
      </p:sp>
      <p:sp>
        <p:nvSpPr>
          <p:cNvPr id="20" name="Text 18"/>
          <p:cNvSpPr/>
          <p:nvPr/>
        </p:nvSpPr>
        <p:spPr>
          <a:xfrm>
            <a:off x="1691640" y="2606040"/>
            <a:ext cx="9875520" cy="347472"/>
          </a:xfrm>
          <a:prstGeom prst="rect">
            <a:avLst/>
          </a:prstGeom>
          <a:noFill/>
          <a:ln/>
        </p:spPr>
        <p:txBody>
          <a:bodyPr wrap="square" lIns="0" tIns="0" rIns="0" bIns="0" rtlCol="0" anchor="ctr"/>
          <a:lstStyle/>
          <a:p>
            <a:pPr indent="0" marL="0">
              <a:buNone/>
            </a:pPr>
            <a:r>
              <a:rPr lang="en-US" sz="1250" b="1" dirty="0">
                <a:solidFill>
                  <a:srgbClr val="16324F"/>
                </a:solidFill>
                <a:latin typeface="Yu Gothic" pitchFamily="34" charset="0"/>
                <a:ea typeface="Yu Gothic" pitchFamily="34" charset="-122"/>
                <a:cs typeface="Yu Gothic" pitchFamily="34" charset="-120"/>
              </a:rPr>
              <a:t>コバルトフリーNCM正極</a:t>
            </a:r>
            <a:endParaRPr lang="en-US" sz="1250" dirty="0"/>
          </a:p>
        </p:txBody>
      </p:sp>
      <p:sp>
        <p:nvSpPr>
          <p:cNvPr id="21" name="Text 19"/>
          <p:cNvSpPr/>
          <p:nvPr/>
        </p:nvSpPr>
        <p:spPr>
          <a:xfrm>
            <a:off x="1691640" y="2944368"/>
            <a:ext cx="9875520" cy="301752"/>
          </a:xfrm>
          <a:prstGeom prst="rect">
            <a:avLst/>
          </a:prstGeom>
          <a:noFill/>
          <a:ln/>
        </p:spPr>
        <p:txBody>
          <a:bodyPr wrap="square" lIns="0" tIns="0" rIns="0" bIns="0" rtlCol="0" anchor="ctr"/>
          <a:lstStyle/>
          <a:p>
            <a:pPr indent="0" marL="0">
              <a:buNone/>
            </a:pPr>
            <a:r>
              <a:rPr lang="en-US" sz="950" dirty="0">
                <a:solidFill>
                  <a:srgbClr val="5A5A5A"/>
                </a:solidFill>
                <a:latin typeface="Yu Gothic" pitchFamily="34" charset="0"/>
                <a:ea typeface="Yu Gothic" pitchFamily="34" charset="-122"/>
                <a:cs typeface="Yu Gothic" pitchFamily="34" charset="-120"/>
              </a:rPr>
              <a:t>コバルトフリー正極 — 厚さ 約30 μm / 素材:LiリッチNCM</a:t>
            </a:r>
            <a:endParaRPr lang="en-US" sz="950" dirty="0"/>
          </a:p>
        </p:txBody>
      </p:sp>
      <p:sp>
        <p:nvSpPr>
          <p:cNvPr id="22" name="Shape 20"/>
          <p:cNvSpPr/>
          <p:nvPr/>
        </p:nvSpPr>
        <p:spPr>
          <a:xfrm>
            <a:off x="457200" y="3438144"/>
            <a:ext cx="1005840" cy="777240"/>
          </a:xfrm>
          <a:prstGeom prst="rect">
            <a:avLst/>
          </a:prstGeom>
          <a:solidFill>
            <a:srgbClr val="5A5A5A"/>
          </a:solidFill>
          <a:ln/>
        </p:spPr>
      </p:sp>
      <p:sp>
        <p:nvSpPr>
          <p:cNvPr id="23" name="Text 21"/>
          <p:cNvSpPr/>
          <p:nvPr/>
        </p:nvSpPr>
        <p:spPr>
          <a:xfrm>
            <a:off x="457200" y="3438144"/>
            <a:ext cx="1005840"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L3</a:t>
            </a:r>
            <a:endParaRPr lang="en-US" sz="1600" dirty="0"/>
          </a:p>
        </p:txBody>
      </p:sp>
      <p:sp>
        <p:nvSpPr>
          <p:cNvPr id="24" name="Shape 22"/>
          <p:cNvSpPr/>
          <p:nvPr/>
        </p:nvSpPr>
        <p:spPr>
          <a:xfrm>
            <a:off x="1463040" y="3438144"/>
            <a:ext cx="10268712" cy="777240"/>
          </a:xfrm>
          <a:prstGeom prst="rect">
            <a:avLst/>
          </a:prstGeom>
          <a:solidFill>
            <a:srgbClr val="FFFFFF"/>
          </a:solidFill>
          <a:ln w="9525">
            <a:solidFill>
              <a:srgbClr val="C8C8C8"/>
            </a:solidFill>
            <a:prstDash val="solid"/>
          </a:ln>
        </p:spPr>
      </p:sp>
      <p:sp>
        <p:nvSpPr>
          <p:cNvPr id="25" name="Text 23"/>
          <p:cNvSpPr/>
          <p:nvPr/>
        </p:nvSpPr>
        <p:spPr>
          <a:xfrm>
            <a:off x="1691640" y="3502152"/>
            <a:ext cx="9875520" cy="347472"/>
          </a:xfrm>
          <a:prstGeom prst="rect">
            <a:avLst/>
          </a:prstGeom>
          <a:noFill/>
          <a:ln/>
        </p:spPr>
        <p:txBody>
          <a:bodyPr wrap="square" lIns="0" tIns="0" rIns="0" bIns="0" rtlCol="0" anchor="ctr"/>
          <a:lstStyle/>
          <a:p>
            <a:pPr indent="0" marL="0">
              <a:buNone/>
            </a:pPr>
            <a:r>
              <a:rPr lang="en-US" sz="1250" b="1" dirty="0">
                <a:solidFill>
                  <a:srgbClr val="16324F"/>
                </a:solidFill>
                <a:latin typeface="Yu Gothic" pitchFamily="34" charset="0"/>
                <a:ea typeface="Yu Gothic" pitchFamily="34" charset="-122"/>
                <a:cs typeface="Yu Gothic" pitchFamily="34" charset="-120"/>
              </a:rPr>
              <a:t>固体電解質セパレータ</a:t>
            </a:r>
            <a:endParaRPr lang="en-US" sz="1250" dirty="0"/>
          </a:p>
        </p:txBody>
      </p:sp>
      <p:sp>
        <p:nvSpPr>
          <p:cNvPr id="26" name="Text 24"/>
          <p:cNvSpPr/>
          <p:nvPr/>
        </p:nvSpPr>
        <p:spPr>
          <a:xfrm>
            <a:off x="1691640" y="3840480"/>
            <a:ext cx="9875520" cy="301752"/>
          </a:xfrm>
          <a:prstGeom prst="rect">
            <a:avLst/>
          </a:prstGeom>
          <a:noFill/>
          <a:ln/>
        </p:spPr>
        <p:txBody>
          <a:bodyPr wrap="square" lIns="0" tIns="0" rIns="0" bIns="0" rtlCol="0" anchor="ctr"/>
          <a:lstStyle/>
          <a:p>
            <a:pPr indent="0" marL="0">
              <a:buNone/>
            </a:pPr>
            <a:r>
              <a:rPr lang="en-US" sz="950" dirty="0">
                <a:solidFill>
                  <a:srgbClr val="5A5A5A"/>
                </a:solidFill>
                <a:latin typeface="Yu Gothic" pitchFamily="34" charset="0"/>
                <a:ea typeface="Yu Gothic" pitchFamily="34" charset="-122"/>
                <a:cs typeface="Yu Gothic" pitchFamily="34" charset="-120"/>
              </a:rPr>
              <a:t>シリコン系 / 酸化物セラミック(LLZO系)— 厚さ 約20 μm</a:t>
            </a:r>
            <a:endParaRPr lang="en-US" sz="950" dirty="0"/>
          </a:p>
        </p:txBody>
      </p:sp>
      <p:sp>
        <p:nvSpPr>
          <p:cNvPr id="27" name="Shape 25"/>
          <p:cNvSpPr/>
          <p:nvPr/>
        </p:nvSpPr>
        <p:spPr>
          <a:xfrm>
            <a:off x="457200" y="4334256"/>
            <a:ext cx="1005840" cy="777240"/>
          </a:xfrm>
          <a:prstGeom prst="rect">
            <a:avLst/>
          </a:prstGeom>
          <a:solidFill>
            <a:srgbClr val="2E4E8C"/>
          </a:solidFill>
          <a:ln/>
        </p:spPr>
      </p:sp>
      <p:sp>
        <p:nvSpPr>
          <p:cNvPr id="28" name="Text 26"/>
          <p:cNvSpPr/>
          <p:nvPr/>
        </p:nvSpPr>
        <p:spPr>
          <a:xfrm>
            <a:off x="457200" y="4334256"/>
            <a:ext cx="1005840"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L4</a:t>
            </a:r>
            <a:endParaRPr lang="en-US" sz="1600" dirty="0"/>
          </a:p>
        </p:txBody>
      </p:sp>
      <p:sp>
        <p:nvSpPr>
          <p:cNvPr id="29" name="Shape 27"/>
          <p:cNvSpPr/>
          <p:nvPr/>
        </p:nvSpPr>
        <p:spPr>
          <a:xfrm>
            <a:off x="1463040" y="4334256"/>
            <a:ext cx="10268712" cy="777240"/>
          </a:xfrm>
          <a:prstGeom prst="rect">
            <a:avLst/>
          </a:prstGeom>
          <a:solidFill>
            <a:srgbClr val="FFFFFF"/>
          </a:solidFill>
          <a:ln w="9525">
            <a:solidFill>
              <a:srgbClr val="C8C8C8"/>
            </a:solidFill>
            <a:prstDash val="solid"/>
          </a:ln>
        </p:spPr>
      </p:sp>
      <p:sp>
        <p:nvSpPr>
          <p:cNvPr id="30" name="Text 28"/>
          <p:cNvSpPr/>
          <p:nvPr/>
        </p:nvSpPr>
        <p:spPr>
          <a:xfrm>
            <a:off x="1691640" y="4398264"/>
            <a:ext cx="9875520" cy="347472"/>
          </a:xfrm>
          <a:prstGeom prst="rect">
            <a:avLst/>
          </a:prstGeom>
          <a:noFill/>
          <a:ln/>
        </p:spPr>
        <p:txBody>
          <a:bodyPr wrap="square" lIns="0" tIns="0" rIns="0" bIns="0" rtlCol="0" anchor="ctr"/>
          <a:lstStyle/>
          <a:p>
            <a:pPr indent="0" marL="0">
              <a:buNone/>
            </a:pPr>
            <a:r>
              <a:rPr lang="en-US" sz="1250" b="1" dirty="0">
                <a:solidFill>
                  <a:srgbClr val="16324F"/>
                </a:solidFill>
                <a:latin typeface="Yu Gothic" pitchFamily="34" charset="0"/>
                <a:ea typeface="Yu Gothic" pitchFamily="34" charset="-122"/>
                <a:cs typeface="Yu Gothic" pitchFamily="34" charset="-120"/>
              </a:rPr>
              <a:t>Cu-C負極 + TNO安定化材</a:t>
            </a:r>
            <a:endParaRPr lang="en-US" sz="1250" dirty="0"/>
          </a:p>
        </p:txBody>
      </p:sp>
      <p:sp>
        <p:nvSpPr>
          <p:cNvPr id="31" name="Text 29"/>
          <p:cNvSpPr/>
          <p:nvPr/>
        </p:nvSpPr>
        <p:spPr>
          <a:xfrm>
            <a:off x="1691640" y="4736592"/>
            <a:ext cx="9875520" cy="301752"/>
          </a:xfrm>
          <a:prstGeom prst="rect">
            <a:avLst/>
          </a:prstGeom>
          <a:noFill/>
          <a:ln/>
        </p:spPr>
        <p:txBody>
          <a:bodyPr wrap="square" lIns="0" tIns="0" rIns="0" bIns="0" rtlCol="0" anchor="ctr"/>
          <a:lstStyle/>
          <a:p>
            <a:pPr indent="0" marL="0">
              <a:buNone/>
            </a:pPr>
            <a:r>
              <a:rPr lang="en-US" sz="950" dirty="0">
                <a:solidFill>
                  <a:srgbClr val="5A5A5A"/>
                </a:solidFill>
                <a:latin typeface="Yu Gothic" pitchFamily="34" charset="0"/>
                <a:ea typeface="Yu Gothic" pitchFamily="34" charset="-122"/>
                <a:cs typeface="Yu Gothic" pitchFamily="34" charset="-120"/>
              </a:rPr>
              <a:t>TNO-S負極(TiNb₂O₇)— 厚さ 約30 μm / 素材:チタン酸ニオブ</a:t>
            </a:r>
            <a:endParaRPr lang="en-US" sz="950" dirty="0"/>
          </a:p>
        </p:txBody>
      </p:sp>
      <p:sp>
        <p:nvSpPr>
          <p:cNvPr id="32" name="Shape 30"/>
          <p:cNvSpPr/>
          <p:nvPr/>
        </p:nvSpPr>
        <p:spPr>
          <a:xfrm>
            <a:off x="457200" y="5230368"/>
            <a:ext cx="1005840" cy="777240"/>
          </a:xfrm>
          <a:prstGeom prst="rect">
            <a:avLst/>
          </a:prstGeom>
          <a:solidFill>
            <a:srgbClr val="A05A2C"/>
          </a:solidFill>
          <a:ln/>
        </p:spPr>
      </p:sp>
      <p:sp>
        <p:nvSpPr>
          <p:cNvPr id="33" name="Text 31"/>
          <p:cNvSpPr/>
          <p:nvPr/>
        </p:nvSpPr>
        <p:spPr>
          <a:xfrm>
            <a:off x="457200" y="5230368"/>
            <a:ext cx="1005840"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L5</a:t>
            </a:r>
            <a:endParaRPr lang="en-US" sz="1600" dirty="0"/>
          </a:p>
        </p:txBody>
      </p:sp>
      <p:sp>
        <p:nvSpPr>
          <p:cNvPr id="34" name="Shape 32"/>
          <p:cNvSpPr/>
          <p:nvPr/>
        </p:nvSpPr>
        <p:spPr>
          <a:xfrm>
            <a:off x="1463040" y="5230368"/>
            <a:ext cx="10268712" cy="777240"/>
          </a:xfrm>
          <a:prstGeom prst="rect">
            <a:avLst/>
          </a:prstGeom>
          <a:solidFill>
            <a:srgbClr val="FFFFFF"/>
          </a:solidFill>
          <a:ln w="9525">
            <a:solidFill>
              <a:srgbClr val="C8C8C8"/>
            </a:solidFill>
            <a:prstDash val="solid"/>
          </a:ln>
        </p:spPr>
      </p:sp>
      <p:sp>
        <p:nvSpPr>
          <p:cNvPr id="35" name="Text 33"/>
          <p:cNvSpPr/>
          <p:nvPr/>
        </p:nvSpPr>
        <p:spPr>
          <a:xfrm>
            <a:off x="1691640" y="5294376"/>
            <a:ext cx="9875520" cy="347472"/>
          </a:xfrm>
          <a:prstGeom prst="rect">
            <a:avLst/>
          </a:prstGeom>
          <a:noFill/>
          <a:ln/>
        </p:spPr>
        <p:txBody>
          <a:bodyPr wrap="square" lIns="0" tIns="0" rIns="0" bIns="0" rtlCol="0" anchor="ctr"/>
          <a:lstStyle/>
          <a:p>
            <a:pPr indent="0" marL="0">
              <a:buNone/>
            </a:pPr>
            <a:r>
              <a:rPr lang="en-US" sz="1250" b="1" dirty="0">
                <a:solidFill>
                  <a:srgbClr val="16324F"/>
                </a:solidFill>
                <a:latin typeface="Yu Gothic" pitchFamily="34" charset="0"/>
                <a:ea typeface="Yu Gothic" pitchFamily="34" charset="-122"/>
                <a:cs typeface="Yu Gothic" pitchFamily="34" charset="-120"/>
              </a:rPr>
              <a:t>Cu集電体</a:t>
            </a:r>
            <a:endParaRPr lang="en-US" sz="1250" dirty="0"/>
          </a:p>
        </p:txBody>
      </p:sp>
      <p:sp>
        <p:nvSpPr>
          <p:cNvPr id="36" name="Text 34"/>
          <p:cNvSpPr/>
          <p:nvPr/>
        </p:nvSpPr>
        <p:spPr>
          <a:xfrm>
            <a:off x="1691640" y="5632704"/>
            <a:ext cx="9875520" cy="301752"/>
          </a:xfrm>
          <a:prstGeom prst="rect">
            <a:avLst/>
          </a:prstGeom>
          <a:noFill/>
          <a:ln/>
        </p:spPr>
        <p:txBody>
          <a:bodyPr wrap="square" lIns="0" tIns="0" rIns="0" bIns="0" rtlCol="0" anchor="ctr"/>
          <a:lstStyle/>
          <a:p>
            <a:pPr indent="0" marL="0">
              <a:buNone/>
            </a:pPr>
            <a:r>
              <a:rPr lang="en-US" sz="950" dirty="0">
                <a:solidFill>
                  <a:srgbClr val="5A5A5A"/>
                </a:solidFill>
                <a:latin typeface="Yu Gothic" pitchFamily="34" charset="0"/>
                <a:ea typeface="Yu Gothic" pitchFamily="34" charset="-122"/>
                <a:cs typeface="Yu Gothic" pitchFamily="34" charset="-120"/>
              </a:rPr>
              <a:t>銅-炭素複合集電体 — 厚さ 約20 μm / 素材:Cu-C複合材</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2.3  ハイブリッド貯蔵メカニズム</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13/55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EDLC + ファラデー ハイブリッド機構</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Dual Storage Mechanism</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645920"/>
            <a:ext cx="11274552" cy="502920"/>
          </a:xfrm>
          <a:prstGeom prst="rect">
            <a:avLst/>
          </a:prstGeom>
          <a:solidFill>
            <a:srgbClr val="16324F"/>
          </a:solidFill>
          <a:ln/>
        </p:spPr>
      </p:sp>
      <p:sp>
        <p:nvSpPr>
          <p:cNvPr id="13" name="Text 11"/>
          <p:cNvSpPr/>
          <p:nvPr/>
        </p:nvSpPr>
        <p:spPr>
          <a:xfrm>
            <a:off x="457200" y="1645920"/>
            <a:ext cx="11274552" cy="502920"/>
          </a:xfrm>
          <a:prstGeom prst="rect">
            <a:avLst/>
          </a:prstGeom>
          <a:noFill/>
          <a:ln/>
        </p:spPr>
        <p:txBody>
          <a:bodyPr wrap="square" lIns="0" tIns="0" rIns="0" bIns="0" rtlCol="0" anchor="ctr"/>
          <a:lstStyle/>
          <a:p>
            <a:pPr algn="ctr" indent="0" marL="0">
              <a:buNone/>
            </a:pPr>
            <a:r>
              <a:rPr lang="en-US" sz="1300" b="1" dirty="0">
                <a:solidFill>
                  <a:srgbClr val="C9A227"/>
                </a:solidFill>
                <a:latin typeface="Yu Gothic" pitchFamily="34" charset="0"/>
                <a:ea typeface="Yu Gothic" pitchFamily="34" charset="-122"/>
                <a:cs typeface="Yu Gothic" pitchFamily="34" charset="-120"/>
              </a:rPr>
              <a:t>DUAL MECHANISM(二重メカニズム)</a:t>
            </a:r>
            <a:endParaRPr lang="en-US" sz="1300" dirty="0"/>
          </a:p>
        </p:txBody>
      </p:sp>
      <p:sp>
        <p:nvSpPr>
          <p:cNvPr id="14" name="Shape 12"/>
          <p:cNvSpPr/>
          <p:nvPr/>
        </p:nvSpPr>
        <p:spPr>
          <a:xfrm>
            <a:off x="457200" y="2331720"/>
            <a:ext cx="11274552" cy="1051560"/>
          </a:xfrm>
          <a:prstGeom prst="rect">
            <a:avLst/>
          </a:prstGeom>
          <a:solidFill>
            <a:srgbClr val="FFFFFF"/>
          </a:solidFill>
          <a:ln w="9525">
            <a:solidFill>
              <a:srgbClr val="C8C8C8"/>
            </a:solidFill>
            <a:prstDash val="solid"/>
          </a:ln>
        </p:spPr>
      </p:sp>
      <p:sp>
        <p:nvSpPr>
          <p:cNvPr id="15" name="Shape 13"/>
          <p:cNvSpPr/>
          <p:nvPr/>
        </p:nvSpPr>
        <p:spPr>
          <a:xfrm>
            <a:off x="457200" y="2331720"/>
            <a:ext cx="82296" cy="1051560"/>
          </a:xfrm>
          <a:prstGeom prst="rect">
            <a:avLst/>
          </a:prstGeom>
          <a:solidFill>
            <a:srgbClr val="C9A227"/>
          </a:solidFill>
          <a:ln/>
        </p:spPr>
      </p:sp>
      <p:sp>
        <p:nvSpPr>
          <p:cNvPr id="16" name="Text 14"/>
          <p:cNvSpPr/>
          <p:nvPr/>
        </p:nvSpPr>
        <p:spPr>
          <a:xfrm>
            <a:off x="777240" y="2441448"/>
            <a:ext cx="10607040" cy="384048"/>
          </a:xfrm>
          <a:prstGeom prst="rect">
            <a:avLst/>
          </a:prstGeom>
          <a:noFill/>
          <a:ln/>
        </p:spPr>
        <p:txBody>
          <a:bodyPr wrap="square" lIns="0" tIns="0" rIns="0" bIns="0" rtlCol="0" anchor="ctr"/>
          <a:lstStyle/>
          <a:p>
            <a:pPr indent="0" marL="0">
              <a:buNone/>
            </a:pPr>
            <a:r>
              <a:rPr lang="en-US" sz="1350" b="1" dirty="0">
                <a:solidFill>
                  <a:srgbClr val="16324F"/>
                </a:solidFill>
                <a:latin typeface="Yu Gothic" pitchFamily="34" charset="0"/>
                <a:ea typeface="Yu Gothic" pitchFamily="34" charset="-122"/>
                <a:cs typeface="Yu Gothic" pitchFamily="34" charset="-120"/>
              </a:rPr>
              <a:t>① EDLC(電気二重層)</a:t>
            </a:r>
            <a:endParaRPr lang="en-US" sz="1350" dirty="0"/>
          </a:p>
        </p:txBody>
      </p:sp>
      <p:sp>
        <p:nvSpPr>
          <p:cNvPr id="17" name="Text 15"/>
          <p:cNvSpPr/>
          <p:nvPr/>
        </p:nvSpPr>
        <p:spPr>
          <a:xfrm>
            <a:off x="777240" y="2843784"/>
            <a:ext cx="10607040" cy="457200"/>
          </a:xfrm>
          <a:prstGeom prst="rect">
            <a:avLst/>
          </a:prstGeom>
          <a:noFill/>
          <a:ln/>
        </p:spPr>
        <p:txBody>
          <a:bodyPr wrap="square" lIns="0" tIns="0" rIns="0" bIns="0" rtlCol="0" anchor="ctr"/>
          <a:lstStyle/>
          <a:p>
            <a:pPr indent="0" marL="0">
              <a:buNone/>
            </a:pPr>
            <a:r>
              <a:rPr lang="en-US" sz="1100" dirty="0">
                <a:solidFill>
                  <a:srgbClr val="1A1A1A"/>
                </a:solidFill>
                <a:latin typeface="Yu Gothic" pitchFamily="34" charset="0"/>
                <a:ea typeface="Yu Gothic" pitchFamily="34" charset="-122"/>
                <a:cs typeface="Yu Gothic" pitchFamily="34" charset="-120"/>
              </a:rPr>
              <a:t>表面吸脱着 — 0.1秒応答 · 高出力 · スーパーキャパシタ級。長寿命 · 高出力</a:t>
            </a:r>
            <a:endParaRPr lang="en-US" sz="1100" dirty="0"/>
          </a:p>
        </p:txBody>
      </p:sp>
      <p:sp>
        <p:nvSpPr>
          <p:cNvPr id="18" name="Shape 16"/>
          <p:cNvSpPr/>
          <p:nvPr/>
        </p:nvSpPr>
        <p:spPr>
          <a:xfrm>
            <a:off x="457200" y="3566160"/>
            <a:ext cx="11274552" cy="1051560"/>
          </a:xfrm>
          <a:prstGeom prst="rect">
            <a:avLst/>
          </a:prstGeom>
          <a:solidFill>
            <a:srgbClr val="FFFFFF"/>
          </a:solidFill>
          <a:ln w="9525">
            <a:solidFill>
              <a:srgbClr val="C8C8C8"/>
            </a:solidFill>
            <a:prstDash val="solid"/>
          </a:ln>
        </p:spPr>
      </p:sp>
      <p:sp>
        <p:nvSpPr>
          <p:cNvPr id="19" name="Shape 17"/>
          <p:cNvSpPr/>
          <p:nvPr/>
        </p:nvSpPr>
        <p:spPr>
          <a:xfrm>
            <a:off x="457200" y="3566160"/>
            <a:ext cx="82296" cy="1051560"/>
          </a:xfrm>
          <a:prstGeom prst="rect">
            <a:avLst/>
          </a:prstGeom>
          <a:solidFill>
            <a:srgbClr val="4F6238"/>
          </a:solidFill>
          <a:ln/>
        </p:spPr>
      </p:sp>
      <p:sp>
        <p:nvSpPr>
          <p:cNvPr id="20" name="Text 18"/>
          <p:cNvSpPr/>
          <p:nvPr/>
        </p:nvSpPr>
        <p:spPr>
          <a:xfrm>
            <a:off x="777240" y="3675888"/>
            <a:ext cx="10607040" cy="384048"/>
          </a:xfrm>
          <a:prstGeom prst="rect">
            <a:avLst/>
          </a:prstGeom>
          <a:noFill/>
          <a:ln/>
        </p:spPr>
        <p:txBody>
          <a:bodyPr wrap="square" lIns="0" tIns="0" rIns="0" bIns="0" rtlCol="0" anchor="ctr"/>
          <a:lstStyle/>
          <a:p>
            <a:pPr indent="0" marL="0">
              <a:buNone/>
            </a:pPr>
            <a:r>
              <a:rPr lang="en-US" sz="1350" b="1" dirty="0">
                <a:solidFill>
                  <a:srgbClr val="16324F"/>
                </a:solidFill>
                <a:latin typeface="Yu Gothic" pitchFamily="34" charset="0"/>
                <a:ea typeface="Yu Gothic" pitchFamily="34" charset="-122"/>
                <a:cs typeface="Yu Gothic" pitchFamily="34" charset="-120"/>
              </a:rPr>
              <a:t>② ファラデー(TNO酸化還元)</a:t>
            </a:r>
            <a:endParaRPr lang="en-US" sz="1350" dirty="0"/>
          </a:p>
        </p:txBody>
      </p:sp>
      <p:sp>
        <p:nvSpPr>
          <p:cNvPr id="21" name="Text 19"/>
          <p:cNvSpPr/>
          <p:nvPr/>
        </p:nvSpPr>
        <p:spPr>
          <a:xfrm>
            <a:off x="777240" y="4078224"/>
            <a:ext cx="10607040" cy="457200"/>
          </a:xfrm>
          <a:prstGeom prst="rect">
            <a:avLst/>
          </a:prstGeom>
          <a:noFill/>
          <a:ln/>
        </p:spPr>
        <p:txBody>
          <a:bodyPr wrap="square" lIns="0" tIns="0" rIns="0" bIns="0" rtlCol="0" anchor="ctr"/>
          <a:lstStyle/>
          <a:p>
            <a:pPr indent="0" marL="0">
              <a:buNone/>
            </a:pPr>
            <a:r>
              <a:rPr lang="en-US" sz="1100" dirty="0">
                <a:solidFill>
                  <a:srgbClr val="1A1A1A"/>
                </a:solidFill>
                <a:latin typeface="Yu Gothic" pitchFamily="34" charset="0"/>
                <a:ea typeface="Yu Gothic" pitchFamily="34" charset="-122"/>
                <a:cs typeface="Yu Gothic" pitchFamily="34" charset="-120"/>
              </a:rPr>
              <a:t>可逆的化学反応 — 高エネルギー密度 · 電池級のエネルギー貯蔵特性</a:t>
            </a:r>
            <a:endParaRPr lang="en-US" sz="1100" dirty="0"/>
          </a:p>
        </p:txBody>
      </p:sp>
      <p:sp>
        <p:nvSpPr>
          <p:cNvPr id="22" name="Shape 20"/>
          <p:cNvSpPr/>
          <p:nvPr/>
        </p:nvSpPr>
        <p:spPr>
          <a:xfrm>
            <a:off x="457200" y="4800600"/>
            <a:ext cx="11274552" cy="1051560"/>
          </a:xfrm>
          <a:prstGeom prst="rect">
            <a:avLst/>
          </a:prstGeom>
          <a:solidFill>
            <a:srgbClr val="FFFFFF"/>
          </a:solidFill>
          <a:ln w="9525">
            <a:solidFill>
              <a:srgbClr val="C8C8C8"/>
            </a:solidFill>
            <a:prstDash val="solid"/>
          </a:ln>
        </p:spPr>
      </p:sp>
      <p:sp>
        <p:nvSpPr>
          <p:cNvPr id="23" name="Shape 21"/>
          <p:cNvSpPr/>
          <p:nvPr/>
        </p:nvSpPr>
        <p:spPr>
          <a:xfrm>
            <a:off x="457200" y="4800600"/>
            <a:ext cx="82296" cy="1051560"/>
          </a:xfrm>
          <a:prstGeom prst="rect">
            <a:avLst/>
          </a:prstGeom>
          <a:solidFill>
            <a:srgbClr val="45586E"/>
          </a:solidFill>
          <a:ln/>
        </p:spPr>
      </p:sp>
      <p:sp>
        <p:nvSpPr>
          <p:cNvPr id="24" name="Text 22"/>
          <p:cNvSpPr/>
          <p:nvPr/>
        </p:nvSpPr>
        <p:spPr>
          <a:xfrm>
            <a:off x="777240" y="4910328"/>
            <a:ext cx="10607040" cy="384048"/>
          </a:xfrm>
          <a:prstGeom prst="rect">
            <a:avLst/>
          </a:prstGeom>
          <a:noFill/>
          <a:ln/>
        </p:spPr>
        <p:txBody>
          <a:bodyPr wrap="square" lIns="0" tIns="0" rIns="0" bIns="0" rtlCol="0" anchor="ctr"/>
          <a:lstStyle/>
          <a:p>
            <a:pPr indent="0" marL="0">
              <a:buNone/>
            </a:pPr>
            <a:r>
              <a:rPr lang="en-US" sz="1350" b="1" dirty="0">
                <a:solidFill>
                  <a:srgbClr val="16324F"/>
                </a:solidFill>
                <a:latin typeface="Yu Gothic" pitchFamily="34" charset="0"/>
                <a:ea typeface="Yu Gothic" pitchFamily="34" charset="-122"/>
                <a:cs typeface="Yu Gothic" pitchFamily="34" charset="-120"/>
              </a:rPr>
              <a:t>③ NLHCカテゴリー</a:t>
            </a:r>
            <a:endParaRPr lang="en-US" sz="1350" dirty="0"/>
          </a:p>
        </p:txBody>
      </p:sp>
      <p:sp>
        <p:nvSpPr>
          <p:cNvPr id="25" name="Text 23"/>
          <p:cNvSpPr/>
          <p:nvPr/>
        </p:nvSpPr>
        <p:spPr>
          <a:xfrm>
            <a:off x="777240" y="5312664"/>
            <a:ext cx="10607040" cy="457200"/>
          </a:xfrm>
          <a:prstGeom prst="rect">
            <a:avLst/>
          </a:prstGeom>
          <a:noFill/>
          <a:ln/>
        </p:spPr>
        <p:txBody>
          <a:bodyPr wrap="square" lIns="0" tIns="0" rIns="0" bIns="0" rtlCol="0" anchor="ctr"/>
          <a:lstStyle/>
          <a:p>
            <a:pPr indent="0" marL="0">
              <a:buNone/>
            </a:pPr>
            <a:r>
              <a:rPr lang="en-US" sz="1100" dirty="0">
                <a:solidFill>
                  <a:srgbClr val="1A1A1A"/>
                </a:solidFill>
                <a:latin typeface="Yu Gothic" pitchFamily="34" charset="0"/>
                <a:ea typeface="Yu Gothic" pitchFamily="34" charset="-122"/>
                <a:cs typeface="Yu Gothic" pitchFamily="34" charset="-120"/>
              </a:rPr>
              <a:t>Non-Lithium Hybrid Capacitor — LIB / LIC / EDLCのいずれにも属さない、第3の独立カテゴリー</a:t>
            </a:r>
            <a:endParaRPr lang="en-US" sz="1100" dirty="0"/>
          </a:p>
        </p:txBody>
      </p:sp>
      <p:sp>
        <p:nvSpPr>
          <p:cNvPr id="26" name="Text 24"/>
          <p:cNvSpPr/>
          <p:nvPr/>
        </p:nvSpPr>
        <p:spPr>
          <a:xfrm>
            <a:off x="457200" y="6035040"/>
            <a:ext cx="11274552" cy="365760"/>
          </a:xfrm>
          <a:prstGeom prst="rect">
            <a:avLst/>
          </a:prstGeom>
          <a:noFill/>
          <a:ln/>
        </p:spPr>
        <p:txBody>
          <a:bodyPr wrap="square" lIns="0" tIns="0" rIns="0" bIns="0" rtlCol="0" anchor="ctr"/>
          <a:lstStyle/>
          <a:p>
            <a:pPr indent="0" marL="0">
              <a:buNone/>
            </a:pPr>
            <a:r>
              <a:rPr lang="en-US" sz="950" i="1" dirty="0">
                <a:solidFill>
                  <a:srgbClr val="5A5A5A"/>
                </a:solidFill>
                <a:latin typeface="Yu Gothic" pitchFamily="34" charset="0"/>
                <a:ea typeface="Yu Gothic" pitchFamily="34" charset="-122"/>
                <a:cs typeface="Yu Gothic" pitchFamily="34" charset="-120"/>
              </a:rPr>
              <a:t>リチウム・インターカレーションとの違い:イオンはセパレータを横切らず、各極のカーボン細孔の内外を移動する(イオン遮断セパレータ · NO ION CROSSING)</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2.4  TiNb₂O₇ 結晶構造</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14/55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TiNb₂O₇ Wadsley-Roth 結晶構造</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TiNb₂O₇ Crystal Structure · Multi-electron Redox</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691640"/>
            <a:ext cx="11274552" cy="960120"/>
          </a:xfrm>
          <a:prstGeom prst="rect">
            <a:avLst/>
          </a:prstGeom>
          <a:solidFill>
            <a:srgbClr val="FFFFFF"/>
          </a:solidFill>
          <a:ln w="9525">
            <a:solidFill>
              <a:srgbClr val="C8C8C8"/>
            </a:solidFill>
            <a:prstDash val="solid"/>
          </a:ln>
        </p:spPr>
      </p:sp>
      <p:sp>
        <p:nvSpPr>
          <p:cNvPr id="13" name="Shape 11"/>
          <p:cNvSpPr/>
          <p:nvPr/>
        </p:nvSpPr>
        <p:spPr>
          <a:xfrm>
            <a:off x="457200" y="1691640"/>
            <a:ext cx="82296" cy="960120"/>
          </a:xfrm>
          <a:prstGeom prst="rect">
            <a:avLst/>
          </a:prstGeom>
          <a:solidFill>
            <a:srgbClr val="C9A227"/>
          </a:solidFill>
          <a:ln/>
        </p:spPr>
      </p:sp>
      <p:sp>
        <p:nvSpPr>
          <p:cNvPr id="14" name="Text 12"/>
          <p:cNvSpPr/>
          <p:nvPr/>
        </p:nvSpPr>
        <p:spPr>
          <a:xfrm>
            <a:off x="777240" y="1783080"/>
            <a:ext cx="10607040" cy="384048"/>
          </a:xfrm>
          <a:prstGeom prst="rect">
            <a:avLst/>
          </a:prstGeom>
          <a:noFill/>
          <a:ln/>
        </p:spPr>
        <p:txBody>
          <a:bodyPr wrap="square" lIns="0" tIns="0" rIns="0" bIns="0" rtlCol="0" anchor="ctr"/>
          <a:lstStyle/>
          <a:p>
            <a:pPr indent="0" marL="0">
              <a:buNone/>
            </a:pPr>
            <a:r>
              <a:rPr lang="en-US" sz="1350" b="1" dirty="0">
                <a:solidFill>
                  <a:srgbClr val="16324F"/>
                </a:solidFill>
                <a:latin typeface="Yu Gothic" pitchFamily="34" charset="0"/>
                <a:ea typeface="Yu Gothic" pitchFamily="34" charset="-122"/>
                <a:cs typeface="Yu Gothic" pitchFamily="34" charset="-120"/>
              </a:rPr>
              <a:t>多電子酸化還元</a:t>
            </a:r>
            <a:endParaRPr lang="en-US" sz="1350" dirty="0"/>
          </a:p>
        </p:txBody>
      </p:sp>
      <p:sp>
        <p:nvSpPr>
          <p:cNvPr id="15" name="Text 13"/>
          <p:cNvSpPr/>
          <p:nvPr/>
        </p:nvSpPr>
        <p:spPr>
          <a:xfrm>
            <a:off x="777240" y="2167128"/>
            <a:ext cx="10607040" cy="384048"/>
          </a:xfrm>
          <a:prstGeom prst="rect">
            <a:avLst/>
          </a:prstGeom>
          <a:noFill/>
          <a:ln/>
        </p:spPr>
        <p:txBody>
          <a:bodyPr wrap="square" lIns="0" tIns="0" rIns="0" bIns="0" rtlCol="0" anchor="ctr"/>
          <a:lstStyle/>
          <a:p>
            <a:pPr indent="0" marL="0">
              <a:buNone/>
            </a:pPr>
            <a:r>
              <a:rPr lang="en-US" sz="1100" dirty="0">
                <a:solidFill>
                  <a:srgbClr val="1A1A1A"/>
                </a:solidFill>
                <a:latin typeface="Yu Gothic" pitchFamily="34" charset="0"/>
                <a:ea typeface="Yu Gothic" pitchFamily="34" charset="-122"/>
                <a:cs typeface="Yu Gothic" pitchFamily="34" charset="-120"/>
              </a:rPr>
              <a:t>Ti⁴⁺/Ti³⁺ + Nb⁵⁺/Nb⁴⁺/Nb³⁺ — セルあたり5電子の可逆反応</a:t>
            </a:r>
            <a:endParaRPr lang="en-US" sz="1100" dirty="0"/>
          </a:p>
        </p:txBody>
      </p:sp>
      <p:sp>
        <p:nvSpPr>
          <p:cNvPr id="16" name="Shape 14"/>
          <p:cNvSpPr/>
          <p:nvPr/>
        </p:nvSpPr>
        <p:spPr>
          <a:xfrm>
            <a:off x="457200" y="2807208"/>
            <a:ext cx="11274552" cy="960120"/>
          </a:xfrm>
          <a:prstGeom prst="rect">
            <a:avLst/>
          </a:prstGeom>
          <a:solidFill>
            <a:srgbClr val="FFFFFF"/>
          </a:solidFill>
          <a:ln w="9525">
            <a:solidFill>
              <a:srgbClr val="C8C8C8"/>
            </a:solidFill>
            <a:prstDash val="solid"/>
          </a:ln>
        </p:spPr>
      </p:sp>
      <p:sp>
        <p:nvSpPr>
          <p:cNvPr id="17" name="Shape 15"/>
          <p:cNvSpPr/>
          <p:nvPr/>
        </p:nvSpPr>
        <p:spPr>
          <a:xfrm>
            <a:off x="457200" y="2807208"/>
            <a:ext cx="82296" cy="960120"/>
          </a:xfrm>
          <a:prstGeom prst="rect">
            <a:avLst/>
          </a:prstGeom>
          <a:solidFill>
            <a:srgbClr val="C9A227"/>
          </a:solidFill>
          <a:ln/>
        </p:spPr>
      </p:sp>
      <p:sp>
        <p:nvSpPr>
          <p:cNvPr id="18" name="Text 16"/>
          <p:cNvSpPr/>
          <p:nvPr/>
        </p:nvSpPr>
        <p:spPr>
          <a:xfrm>
            <a:off x="777240" y="2898648"/>
            <a:ext cx="10607040" cy="384048"/>
          </a:xfrm>
          <a:prstGeom prst="rect">
            <a:avLst/>
          </a:prstGeom>
          <a:noFill/>
          <a:ln/>
        </p:spPr>
        <p:txBody>
          <a:bodyPr wrap="square" lIns="0" tIns="0" rIns="0" bIns="0" rtlCol="0" anchor="ctr"/>
          <a:lstStyle/>
          <a:p>
            <a:pPr indent="0" marL="0">
              <a:buNone/>
            </a:pPr>
            <a:r>
              <a:rPr lang="en-US" sz="1350" b="1" dirty="0">
                <a:solidFill>
                  <a:srgbClr val="16324F"/>
                </a:solidFill>
                <a:latin typeface="Yu Gothic" pitchFamily="34" charset="0"/>
                <a:ea typeface="Yu Gothic" pitchFamily="34" charset="-122"/>
                <a:cs typeface="Yu Gothic" pitchFamily="34" charset="-120"/>
              </a:rPr>
              <a:t>ゼロひずみ</a:t>
            </a:r>
            <a:endParaRPr lang="en-US" sz="1350" dirty="0"/>
          </a:p>
        </p:txBody>
      </p:sp>
      <p:sp>
        <p:nvSpPr>
          <p:cNvPr id="19" name="Text 17"/>
          <p:cNvSpPr/>
          <p:nvPr/>
        </p:nvSpPr>
        <p:spPr>
          <a:xfrm>
            <a:off x="777240" y="3282696"/>
            <a:ext cx="10607040" cy="384048"/>
          </a:xfrm>
          <a:prstGeom prst="rect">
            <a:avLst/>
          </a:prstGeom>
          <a:noFill/>
          <a:ln/>
        </p:spPr>
        <p:txBody>
          <a:bodyPr wrap="square" lIns="0" tIns="0" rIns="0" bIns="0" rtlCol="0" anchor="ctr"/>
          <a:lstStyle/>
          <a:p>
            <a:pPr indent="0" marL="0">
              <a:buNone/>
            </a:pPr>
            <a:r>
              <a:rPr lang="en-US" sz="1100" dirty="0">
                <a:solidFill>
                  <a:srgbClr val="1A1A1A"/>
                </a:solidFill>
                <a:latin typeface="Yu Gothic" pitchFamily="34" charset="0"/>
                <a:ea typeface="Yu Gothic" pitchFamily="34" charset="-122"/>
                <a:cs typeface="Yu Gothic" pitchFamily="34" charset="-120"/>
              </a:rPr>
              <a:t>イオン挿入時の格子ひずみ &lt; 1% — 6,000+サイクルを実現</a:t>
            </a:r>
            <a:endParaRPr lang="en-US" sz="1100" dirty="0"/>
          </a:p>
        </p:txBody>
      </p:sp>
      <p:sp>
        <p:nvSpPr>
          <p:cNvPr id="20" name="Shape 18"/>
          <p:cNvSpPr/>
          <p:nvPr/>
        </p:nvSpPr>
        <p:spPr>
          <a:xfrm>
            <a:off x="457200" y="3922776"/>
            <a:ext cx="11274552" cy="960120"/>
          </a:xfrm>
          <a:prstGeom prst="rect">
            <a:avLst/>
          </a:prstGeom>
          <a:solidFill>
            <a:srgbClr val="FFFFFF"/>
          </a:solidFill>
          <a:ln w="9525">
            <a:solidFill>
              <a:srgbClr val="C8C8C8"/>
            </a:solidFill>
            <a:prstDash val="solid"/>
          </a:ln>
        </p:spPr>
      </p:sp>
      <p:sp>
        <p:nvSpPr>
          <p:cNvPr id="21" name="Shape 19"/>
          <p:cNvSpPr/>
          <p:nvPr/>
        </p:nvSpPr>
        <p:spPr>
          <a:xfrm>
            <a:off x="457200" y="3922776"/>
            <a:ext cx="82296" cy="960120"/>
          </a:xfrm>
          <a:prstGeom prst="rect">
            <a:avLst/>
          </a:prstGeom>
          <a:solidFill>
            <a:srgbClr val="C9A227"/>
          </a:solidFill>
          <a:ln/>
        </p:spPr>
      </p:sp>
      <p:sp>
        <p:nvSpPr>
          <p:cNvPr id="22" name="Text 20"/>
          <p:cNvSpPr/>
          <p:nvPr/>
        </p:nvSpPr>
        <p:spPr>
          <a:xfrm>
            <a:off x="777240" y="4014216"/>
            <a:ext cx="10607040" cy="384048"/>
          </a:xfrm>
          <a:prstGeom prst="rect">
            <a:avLst/>
          </a:prstGeom>
          <a:noFill/>
          <a:ln/>
        </p:spPr>
        <p:txBody>
          <a:bodyPr wrap="square" lIns="0" tIns="0" rIns="0" bIns="0" rtlCol="0" anchor="ctr"/>
          <a:lstStyle/>
          <a:p>
            <a:pPr indent="0" marL="0">
              <a:buNone/>
            </a:pPr>
            <a:r>
              <a:rPr lang="en-US" sz="1350" b="1" dirty="0">
                <a:solidFill>
                  <a:srgbClr val="16324F"/>
                </a:solidFill>
                <a:latin typeface="Yu Gothic" pitchFamily="34" charset="0"/>
                <a:ea typeface="Yu Gothic" pitchFamily="34" charset="-122"/>
                <a:cs typeface="Yu Gothic" pitchFamily="34" charset="-120"/>
              </a:rPr>
              <a:t>開放1次元チャネル</a:t>
            </a:r>
            <a:endParaRPr lang="en-US" sz="1350" dirty="0"/>
          </a:p>
        </p:txBody>
      </p:sp>
      <p:sp>
        <p:nvSpPr>
          <p:cNvPr id="23" name="Text 21"/>
          <p:cNvSpPr/>
          <p:nvPr/>
        </p:nvSpPr>
        <p:spPr>
          <a:xfrm>
            <a:off x="777240" y="4398264"/>
            <a:ext cx="10607040" cy="384048"/>
          </a:xfrm>
          <a:prstGeom prst="rect">
            <a:avLst/>
          </a:prstGeom>
          <a:noFill/>
          <a:ln/>
        </p:spPr>
        <p:txBody>
          <a:bodyPr wrap="square" lIns="0" tIns="0" rIns="0" bIns="0" rtlCol="0" anchor="ctr"/>
          <a:lstStyle/>
          <a:p>
            <a:pPr indent="0" marL="0">
              <a:buNone/>
            </a:pPr>
            <a:r>
              <a:rPr lang="en-US" sz="1100" dirty="0">
                <a:solidFill>
                  <a:srgbClr val="1A1A1A"/>
                </a:solidFill>
                <a:latin typeface="Yu Gothic" pitchFamily="34" charset="0"/>
                <a:ea typeface="Yu Gothic" pitchFamily="34" charset="-122"/>
                <a:cs typeface="Yu Gothic" pitchFamily="34" charset="-120"/>
              </a:rPr>
              <a:t>5Cを超える高速イオン輸送 — 最大15Cパルスに対応</a:t>
            </a:r>
            <a:endParaRPr lang="en-US" sz="1100" dirty="0"/>
          </a:p>
        </p:txBody>
      </p:sp>
      <p:sp>
        <p:nvSpPr>
          <p:cNvPr id="24" name="Shape 22"/>
          <p:cNvSpPr/>
          <p:nvPr/>
        </p:nvSpPr>
        <p:spPr>
          <a:xfrm>
            <a:off x="457200" y="5038344"/>
            <a:ext cx="11274552" cy="960120"/>
          </a:xfrm>
          <a:prstGeom prst="rect">
            <a:avLst/>
          </a:prstGeom>
          <a:solidFill>
            <a:srgbClr val="FFFFFF"/>
          </a:solidFill>
          <a:ln w="9525">
            <a:solidFill>
              <a:srgbClr val="C8C8C8"/>
            </a:solidFill>
            <a:prstDash val="solid"/>
          </a:ln>
        </p:spPr>
      </p:sp>
      <p:sp>
        <p:nvSpPr>
          <p:cNvPr id="25" name="Shape 23"/>
          <p:cNvSpPr/>
          <p:nvPr/>
        </p:nvSpPr>
        <p:spPr>
          <a:xfrm>
            <a:off x="457200" y="5038344"/>
            <a:ext cx="82296" cy="960120"/>
          </a:xfrm>
          <a:prstGeom prst="rect">
            <a:avLst/>
          </a:prstGeom>
          <a:solidFill>
            <a:srgbClr val="C9A227"/>
          </a:solidFill>
          <a:ln/>
        </p:spPr>
      </p:sp>
      <p:sp>
        <p:nvSpPr>
          <p:cNvPr id="26" name="Text 24"/>
          <p:cNvSpPr/>
          <p:nvPr/>
        </p:nvSpPr>
        <p:spPr>
          <a:xfrm>
            <a:off x="777240" y="5129784"/>
            <a:ext cx="10607040" cy="384048"/>
          </a:xfrm>
          <a:prstGeom prst="rect">
            <a:avLst/>
          </a:prstGeom>
          <a:noFill/>
          <a:ln/>
        </p:spPr>
        <p:txBody>
          <a:bodyPr wrap="square" lIns="0" tIns="0" rIns="0" bIns="0" rtlCol="0" anchor="ctr"/>
          <a:lstStyle/>
          <a:p>
            <a:pPr indent="0" marL="0">
              <a:buNone/>
            </a:pPr>
            <a:r>
              <a:rPr lang="en-US" sz="1350" b="1" dirty="0">
                <a:solidFill>
                  <a:srgbClr val="16324F"/>
                </a:solidFill>
                <a:latin typeface="Yu Gothic" pitchFamily="34" charset="0"/>
                <a:ea typeface="Yu Gothic" pitchFamily="34" charset="-122"/>
                <a:cs typeface="Yu Gothic" pitchFamily="34" charset="-120"/>
              </a:rPr>
              <a:t>広い電圧プラトー</a:t>
            </a:r>
            <a:endParaRPr lang="en-US" sz="1350" dirty="0"/>
          </a:p>
        </p:txBody>
      </p:sp>
      <p:sp>
        <p:nvSpPr>
          <p:cNvPr id="27" name="Text 25"/>
          <p:cNvSpPr/>
          <p:nvPr/>
        </p:nvSpPr>
        <p:spPr>
          <a:xfrm>
            <a:off x="777240" y="5513832"/>
            <a:ext cx="10607040" cy="384048"/>
          </a:xfrm>
          <a:prstGeom prst="rect">
            <a:avLst/>
          </a:prstGeom>
          <a:noFill/>
          <a:ln/>
        </p:spPr>
        <p:txBody>
          <a:bodyPr wrap="square" lIns="0" tIns="0" rIns="0" bIns="0" rtlCol="0" anchor="ctr"/>
          <a:lstStyle/>
          <a:p>
            <a:pPr indent="0" marL="0">
              <a:buNone/>
            </a:pPr>
            <a:r>
              <a:rPr lang="en-US" sz="1100" dirty="0">
                <a:solidFill>
                  <a:srgbClr val="1A1A1A"/>
                </a:solidFill>
                <a:latin typeface="Yu Gothic" pitchFamily="34" charset="0"/>
                <a:ea typeface="Yu Gothic" pitchFamily="34" charset="-122"/>
                <a:cs typeface="Yu Gothic" pitchFamily="34" charset="-120"/>
              </a:rPr>
              <a:t>1.0–3.0 Vのプラトー — 安定した出力を維持</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2.5  リチウムフリー動作の7つの証拠</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15/55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リチウムフリー動作 — 7つの科学的証拠(UNIST v15)</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Seven Evidences of Lithium-Free Operation</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572768"/>
          <a:ext cx="11274552" cy="914400"/>
        </p:xfrm>
        <a:graphic>
          <a:graphicData uri="http://schemas.openxmlformats.org/drawingml/2006/table">
            <a:tbl>
              <a:tblPr/>
              <a:tblGrid>
                <a:gridCol w="640080"/>
                <a:gridCol w="3017520"/>
                <a:gridCol w="2743200"/>
                <a:gridCol w="4873752"/>
              </a:tblGrid>
              <a:tr h="402336">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分析的証拠</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測定値</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リチウム系では成立しない理由</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r>
              <a:tr h="402336">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A</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電極シート間隔</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0.15~0.20 cm</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Li析出 / 内部短絡が即時に発生</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02336">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B</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N/P比</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1.06(危険域)</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Li析出マージンに違反</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02336">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C</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VC/FEC添加剤</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0%(無添加)</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SEIが形成できない</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02336">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D</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VGCF含有量</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6.5 wt%</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通常LIBの4倍 — EDLCの特徴</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02336">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E</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Cレート×5増加</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容量損失 0.7%</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Liインターカレーション動力学に違反</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02336">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F</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クーロン効率(1.0C)</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99.02%</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VC/FECなしでは不可能</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02336">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G</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支配イオン分析(NMR)</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Na⁺ / K⁺ / 多価イオン</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LiPF₆は参照塩に過ぎない</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bl>
          </a:graphicData>
        </a:graphic>
      </p:graphicFrame>
      <p:sp>
        <p:nvSpPr>
          <p:cNvPr id="13" name="Shape 10"/>
          <p:cNvSpPr/>
          <p:nvPr/>
        </p:nvSpPr>
        <p:spPr>
          <a:xfrm>
            <a:off x="457200" y="5623560"/>
            <a:ext cx="11274552" cy="548640"/>
          </a:xfrm>
          <a:prstGeom prst="rect">
            <a:avLst/>
          </a:prstGeom>
          <a:solidFill>
            <a:srgbClr val="16324F"/>
          </a:solidFill>
          <a:ln/>
        </p:spPr>
      </p:sp>
      <p:sp>
        <p:nvSpPr>
          <p:cNvPr id="14" name="Text 11"/>
          <p:cNvSpPr/>
          <p:nvPr/>
        </p:nvSpPr>
        <p:spPr>
          <a:xfrm>
            <a:off x="685800" y="5623560"/>
            <a:ext cx="10881360" cy="548640"/>
          </a:xfrm>
          <a:prstGeom prst="rect">
            <a:avLst/>
          </a:prstGeom>
          <a:noFill/>
          <a:ln/>
        </p:spPr>
        <p:txBody>
          <a:bodyPr wrap="square" lIns="0" tIns="0" rIns="0" bIns="0" rtlCol="0" anchor="ctr"/>
          <a:lstStyle/>
          <a:p>
            <a:pPr indent="0" marL="0">
              <a:buNone/>
            </a:pPr>
            <a:r>
              <a:rPr lang="en-US" sz="1150" b="1" dirty="0">
                <a:solidFill>
                  <a:srgbClr val="C9A227"/>
                </a:solidFill>
                <a:latin typeface="Yu Gothic" pitchFamily="34" charset="0"/>
                <a:ea typeface="Yu Gothic" pitchFamily="34" charset="-122"/>
                <a:cs typeface="Yu Gothic" pitchFamily="34" charset="-120"/>
              </a:rPr>
              <a:t>UNIST共同結論:本セルはNLHC(第3カテゴリー)— LIB · LIC · EDLCのいずれでもない独立技術。総合評価 9.7/10 · 共同分析:UNIST + BK Dongyeoung Tech研究所</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2.6  TNOの5つの役割</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16/55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チタン・ニオブ酸化物の5つの役割</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Five Roles of Titanium-Niobium Oxide</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691640"/>
            <a:ext cx="2121408" cy="914400"/>
          </a:xfrm>
          <a:prstGeom prst="rect">
            <a:avLst/>
          </a:prstGeom>
          <a:solidFill>
            <a:srgbClr val="16324F"/>
          </a:solidFill>
          <a:ln/>
        </p:spPr>
      </p:sp>
      <p:sp>
        <p:nvSpPr>
          <p:cNvPr id="13" name="Text 11"/>
          <p:cNvSpPr/>
          <p:nvPr/>
        </p:nvSpPr>
        <p:spPr>
          <a:xfrm>
            <a:off x="457200" y="1691640"/>
            <a:ext cx="2121408" cy="914400"/>
          </a:xfrm>
          <a:prstGeom prst="rect">
            <a:avLst/>
          </a:prstGeom>
          <a:noFill/>
          <a:ln/>
        </p:spPr>
        <p:txBody>
          <a:bodyPr wrap="square" lIns="0" tIns="0" rIns="0" bIns="0" rtlCol="0" anchor="ctr"/>
          <a:lstStyle/>
          <a:p>
            <a:pPr algn="ctr" indent="0" marL="0">
              <a:buNone/>
            </a:pPr>
            <a:r>
              <a:rPr lang="en-US" sz="2200" b="1" dirty="0">
                <a:solidFill>
                  <a:srgbClr val="C9A227"/>
                </a:solidFill>
                <a:latin typeface="Arial" pitchFamily="34" charset="0"/>
                <a:ea typeface="Arial" pitchFamily="34" charset="-122"/>
                <a:cs typeface="Arial" pitchFamily="34" charset="-120"/>
              </a:rPr>
              <a:t>01</a:t>
            </a:r>
            <a:endParaRPr lang="en-US" sz="2200" dirty="0"/>
          </a:p>
        </p:txBody>
      </p:sp>
      <p:sp>
        <p:nvSpPr>
          <p:cNvPr id="14" name="Shape 12"/>
          <p:cNvSpPr/>
          <p:nvPr/>
        </p:nvSpPr>
        <p:spPr>
          <a:xfrm>
            <a:off x="457200" y="2606040"/>
            <a:ext cx="2121408" cy="3291840"/>
          </a:xfrm>
          <a:prstGeom prst="rect">
            <a:avLst/>
          </a:prstGeom>
          <a:solidFill>
            <a:srgbClr val="FFFFFF"/>
          </a:solidFill>
          <a:ln w="9525">
            <a:solidFill>
              <a:srgbClr val="C8C8C8"/>
            </a:solidFill>
            <a:prstDash val="solid"/>
          </a:ln>
        </p:spPr>
      </p:sp>
      <p:sp>
        <p:nvSpPr>
          <p:cNvPr id="15" name="Text 13"/>
          <p:cNvSpPr/>
          <p:nvPr/>
        </p:nvSpPr>
        <p:spPr>
          <a:xfrm>
            <a:off x="566928" y="2743200"/>
            <a:ext cx="1901952" cy="685800"/>
          </a:xfrm>
          <a:prstGeom prst="rect">
            <a:avLst/>
          </a:prstGeom>
          <a:noFill/>
          <a:ln/>
        </p:spPr>
        <p:txBody>
          <a:bodyPr wrap="square" lIns="0" tIns="0" rIns="0" bIns="0" rtlCol="0" anchor="ctr"/>
          <a:lstStyle/>
          <a:p>
            <a:pPr algn="ctr" indent="0" marL="0">
              <a:buNone/>
            </a:pPr>
            <a:r>
              <a:rPr lang="en-US" sz="1200" b="1" dirty="0">
                <a:solidFill>
                  <a:srgbClr val="16324F"/>
                </a:solidFill>
                <a:latin typeface="Yu Gothic" pitchFamily="34" charset="0"/>
                <a:ea typeface="Yu Gothic" pitchFamily="34" charset="-122"/>
                <a:cs typeface="Yu Gothic" pitchFamily="34" charset="-120"/>
              </a:rPr>
              <a:t>正極ドーピング</a:t>
            </a:r>
            <a:endParaRPr lang="en-US" sz="1200" dirty="0"/>
          </a:p>
        </p:txBody>
      </p:sp>
      <p:sp>
        <p:nvSpPr>
          <p:cNvPr id="16" name="Text 14"/>
          <p:cNvSpPr/>
          <p:nvPr/>
        </p:nvSpPr>
        <p:spPr>
          <a:xfrm>
            <a:off x="594360" y="3520440"/>
            <a:ext cx="1847088" cy="2194560"/>
          </a:xfrm>
          <a:prstGeom prst="rect">
            <a:avLst/>
          </a:prstGeom>
          <a:noFill/>
          <a:ln/>
        </p:spPr>
        <p:txBody>
          <a:bodyPr wrap="square" lIns="0" tIns="0" rIns="0" bIns="0" rtlCol="0" anchor="t"/>
          <a:lstStyle/>
          <a:p>
            <a:pPr algn="ctr" indent="0" marL="0">
              <a:buNone/>
            </a:pPr>
            <a:r>
              <a:rPr lang="en-US" sz="950" dirty="0">
                <a:solidFill>
                  <a:srgbClr val="1A1A1A"/>
                </a:solidFill>
                <a:latin typeface="Yu Gothic" pitchFamily="34" charset="0"/>
                <a:ea typeface="Yu Gothic" pitchFamily="34" charset="-122"/>
                <a:cs typeface="Yu Gothic" pitchFamily="34" charset="-120"/>
              </a:rPr>
              <a:t>NbドナードーピングによりNCM表面を安定化 — サイクル寿命 ×3</a:t>
            </a:r>
            <a:endParaRPr lang="en-US" sz="950" dirty="0"/>
          </a:p>
        </p:txBody>
      </p:sp>
      <p:sp>
        <p:nvSpPr>
          <p:cNvPr id="17" name="Shape 15"/>
          <p:cNvSpPr/>
          <p:nvPr/>
        </p:nvSpPr>
        <p:spPr>
          <a:xfrm>
            <a:off x="2761488" y="1691640"/>
            <a:ext cx="2121408" cy="914400"/>
          </a:xfrm>
          <a:prstGeom prst="rect">
            <a:avLst/>
          </a:prstGeom>
          <a:solidFill>
            <a:srgbClr val="16324F"/>
          </a:solidFill>
          <a:ln/>
        </p:spPr>
      </p:sp>
      <p:sp>
        <p:nvSpPr>
          <p:cNvPr id="18" name="Text 16"/>
          <p:cNvSpPr/>
          <p:nvPr/>
        </p:nvSpPr>
        <p:spPr>
          <a:xfrm>
            <a:off x="2761488" y="1691640"/>
            <a:ext cx="2121408" cy="914400"/>
          </a:xfrm>
          <a:prstGeom prst="rect">
            <a:avLst/>
          </a:prstGeom>
          <a:noFill/>
          <a:ln/>
        </p:spPr>
        <p:txBody>
          <a:bodyPr wrap="square" lIns="0" tIns="0" rIns="0" bIns="0" rtlCol="0" anchor="ctr"/>
          <a:lstStyle/>
          <a:p>
            <a:pPr algn="ctr" indent="0" marL="0">
              <a:buNone/>
            </a:pPr>
            <a:r>
              <a:rPr lang="en-US" sz="2200" b="1" dirty="0">
                <a:solidFill>
                  <a:srgbClr val="C9A227"/>
                </a:solidFill>
                <a:latin typeface="Arial" pitchFamily="34" charset="0"/>
                <a:ea typeface="Arial" pitchFamily="34" charset="-122"/>
                <a:cs typeface="Arial" pitchFamily="34" charset="-120"/>
              </a:rPr>
              <a:t>02</a:t>
            </a:r>
            <a:endParaRPr lang="en-US" sz="2200" dirty="0"/>
          </a:p>
        </p:txBody>
      </p:sp>
      <p:sp>
        <p:nvSpPr>
          <p:cNvPr id="19" name="Shape 17"/>
          <p:cNvSpPr/>
          <p:nvPr/>
        </p:nvSpPr>
        <p:spPr>
          <a:xfrm>
            <a:off x="2761488" y="2606040"/>
            <a:ext cx="2121408" cy="3291840"/>
          </a:xfrm>
          <a:prstGeom prst="rect">
            <a:avLst/>
          </a:prstGeom>
          <a:solidFill>
            <a:srgbClr val="FFFFFF"/>
          </a:solidFill>
          <a:ln w="9525">
            <a:solidFill>
              <a:srgbClr val="C8C8C8"/>
            </a:solidFill>
            <a:prstDash val="solid"/>
          </a:ln>
        </p:spPr>
      </p:sp>
      <p:sp>
        <p:nvSpPr>
          <p:cNvPr id="20" name="Text 18"/>
          <p:cNvSpPr/>
          <p:nvPr/>
        </p:nvSpPr>
        <p:spPr>
          <a:xfrm>
            <a:off x="2871216" y="2743200"/>
            <a:ext cx="1901952" cy="685800"/>
          </a:xfrm>
          <a:prstGeom prst="rect">
            <a:avLst/>
          </a:prstGeom>
          <a:noFill/>
          <a:ln/>
        </p:spPr>
        <p:txBody>
          <a:bodyPr wrap="square" lIns="0" tIns="0" rIns="0" bIns="0" rtlCol="0" anchor="ctr"/>
          <a:lstStyle/>
          <a:p>
            <a:pPr algn="ctr" indent="0" marL="0">
              <a:buNone/>
            </a:pPr>
            <a:r>
              <a:rPr lang="en-US" sz="1200" b="1" dirty="0">
                <a:solidFill>
                  <a:srgbClr val="16324F"/>
                </a:solidFill>
                <a:latin typeface="Yu Gothic" pitchFamily="34" charset="0"/>
                <a:ea typeface="Yu Gothic" pitchFamily="34" charset="-122"/>
                <a:cs typeface="Yu Gothic" pitchFamily="34" charset="-120"/>
              </a:rPr>
              <a:t>急速充電負極</a:t>
            </a:r>
            <a:endParaRPr lang="en-US" sz="1200" dirty="0"/>
          </a:p>
        </p:txBody>
      </p:sp>
      <p:sp>
        <p:nvSpPr>
          <p:cNvPr id="21" name="Text 19"/>
          <p:cNvSpPr/>
          <p:nvPr/>
        </p:nvSpPr>
        <p:spPr>
          <a:xfrm>
            <a:off x="2898648" y="3520440"/>
            <a:ext cx="1847088" cy="2194560"/>
          </a:xfrm>
          <a:prstGeom prst="rect">
            <a:avLst/>
          </a:prstGeom>
          <a:noFill/>
          <a:ln/>
        </p:spPr>
        <p:txBody>
          <a:bodyPr wrap="square" lIns="0" tIns="0" rIns="0" bIns="0" rtlCol="0" anchor="t"/>
          <a:lstStyle/>
          <a:p>
            <a:pPr algn="ctr" indent="0" marL="0">
              <a:buNone/>
            </a:pPr>
            <a:r>
              <a:rPr lang="en-US" sz="950" dirty="0">
                <a:solidFill>
                  <a:srgbClr val="1A1A1A"/>
                </a:solidFill>
                <a:latin typeface="Yu Gothic" pitchFamily="34" charset="0"/>
                <a:ea typeface="Yu Gothic" pitchFamily="34" charset="-122"/>
                <a:cs typeface="Yu Gothic" pitchFamily="34" charset="-120"/>
              </a:rPr>
              <a:t>TiNb₂O₇の多電子酸化還元 — 20分で80%充電</a:t>
            </a:r>
            <a:endParaRPr lang="en-US" sz="950" dirty="0"/>
          </a:p>
        </p:txBody>
      </p:sp>
      <p:sp>
        <p:nvSpPr>
          <p:cNvPr id="22" name="Shape 20"/>
          <p:cNvSpPr/>
          <p:nvPr/>
        </p:nvSpPr>
        <p:spPr>
          <a:xfrm>
            <a:off x="5065776" y="1691640"/>
            <a:ext cx="2121408" cy="914400"/>
          </a:xfrm>
          <a:prstGeom prst="rect">
            <a:avLst/>
          </a:prstGeom>
          <a:solidFill>
            <a:srgbClr val="16324F"/>
          </a:solidFill>
          <a:ln/>
        </p:spPr>
      </p:sp>
      <p:sp>
        <p:nvSpPr>
          <p:cNvPr id="23" name="Text 21"/>
          <p:cNvSpPr/>
          <p:nvPr/>
        </p:nvSpPr>
        <p:spPr>
          <a:xfrm>
            <a:off x="5065776" y="1691640"/>
            <a:ext cx="2121408" cy="914400"/>
          </a:xfrm>
          <a:prstGeom prst="rect">
            <a:avLst/>
          </a:prstGeom>
          <a:noFill/>
          <a:ln/>
        </p:spPr>
        <p:txBody>
          <a:bodyPr wrap="square" lIns="0" tIns="0" rIns="0" bIns="0" rtlCol="0" anchor="ctr"/>
          <a:lstStyle/>
          <a:p>
            <a:pPr algn="ctr" indent="0" marL="0">
              <a:buNone/>
            </a:pPr>
            <a:r>
              <a:rPr lang="en-US" sz="2200" b="1" dirty="0">
                <a:solidFill>
                  <a:srgbClr val="C9A227"/>
                </a:solidFill>
                <a:latin typeface="Arial" pitchFamily="34" charset="0"/>
                <a:ea typeface="Arial" pitchFamily="34" charset="-122"/>
                <a:cs typeface="Arial" pitchFamily="34" charset="-120"/>
              </a:rPr>
              <a:t>03</a:t>
            </a:r>
            <a:endParaRPr lang="en-US" sz="2200" dirty="0"/>
          </a:p>
        </p:txBody>
      </p:sp>
      <p:sp>
        <p:nvSpPr>
          <p:cNvPr id="24" name="Shape 22"/>
          <p:cNvSpPr/>
          <p:nvPr/>
        </p:nvSpPr>
        <p:spPr>
          <a:xfrm>
            <a:off x="5065776" y="2606040"/>
            <a:ext cx="2121408" cy="3291840"/>
          </a:xfrm>
          <a:prstGeom prst="rect">
            <a:avLst/>
          </a:prstGeom>
          <a:solidFill>
            <a:srgbClr val="FFFFFF"/>
          </a:solidFill>
          <a:ln w="9525">
            <a:solidFill>
              <a:srgbClr val="C8C8C8"/>
            </a:solidFill>
            <a:prstDash val="solid"/>
          </a:ln>
        </p:spPr>
      </p:sp>
      <p:sp>
        <p:nvSpPr>
          <p:cNvPr id="25" name="Text 23"/>
          <p:cNvSpPr/>
          <p:nvPr/>
        </p:nvSpPr>
        <p:spPr>
          <a:xfrm>
            <a:off x="5175504" y="2743200"/>
            <a:ext cx="1901952" cy="685800"/>
          </a:xfrm>
          <a:prstGeom prst="rect">
            <a:avLst/>
          </a:prstGeom>
          <a:noFill/>
          <a:ln/>
        </p:spPr>
        <p:txBody>
          <a:bodyPr wrap="square" lIns="0" tIns="0" rIns="0" bIns="0" rtlCol="0" anchor="ctr"/>
          <a:lstStyle/>
          <a:p>
            <a:pPr algn="ctr" indent="0" marL="0">
              <a:buNone/>
            </a:pPr>
            <a:r>
              <a:rPr lang="en-US" sz="1200" b="1" dirty="0">
                <a:solidFill>
                  <a:srgbClr val="16324F"/>
                </a:solidFill>
                <a:latin typeface="Yu Gothic" pitchFamily="34" charset="0"/>
                <a:ea typeface="Yu Gothic" pitchFamily="34" charset="-122"/>
                <a:cs typeface="Yu Gothic" pitchFamily="34" charset="-120"/>
              </a:rPr>
              <a:t>SEIフリー界面</a:t>
            </a:r>
            <a:endParaRPr lang="en-US" sz="1200" dirty="0"/>
          </a:p>
        </p:txBody>
      </p:sp>
      <p:sp>
        <p:nvSpPr>
          <p:cNvPr id="26" name="Text 24"/>
          <p:cNvSpPr/>
          <p:nvPr/>
        </p:nvSpPr>
        <p:spPr>
          <a:xfrm>
            <a:off x="5202936" y="3520440"/>
            <a:ext cx="1847088" cy="2194560"/>
          </a:xfrm>
          <a:prstGeom prst="rect">
            <a:avLst/>
          </a:prstGeom>
          <a:noFill/>
          <a:ln/>
        </p:spPr>
        <p:txBody>
          <a:bodyPr wrap="square" lIns="0" tIns="0" rIns="0" bIns="0" rtlCol="0" anchor="t"/>
          <a:lstStyle/>
          <a:p>
            <a:pPr algn="ctr" indent="0" marL="0">
              <a:buNone/>
            </a:pPr>
            <a:r>
              <a:rPr lang="en-US" sz="950" dirty="0">
                <a:solidFill>
                  <a:srgbClr val="1A1A1A"/>
                </a:solidFill>
                <a:latin typeface="Yu Gothic" pitchFamily="34" charset="0"/>
                <a:ea typeface="Yu Gothic" pitchFamily="34" charset="-122"/>
                <a:cs typeface="Yu Gothic" pitchFamily="34" charset="-120"/>
              </a:rPr>
              <a:t>固体酸化物界面 — SEI形成を根源から遮断</a:t>
            </a:r>
            <a:endParaRPr lang="en-US" sz="950" dirty="0"/>
          </a:p>
        </p:txBody>
      </p:sp>
      <p:sp>
        <p:nvSpPr>
          <p:cNvPr id="27" name="Shape 25"/>
          <p:cNvSpPr/>
          <p:nvPr/>
        </p:nvSpPr>
        <p:spPr>
          <a:xfrm>
            <a:off x="7370064" y="1691640"/>
            <a:ext cx="2121408" cy="914400"/>
          </a:xfrm>
          <a:prstGeom prst="rect">
            <a:avLst/>
          </a:prstGeom>
          <a:solidFill>
            <a:srgbClr val="16324F"/>
          </a:solidFill>
          <a:ln/>
        </p:spPr>
      </p:sp>
      <p:sp>
        <p:nvSpPr>
          <p:cNvPr id="28" name="Text 26"/>
          <p:cNvSpPr/>
          <p:nvPr/>
        </p:nvSpPr>
        <p:spPr>
          <a:xfrm>
            <a:off x="7370064" y="1691640"/>
            <a:ext cx="2121408" cy="914400"/>
          </a:xfrm>
          <a:prstGeom prst="rect">
            <a:avLst/>
          </a:prstGeom>
          <a:noFill/>
          <a:ln/>
        </p:spPr>
        <p:txBody>
          <a:bodyPr wrap="square" lIns="0" tIns="0" rIns="0" bIns="0" rtlCol="0" anchor="ctr"/>
          <a:lstStyle/>
          <a:p>
            <a:pPr algn="ctr" indent="0" marL="0">
              <a:buNone/>
            </a:pPr>
            <a:r>
              <a:rPr lang="en-US" sz="2200" b="1" dirty="0">
                <a:solidFill>
                  <a:srgbClr val="C9A227"/>
                </a:solidFill>
                <a:latin typeface="Arial" pitchFamily="34" charset="0"/>
                <a:ea typeface="Arial" pitchFamily="34" charset="-122"/>
                <a:cs typeface="Arial" pitchFamily="34" charset="-120"/>
              </a:rPr>
              <a:t>04</a:t>
            </a:r>
            <a:endParaRPr lang="en-US" sz="2200" dirty="0"/>
          </a:p>
        </p:txBody>
      </p:sp>
      <p:sp>
        <p:nvSpPr>
          <p:cNvPr id="29" name="Shape 27"/>
          <p:cNvSpPr/>
          <p:nvPr/>
        </p:nvSpPr>
        <p:spPr>
          <a:xfrm>
            <a:off x="7370064" y="2606040"/>
            <a:ext cx="2121408" cy="3291840"/>
          </a:xfrm>
          <a:prstGeom prst="rect">
            <a:avLst/>
          </a:prstGeom>
          <a:solidFill>
            <a:srgbClr val="FFFFFF"/>
          </a:solidFill>
          <a:ln w="9525">
            <a:solidFill>
              <a:srgbClr val="C8C8C8"/>
            </a:solidFill>
            <a:prstDash val="solid"/>
          </a:ln>
        </p:spPr>
      </p:sp>
      <p:sp>
        <p:nvSpPr>
          <p:cNvPr id="30" name="Text 28"/>
          <p:cNvSpPr/>
          <p:nvPr/>
        </p:nvSpPr>
        <p:spPr>
          <a:xfrm>
            <a:off x="7479792" y="2743200"/>
            <a:ext cx="1901952" cy="685800"/>
          </a:xfrm>
          <a:prstGeom prst="rect">
            <a:avLst/>
          </a:prstGeom>
          <a:noFill/>
          <a:ln/>
        </p:spPr>
        <p:txBody>
          <a:bodyPr wrap="square" lIns="0" tIns="0" rIns="0" bIns="0" rtlCol="0" anchor="ctr"/>
          <a:lstStyle/>
          <a:p>
            <a:pPr algn="ctr" indent="0" marL="0">
              <a:buNone/>
            </a:pPr>
            <a:r>
              <a:rPr lang="en-US" sz="1200" b="1" dirty="0">
                <a:solidFill>
                  <a:srgbClr val="16324F"/>
                </a:solidFill>
                <a:latin typeface="Yu Gothic" pitchFamily="34" charset="0"/>
                <a:ea typeface="Yu Gothic" pitchFamily="34" charset="-122"/>
                <a:cs typeface="Yu Gothic" pitchFamily="34" charset="-120"/>
              </a:rPr>
              <a:t>電解質安定化</a:t>
            </a:r>
            <a:endParaRPr lang="en-US" sz="1200" dirty="0"/>
          </a:p>
        </p:txBody>
      </p:sp>
      <p:sp>
        <p:nvSpPr>
          <p:cNvPr id="31" name="Text 29"/>
          <p:cNvSpPr/>
          <p:nvPr/>
        </p:nvSpPr>
        <p:spPr>
          <a:xfrm>
            <a:off x="7507224" y="3520440"/>
            <a:ext cx="1847088" cy="2194560"/>
          </a:xfrm>
          <a:prstGeom prst="rect">
            <a:avLst/>
          </a:prstGeom>
          <a:noFill/>
          <a:ln/>
        </p:spPr>
        <p:txBody>
          <a:bodyPr wrap="square" lIns="0" tIns="0" rIns="0" bIns="0" rtlCol="0" anchor="t"/>
          <a:lstStyle/>
          <a:p>
            <a:pPr algn="ctr" indent="0" marL="0">
              <a:buNone/>
            </a:pPr>
            <a:r>
              <a:rPr lang="en-US" sz="950" dirty="0">
                <a:solidFill>
                  <a:srgbClr val="1A1A1A"/>
                </a:solidFill>
                <a:latin typeface="Yu Gothic" pitchFamily="34" charset="0"/>
                <a:ea typeface="Yu Gothic" pitchFamily="34" charset="-122"/>
                <a:cs typeface="Yu Gothic" pitchFamily="34" charset="-120"/>
              </a:rPr>
              <a:t>酸化物SE界面 — 硫化物SEの分解を防止</a:t>
            </a:r>
            <a:endParaRPr lang="en-US" sz="950" dirty="0"/>
          </a:p>
        </p:txBody>
      </p:sp>
      <p:sp>
        <p:nvSpPr>
          <p:cNvPr id="32" name="Shape 30"/>
          <p:cNvSpPr/>
          <p:nvPr/>
        </p:nvSpPr>
        <p:spPr>
          <a:xfrm>
            <a:off x="9674352" y="1691640"/>
            <a:ext cx="2121408" cy="914400"/>
          </a:xfrm>
          <a:prstGeom prst="rect">
            <a:avLst/>
          </a:prstGeom>
          <a:solidFill>
            <a:srgbClr val="16324F"/>
          </a:solidFill>
          <a:ln/>
        </p:spPr>
      </p:sp>
      <p:sp>
        <p:nvSpPr>
          <p:cNvPr id="33" name="Text 31"/>
          <p:cNvSpPr/>
          <p:nvPr/>
        </p:nvSpPr>
        <p:spPr>
          <a:xfrm>
            <a:off x="9674352" y="1691640"/>
            <a:ext cx="2121408" cy="914400"/>
          </a:xfrm>
          <a:prstGeom prst="rect">
            <a:avLst/>
          </a:prstGeom>
          <a:noFill/>
          <a:ln/>
        </p:spPr>
        <p:txBody>
          <a:bodyPr wrap="square" lIns="0" tIns="0" rIns="0" bIns="0" rtlCol="0" anchor="ctr"/>
          <a:lstStyle/>
          <a:p>
            <a:pPr algn="ctr" indent="0" marL="0">
              <a:buNone/>
            </a:pPr>
            <a:r>
              <a:rPr lang="en-US" sz="2200" b="1" dirty="0">
                <a:solidFill>
                  <a:srgbClr val="C9A227"/>
                </a:solidFill>
                <a:latin typeface="Arial" pitchFamily="34" charset="0"/>
                <a:ea typeface="Arial" pitchFamily="34" charset="-122"/>
                <a:cs typeface="Arial" pitchFamily="34" charset="-120"/>
              </a:rPr>
              <a:t>05</a:t>
            </a:r>
            <a:endParaRPr lang="en-US" sz="2200" dirty="0"/>
          </a:p>
        </p:txBody>
      </p:sp>
      <p:sp>
        <p:nvSpPr>
          <p:cNvPr id="34" name="Shape 32"/>
          <p:cNvSpPr/>
          <p:nvPr/>
        </p:nvSpPr>
        <p:spPr>
          <a:xfrm>
            <a:off x="9674352" y="2606040"/>
            <a:ext cx="2121408" cy="3291840"/>
          </a:xfrm>
          <a:prstGeom prst="rect">
            <a:avLst/>
          </a:prstGeom>
          <a:solidFill>
            <a:srgbClr val="FFFFFF"/>
          </a:solidFill>
          <a:ln w="9525">
            <a:solidFill>
              <a:srgbClr val="C8C8C8"/>
            </a:solidFill>
            <a:prstDash val="solid"/>
          </a:ln>
        </p:spPr>
      </p:sp>
      <p:sp>
        <p:nvSpPr>
          <p:cNvPr id="35" name="Text 33"/>
          <p:cNvSpPr/>
          <p:nvPr/>
        </p:nvSpPr>
        <p:spPr>
          <a:xfrm>
            <a:off x="9784080" y="2743200"/>
            <a:ext cx="1901952" cy="685800"/>
          </a:xfrm>
          <a:prstGeom prst="rect">
            <a:avLst/>
          </a:prstGeom>
          <a:noFill/>
          <a:ln/>
        </p:spPr>
        <p:txBody>
          <a:bodyPr wrap="square" lIns="0" tIns="0" rIns="0" bIns="0" rtlCol="0" anchor="ctr"/>
          <a:lstStyle/>
          <a:p>
            <a:pPr algn="ctr" indent="0" marL="0">
              <a:buNone/>
            </a:pPr>
            <a:r>
              <a:rPr lang="en-US" sz="1200" b="1" dirty="0">
                <a:solidFill>
                  <a:srgbClr val="16324F"/>
                </a:solidFill>
                <a:latin typeface="Yu Gothic" pitchFamily="34" charset="0"/>
                <a:ea typeface="Yu Gothic" pitchFamily="34" charset="-122"/>
                <a:cs typeface="Yu Gothic" pitchFamily="34" charset="-120"/>
              </a:rPr>
              <a:t>寿命延長</a:t>
            </a:r>
            <a:endParaRPr lang="en-US" sz="1200" dirty="0"/>
          </a:p>
        </p:txBody>
      </p:sp>
      <p:sp>
        <p:nvSpPr>
          <p:cNvPr id="36" name="Text 34"/>
          <p:cNvSpPr/>
          <p:nvPr/>
        </p:nvSpPr>
        <p:spPr>
          <a:xfrm>
            <a:off x="9811512" y="3520440"/>
            <a:ext cx="1847088" cy="2194560"/>
          </a:xfrm>
          <a:prstGeom prst="rect">
            <a:avLst/>
          </a:prstGeom>
          <a:noFill/>
          <a:ln/>
        </p:spPr>
        <p:txBody>
          <a:bodyPr wrap="square" lIns="0" tIns="0" rIns="0" bIns="0" rtlCol="0" anchor="t"/>
          <a:lstStyle/>
          <a:p>
            <a:pPr algn="ctr" indent="0" marL="0">
              <a:buNone/>
            </a:pPr>
            <a:r>
              <a:rPr lang="en-US" sz="950" dirty="0">
                <a:solidFill>
                  <a:srgbClr val="1A1A1A"/>
                </a:solidFill>
                <a:latin typeface="Yu Gothic" pitchFamily="34" charset="0"/>
                <a:ea typeface="Yu Gothic" pitchFamily="34" charset="-122"/>
                <a:cs typeface="Yu Gothic" pitchFamily="34" charset="-120"/>
              </a:rPr>
              <a:t>ゼロひずみ挿入 — 6,000+サイクルで安定</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324F"/>
        </a:solidFill>
      </p:bgPr>
    </p:bg>
    <p:spTree>
      <p:nvGrpSpPr>
        <p:cNvPr id="1" name=""/>
        <p:cNvGrpSpPr/>
        <p:nvPr/>
      </p:nvGrpSpPr>
      <p:grpSpPr>
        <a:xfrm>
          <a:off x="0" y="0"/>
          <a:ext cx="0" cy="0"/>
          <a:chOff x="0" y="0"/>
          <a:chExt cx="0" cy="0"/>
        </a:xfrm>
      </p:grpSpPr>
      <p:sp>
        <p:nvSpPr>
          <p:cNvPr id="2" name="Text 0"/>
          <p:cNvSpPr/>
          <p:nvPr/>
        </p:nvSpPr>
        <p:spPr>
          <a:xfrm>
            <a:off x="457200" y="411480"/>
            <a:ext cx="274320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BK DONGYEOUNG TECH</a:t>
            </a:r>
            <a:endParaRPr lang="en-US" sz="900" dirty="0"/>
          </a:p>
        </p:txBody>
      </p:sp>
      <p:sp>
        <p:nvSpPr>
          <p:cNvPr id="3" name="Text 1"/>
          <p:cNvSpPr/>
          <p:nvPr/>
        </p:nvSpPr>
        <p:spPr>
          <a:xfrm>
            <a:off x="502920" y="1417320"/>
            <a:ext cx="4572000" cy="411480"/>
          </a:xfrm>
          <a:prstGeom prst="rect">
            <a:avLst/>
          </a:prstGeom>
          <a:noFill/>
          <a:ln/>
        </p:spPr>
        <p:txBody>
          <a:bodyPr wrap="square" lIns="0" tIns="0" rIns="0" bIns="0" rtlCol="0" anchor="ctr"/>
          <a:lstStyle/>
          <a:p>
            <a:pPr indent="0" marL="0">
              <a:buNone/>
            </a:pPr>
            <a:r>
              <a:rPr lang="en-US" sz="1800" b="1" dirty="0">
                <a:solidFill>
                  <a:srgbClr val="C9A227"/>
                </a:solidFill>
                <a:latin typeface="Arial" pitchFamily="34" charset="0"/>
                <a:ea typeface="Arial" pitchFamily="34" charset="-122"/>
                <a:cs typeface="Arial" pitchFamily="34" charset="-120"/>
              </a:rPr>
              <a:t>CHAPTER 03</a:t>
            </a:r>
            <a:endParaRPr lang="en-US" sz="1800" dirty="0"/>
          </a:p>
        </p:txBody>
      </p:sp>
      <p:sp>
        <p:nvSpPr>
          <p:cNvPr id="4" name="Shape 2"/>
          <p:cNvSpPr/>
          <p:nvPr/>
        </p:nvSpPr>
        <p:spPr>
          <a:xfrm>
            <a:off x="530352" y="1965960"/>
            <a:ext cx="502920" cy="64008"/>
          </a:xfrm>
          <a:prstGeom prst="rect">
            <a:avLst/>
          </a:prstGeom>
          <a:solidFill>
            <a:srgbClr val="C9A227"/>
          </a:solidFill>
          <a:ln/>
        </p:spPr>
      </p:sp>
      <p:sp>
        <p:nvSpPr>
          <p:cNvPr id="5" name="Text 3"/>
          <p:cNvSpPr/>
          <p:nvPr/>
        </p:nvSpPr>
        <p:spPr>
          <a:xfrm>
            <a:off x="457200" y="2148840"/>
            <a:ext cx="5852160" cy="2011680"/>
          </a:xfrm>
          <a:prstGeom prst="rect">
            <a:avLst/>
          </a:prstGeom>
          <a:noFill/>
          <a:ln/>
        </p:spPr>
        <p:txBody>
          <a:bodyPr wrap="square" lIns="0" tIns="0" rIns="0" bIns="0" rtlCol="0" anchor="t"/>
          <a:lstStyle/>
          <a:p>
            <a:pPr indent="0" marL="0">
              <a:buNone/>
            </a:pPr>
            <a:r>
              <a:rPr lang="en-US" sz="3400" b="1" dirty="0">
                <a:solidFill>
                  <a:srgbClr val="FFFFFF"/>
                </a:solidFill>
                <a:latin typeface="Yu Gothic" pitchFamily="34" charset="0"/>
                <a:ea typeface="Yu Gothic" pitchFamily="34" charset="-122"/>
                <a:cs typeface="Yu Gothic" pitchFamily="34" charset="-120"/>
              </a:rPr>
              <a:t>防衛グレード</a:t>
            </a:r>
            <a:endParaRPr lang="en-US" sz="3400" dirty="0"/>
          </a:p>
          <a:p>
            <a:pPr indent="0" marL="0">
              <a:buNone/>
            </a:pPr>
            <a:r>
              <a:rPr lang="en-US" sz="3400" b="1" dirty="0">
                <a:solidFill>
                  <a:srgbClr val="FFFFFF"/>
                </a:solidFill>
                <a:latin typeface="Yu Gothic" pitchFamily="34" charset="0"/>
                <a:ea typeface="Yu Gothic" pitchFamily="34" charset="-122"/>
                <a:cs typeface="Yu Gothic" pitchFamily="34" charset="-120"/>
              </a:rPr>
              <a:t>性能指標</a:t>
            </a:r>
            <a:endParaRPr lang="en-US" sz="3400" dirty="0"/>
          </a:p>
        </p:txBody>
      </p:sp>
      <p:sp>
        <p:nvSpPr>
          <p:cNvPr id="6" name="Text 4"/>
          <p:cNvSpPr/>
          <p:nvPr/>
        </p:nvSpPr>
        <p:spPr>
          <a:xfrm>
            <a:off x="502920" y="4434840"/>
            <a:ext cx="5394960" cy="1920240"/>
          </a:xfrm>
          <a:prstGeom prst="rect">
            <a:avLst/>
          </a:prstGeom>
          <a:noFill/>
          <a:ln/>
        </p:spPr>
        <p:txBody>
          <a:bodyPr wrap="square" lIns="0" tIns="0" rIns="0" bIns="0" rtlCol="0" anchor="t"/>
          <a:lstStyle/>
          <a:p>
            <a:pPr indent="0" marL="0">
              <a:buNone/>
            </a:pPr>
            <a:r>
              <a:rPr lang="en-US" sz="1150" dirty="0">
                <a:solidFill>
                  <a:srgbClr val="D8DEE8"/>
                </a:solidFill>
                <a:latin typeface="Yu Gothic" pitchFamily="34" charset="0"/>
                <a:ea typeface="Yu Gothic" pitchFamily="34" charset="-122"/>
                <a:cs typeface="Yu Gothic" pitchFamily="34" charset="-120"/>
              </a:rPr>
              <a:t>KCC・UL・ETRI・NATO・NASAが検証した4大性能指標を提示する。</a:t>
            </a:r>
            <a:endParaRPr lang="en-US" sz="1150" dirty="0"/>
          </a:p>
          <a:p>
            <a:pPr indent="0" marL="0">
              <a:buNone/>
            </a:pPr>
            <a:endParaRPr lang="en-US" sz="1150" dirty="0"/>
          </a:p>
          <a:p>
            <a:pPr indent="0" marL="0">
              <a:buNone/>
            </a:pPr>
            <a:r>
              <a:rPr lang="en-US" sz="1150" dirty="0">
                <a:solidFill>
                  <a:srgbClr val="D8DEE8"/>
                </a:solidFill>
                <a:latin typeface="Yu Gothic" pitchFamily="34" charset="0"/>
                <a:ea typeface="Yu Gothic" pitchFamily="34" charset="-122"/>
                <a:cs typeface="Yu Gothic" pitchFamily="34" charset="-120"/>
              </a:rPr>
              <a:t>エネルギー 393 Wh/kg、出力 5,900 W/kg、寿命 6,000+サイクル、熱安定性 248°C。すべての数値は公認試験報告書に基づく。</a:t>
            </a:r>
            <a:endParaRPr lang="en-US" sz="1150" dirty="0"/>
          </a:p>
        </p:txBody>
      </p:sp>
      <p:sp>
        <p:nvSpPr>
          <p:cNvPr id="7" name="Shape 5"/>
          <p:cNvSpPr/>
          <p:nvPr/>
        </p:nvSpPr>
        <p:spPr>
          <a:xfrm>
            <a:off x="6400800" y="914400"/>
            <a:ext cx="5330952" cy="5029200"/>
          </a:xfrm>
          <a:prstGeom prst="rect">
            <a:avLst/>
          </a:prstGeom>
          <a:solidFill>
            <a:srgbClr val="24466B"/>
          </a:solidFill>
          <a:ln/>
        </p:spPr>
      </p:sp>
      <p:sp>
        <p:nvSpPr>
          <p:cNvPr id="8" name="Shape 6"/>
          <p:cNvSpPr/>
          <p:nvPr/>
        </p:nvSpPr>
        <p:spPr>
          <a:xfrm>
            <a:off x="6400800" y="914400"/>
            <a:ext cx="5330952" cy="82296"/>
          </a:xfrm>
          <a:prstGeom prst="rect">
            <a:avLst/>
          </a:prstGeom>
          <a:solidFill>
            <a:srgbClr val="C9A227"/>
          </a:solidFill>
          <a:ln/>
        </p:spPr>
      </p:sp>
      <p:sp>
        <p:nvSpPr>
          <p:cNvPr id="9" name="Text 7"/>
          <p:cNvSpPr/>
          <p:nvPr/>
        </p:nvSpPr>
        <p:spPr>
          <a:xfrm>
            <a:off x="6400800" y="2743200"/>
            <a:ext cx="5330952"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TNO-S</a:t>
            </a:r>
            <a:endParaRPr lang="en-US" sz="4400" dirty="0"/>
          </a:p>
        </p:txBody>
      </p:sp>
      <p:sp>
        <p:nvSpPr>
          <p:cNvPr id="10" name="Text 8"/>
          <p:cNvSpPr/>
          <p:nvPr/>
        </p:nvSpPr>
        <p:spPr>
          <a:xfrm>
            <a:off x="6400800" y="3657600"/>
            <a:ext cx="5330952" cy="365760"/>
          </a:xfrm>
          <a:prstGeom prst="rect">
            <a:avLst/>
          </a:prstGeom>
          <a:noFill/>
          <a:ln/>
        </p:spPr>
        <p:txBody>
          <a:bodyPr wrap="square" lIns="0" tIns="0" rIns="0" bIns="0" rtlCol="0" anchor="ctr"/>
          <a:lstStyle/>
          <a:p>
            <a:pPr algn="ctr" indent="0" marL="0">
              <a:buNone/>
            </a:pPr>
            <a:r>
              <a:rPr lang="en-US" sz="1200" dirty="0">
                <a:solidFill>
                  <a:srgbClr val="C9A227"/>
                </a:solidFill>
                <a:latin typeface="Arial" pitchFamily="34" charset="0"/>
                <a:ea typeface="Arial" pitchFamily="34" charset="-122"/>
                <a:cs typeface="Arial" pitchFamily="34" charset="-120"/>
              </a:rPr>
              <a:t>Lithium-Free All-Solid-State Battery</a:t>
            </a:r>
            <a:endParaRPr lang="en-US" sz="1200" dirty="0"/>
          </a:p>
        </p:txBody>
      </p:sp>
      <p:sp>
        <p:nvSpPr>
          <p:cNvPr id="11" name="Text 9"/>
          <p:cNvSpPr/>
          <p:nvPr/>
        </p:nvSpPr>
        <p:spPr>
          <a:xfrm>
            <a:off x="10725912" y="6355080"/>
            <a:ext cx="1097280" cy="274320"/>
          </a:xfrm>
          <a:prstGeom prst="rect">
            <a:avLst/>
          </a:prstGeom>
          <a:noFill/>
          <a:ln/>
        </p:spPr>
        <p:txBody>
          <a:bodyPr wrap="square" lIns="0" tIns="0" rIns="0" bIns="0" rtlCol="0" anchor="ctr"/>
          <a:lstStyle/>
          <a:p>
            <a:pPr algn="r" indent="0" marL="0">
              <a:buNone/>
            </a:pPr>
            <a:r>
              <a:rPr lang="en-US" sz="1000" b="1" dirty="0">
                <a:solidFill>
                  <a:srgbClr val="C9A227"/>
                </a:solidFill>
                <a:latin typeface="Arial" pitchFamily="34" charset="0"/>
                <a:ea typeface="Arial" pitchFamily="34" charset="-122"/>
                <a:cs typeface="Arial" pitchFamily="34" charset="-120"/>
              </a:rPr>
              <a:t>p.17/55</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3.1  4大主要性能指標</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18/55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4大主要指標 — 認証値</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Four Headline Metrics — Certified Values</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554480"/>
            <a:ext cx="2651760" cy="1325880"/>
          </a:xfrm>
          <a:prstGeom prst="rect">
            <a:avLst/>
          </a:prstGeom>
          <a:solidFill>
            <a:srgbClr val="FFFFFF"/>
          </a:solidFill>
          <a:ln w="9525">
            <a:solidFill>
              <a:srgbClr val="C8C8C8"/>
            </a:solidFill>
            <a:prstDash val="solid"/>
          </a:ln>
        </p:spPr>
      </p:sp>
      <p:sp>
        <p:nvSpPr>
          <p:cNvPr id="13" name="Shape 11"/>
          <p:cNvSpPr/>
          <p:nvPr/>
        </p:nvSpPr>
        <p:spPr>
          <a:xfrm>
            <a:off x="457200" y="1554480"/>
            <a:ext cx="2651760" cy="73152"/>
          </a:xfrm>
          <a:prstGeom prst="rect">
            <a:avLst/>
          </a:prstGeom>
          <a:solidFill>
            <a:srgbClr val="C9A227"/>
          </a:solidFill>
          <a:ln/>
        </p:spPr>
      </p:sp>
      <p:sp>
        <p:nvSpPr>
          <p:cNvPr id="14" name="Text 12"/>
          <p:cNvSpPr/>
          <p:nvPr/>
        </p:nvSpPr>
        <p:spPr>
          <a:xfrm>
            <a:off x="457200" y="1719072"/>
            <a:ext cx="2651760" cy="596646"/>
          </a:xfrm>
          <a:prstGeom prst="rect">
            <a:avLst/>
          </a:prstGeom>
          <a:noFill/>
          <a:ln/>
        </p:spPr>
        <p:txBody>
          <a:bodyPr wrap="square" lIns="0" tIns="0" rIns="0" bIns="0" rtlCol="0" anchor="ctr"/>
          <a:lstStyle/>
          <a:p>
            <a:pPr algn="ctr" indent="0" marL="0">
              <a:buNone/>
            </a:pPr>
            <a:r>
              <a:rPr lang="en-US" sz="3400" b="1" dirty="0">
                <a:solidFill>
                  <a:srgbClr val="16324F"/>
                </a:solidFill>
                <a:latin typeface="Arial" pitchFamily="34" charset="0"/>
                <a:ea typeface="Arial" pitchFamily="34" charset="-122"/>
                <a:cs typeface="Arial" pitchFamily="34" charset="-120"/>
              </a:rPr>
              <a:t>393</a:t>
            </a:r>
            <a:endParaRPr lang="en-US" sz="3400" dirty="0"/>
          </a:p>
        </p:txBody>
      </p:sp>
      <p:sp>
        <p:nvSpPr>
          <p:cNvPr id="15" name="Text 13"/>
          <p:cNvSpPr/>
          <p:nvPr/>
        </p:nvSpPr>
        <p:spPr>
          <a:xfrm>
            <a:off x="457200" y="2283714"/>
            <a:ext cx="2651760" cy="274320"/>
          </a:xfrm>
          <a:prstGeom prst="rect">
            <a:avLst/>
          </a:prstGeom>
          <a:noFill/>
          <a:ln/>
        </p:spPr>
        <p:txBody>
          <a:bodyPr wrap="square" lIns="0" tIns="0" rIns="0" bIns="0" rtlCol="0" anchor="ctr"/>
          <a:lstStyle/>
          <a:p>
            <a:pPr algn="ctr" indent="0" marL="0">
              <a:buNone/>
            </a:pPr>
            <a:r>
              <a:rPr lang="en-US" sz="1200" b="1" dirty="0">
                <a:solidFill>
                  <a:srgbClr val="C9A227"/>
                </a:solidFill>
                <a:latin typeface="Yu Gothic" pitchFamily="34" charset="0"/>
                <a:ea typeface="Yu Gothic" pitchFamily="34" charset="-122"/>
                <a:cs typeface="Yu Gothic" pitchFamily="34" charset="-120"/>
              </a:rPr>
              <a:t>Wh/kg</a:t>
            </a:r>
            <a:endParaRPr lang="en-US" sz="1200" dirty="0"/>
          </a:p>
        </p:txBody>
      </p:sp>
      <p:sp>
        <p:nvSpPr>
          <p:cNvPr id="16" name="Text 14"/>
          <p:cNvSpPr/>
          <p:nvPr/>
        </p:nvSpPr>
        <p:spPr>
          <a:xfrm>
            <a:off x="457200" y="2576322"/>
            <a:ext cx="2651760" cy="292608"/>
          </a:xfrm>
          <a:prstGeom prst="rect">
            <a:avLst/>
          </a:prstGeom>
          <a:noFill/>
          <a:ln/>
        </p:spPr>
        <p:txBody>
          <a:bodyPr wrap="square" lIns="0" tIns="0" rIns="0" bIns="0" rtlCol="0" anchor="ctr"/>
          <a:lstStyle/>
          <a:p>
            <a:pPr algn="ctr" indent="0" marL="0">
              <a:buNone/>
            </a:pPr>
            <a:r>
              <a:rPr lang="en-US" sz="1000" dirty="0">
                <a:solidFill>
                  <a:srgbClr val="5A5A5A"/>
                </a:solidFill>
                <a:latin typeface="Yu Gothic" pitchFamily="34" charset="0"/>
                <a:ea typeface="Yu Gothic" pitchFamily="34" charset="-122"/>
                <a:cs typeface="Yu Gothic" pitchFamily="34" charset="-120"/>
              </a:rPr>
              <a:t>エネルギー密度(重量)</a:t>
            </a:r>
            <a:endParaRPr lang="en-US" sz="1000" dirty="0"/>
          </a:p>
        </p:txBody>
      </p:sp>
      <p:sp>
        <p:nvSpPr>
          <p:cNvPr id="17" name="Shape 15"/>
          <p:cNvSpPr/>
          <p:nvPr/>
        </p:nvSpPr>
        <p:spPr>
          <a:xfrm>
            <a:off x="3337560" y="1554480"/>
            <a:ext cx="2651760" cy="1325880"/>
          </a:xfrm>
          <a:prstGeom prst="rect">
            <a:avLst/>
          </a:prstGeom>
          <a:solidFill>
            <a:srgbClr val="FFFFFF"/>
          </a:solidFill>
          <a:ln w="9525">
            <a:solidFill>
              <a:srgbClr val="C8C8C8"/>
            </a:solidFill>
            <a:prstDash val="solid"/>
          </a:ln>
        </p:spPr>
      </p:sp>
      <p:sp>
        <p:nvSpPr>
          <p:cNvPr id="18" name="Shape 16"/>
          <p:cNvSpPr/>
          <p:nvPr/>
        </p:nvSpPr>
        <p:spPr>
          <a:xfrm>
            <a:off x="3337560" y="1554480"/>
            <a:ext cx="2651760" cy="73152"/>
          </a:xfrm>
          <a:prstGeom prst="rect">
            <a:avLst/>
          </a:prstGeom>
          <a:solidFill>
            <a:srgbClr val="4F6238"/>
          </a:solidFill>
          <a:ln/>
        </p:spPr>
      </p:sp>
      <p:sp>
        <p:nvSpPr>
          <p:cNvPr id="19" name="Text 17"/>
          <p:cNvSpPr/>
          <p:nvPr/>
        </p:nvSpPr>
        <p:spPr>
          <a:xfrm>
            <a:off x="3337560" y="1719072"/>
            <a:ext cx="2651760" cy="596646"/>
          </a:xfrm>
          <a:prstGeom prst="rect">
            <a:avLst/>
          </a:prstGeom>
          <a:noFill/>
          <a:ln/>
        </p:spPr>
        <p:txBody>
          <a:bodyPr wrap="square" lIns="0" tIns="0" rIns="0" bIns="0" rtlCol="0" anchor="ctr"/>
          <a:lstStyle/>
          <a:p>
            <a:pPr algn="ctr" indent="0" marL="0">
              <a:buNone/>
            </a:pPr>
            <a:r>
              <a:rPr lang="en-US" sz="3400" b="1" dirty="0">
                <a:solidFill>
                  <a:srgbClr val="16324F"/>
                </a:solidFill>
                <a:latin typeface="Arial" pitchFamily="34" charset="0"/>
                <a:ea typeface="Arial" pitchFamily="34" charset="-122"/>
                <a:cs typeface="Arial" pitchFamily="34" charset="-120"/>
              </a:rPr>
              <a:t>986</a:t>
            </a:r>
            <a:endParaRPr lang="en-US" sz="3400" dirty="0"/>
          </a:p>
        </p:txBody>
      </p:sp>
      <p:sp>
        <p:nvSpPr>
          <p:cNvPr id="20" name="Text 18"/>
          <p:cNvSpPr/>
          <p:nvPr/>
        </p:nvSpPr>
        <p:spPr>
          <a:xfrm>
            <a:off x="3337560" y="2283714"/>
            <a:ext cx="2651760" cy="274320"/>
          </a:xfrm>
          <a:prstGeom prst="rect">
            <a:avLst/>
          </a:prstGeom>
          <a:noFill/>
          <a:ln/>
        </p:spPr>
        <p:txBody>
          <a:bodyPr wrap="square" lIns="0" tIns="0" rIns="0" bIns="0" rtlCol="0" anchor="ctr"/>
          <a:lstStyle/>
          <a:p>
            <a:pPr algn="ctr" indent="0" marL="0">
              <a:buNone/>
            </a:pPr>
            <a:r>
              <a:rPr lang="en-US" sz="1200" b="1" dirty="0">
                <a:solidFill>
                  <a:srgbClr val="4F6238"/>
                </a:solidFill>
                <a:latin typeface="Yu Gothic" pitchFamily="34" charset="0"/>
                <a:ea typeface="Yu Gothic" pitchFamily="34" charset="-122"/>
                <a:cs typeface="Yu Gothic" pitchFamily="34" charset="-120"/>
              </a:rPr>
              <a:t>Wh/L</a:t>
            </a:r>
            <a:endParaRPr lang="en-US" sz="1200" dirty="0"/>
          </a:p>
        </p:txBody>
      </p:sp>
      <p:sp>
        <p:nvSpPr>
          <p:cNvPr id="21" name="Text 19"/>
          <p:cNvSpPr/>
          <p:nvPr/>
        </p:nvSpPr>
        <p:spPr>
          <a:xfrm>
            <a:off x="3337560" y="2576322"/>
            <a:ext cx="2651760" cy="292608"/>
          </a:xfrm>
          <a:prstGeom prst="rect">
            <a:avLst/>
          </a:prstGeom>
          <a:noFill/>
          <a:ln/>
        </p:spPr>
        <p:txBody>
          <a:bodyPr wrap="square" lIns="0" tIns="0" rIns="0" bIns="0" rtlCol="0" anchor="ctr"/>
          <a:lstStyle/>
          <a:p>
            <a:pPr algn="ctr" indent="0" marL="0">
              <a:buNone/>
            </a:pPr>
            <a:r>
              <a:rPr lang="en-US" sz="1000" dirty="0">
                <a:solidFill>
                  <a:srgbClr val="5A5A5A"/>
                </a:solidFill>
                <a:latin typeface="Yu Gothic" pitchFamily="34" charset="0"/>
                <a:ea typeface="Yu Gothic" pitchFamily="34" charset="-122"/>
                <a:cs typeface="Yu Gothic" pitchFamily="34" charset="-120"/>
              </a:rPr>
              <a:t>エネルギー密度(体積)</a:t>
            </a:r>
            <a:endParaRPr lang="en-US" sz="1000" dirty="0"/>
          </a:p>
        </p:txBody>
      </p:sp>
      <p:sp>
        <p:nvSpPr>
          <p:cNvPr id="22" name="Shape 20"/>
          <p:cNvSpPr/>
          <p:nvPr/>
        </p:nvSpPr>
        <p:spPr>
          <a:xfrm>
            <a:off x="6217920" y="1554480"/>
            <a:ext cx="2651760" cy="1325880"/>
          </a:xfrm>
          <a:prstGeom prst="rect">
            <a:avLst/>
          </a:prstGeom>
          <a:solidFill>
            <a:srgbClr val="FFFFFF"/>
          </a:solidFill>
          <a:ln w="9525">
            <a:solidFill>
              <a:srgbClr val="C8C8C8"/>
            </a:solidFill>
            <a:prstDash val="solid"/>
          </a:ln>
        </p:spPr>
      </p:sp>
      <p:sp>
        <p:nvSpPr>
          <p:cNvPr id="23" name="Shape 21"/>
          <p:cNvSpPr/>
          <p:nvPr/>
        </p:nvSpPr>
        <p:spPr>
          <a:xfrm>
            <a:off x="6217920" y="1554480"/>
            <a:ext cx="2651760" cy="73152"/>
          </a:xfrm>
          <a:prstGeom prst="rect">
            <a:avLst/>
          </a:prstGeom>
          <a:solidFill>
            <a:srgbClr val="45586E"/>
          </a:solidFill>
          <a:ln/>
        </p:spPr>
      </p:sp>
      <p:sp>
        <p:nvSpPr>
          <p:cNvPr id="24" name="Text 22"/>
          <p:cNvSpPr/>
          <p:nvPr/>
        </p:nvSpPr>
        <p:spPr>
          <a:xfrm>
            <a:off x="6217920" y="1719072"/>
            <a:ext cx="2651760" cy="596646"/>
          </a:xfrm>
          <a:prstGeom prst="rect">
            <a:avLst/>
          </a:prstGeom>
          <a:noFill/>
          <a:ln/>
        </p:spPr>
        <p:txBody>
          <a:bodyPr wrap="square" lIns="0" tIns="0" rIns="0" bIns="0" rtlCol="0" anchor="ctr"/>
          <a:lstStyle/>
          <a:p>
            <a:pPr algn="ctr" indent="0" marL="0">
              <a:buNone/>
            </a:pPr>
            <a:r>
              <a:rPr lang="en-US" sz="3400" b="1" dirty="0">
                <a:solidFill>
                  <a:srgbClr val="16324F"/>
                </a:solidFill>
                <a:latin typeface="Arial" pitchFamily="34" charset="0"/>
                <a:ea typeface="Arial" pitchFamily="34" charset="-122"/>
                <a:cs typeface="Arial" pitchFamily="34" charset="-120"/>
              </a:rPr>
              <a:t>5,900+</a:t>
            </a:r>
            <a:endParaRPr lang="en-US" sz="3400" dirty="0"/>
          </a:p>
        </p:txBody>
      </p:sp>
      <p:sp>
        <p:nvSpPr>
          <p:cNvPr id="25" name="Text 23"/>
          <p:cNvSpPr/>
          <p:nvPr/>
        </p:nvSpPr>
        <p:spPr>
          <a:xfrm>
            <a:off x="6217920" y="2283714"/>
            <a:ext cx="2651760" cy="274320"/>
          </a:xfrm>
          <a:prstGeom prst="rect">
            <a:avLst/>
          </a:prstGeom>
          <a:noFill/>
          <a:ln/>
        </p:spPr>
        <p:txBody>
          <a:bodyPr wrap="square" lIns="0" tIns="0" rIns="0" bIns="0" rtlCol="0" anchor="ctr"/>
          <a:lstStyle/>
          <a:p>
            <a:pPr algn="ctr" indent="0" marL="0">
              <a:buNone/>
            </a:pPr>
            <a:r>
              <a:rPr lang="en-US" sz="1200" b="1" dirty="0">
                <a:solidFill>
                  <a:srgbClr val="45586E"/>
                </a:solidFill>
                <a:latin typeface="Yu Gothic" pitchFamily="34" charset="0"/>
                <a:ea typeface="Yu Gothic" pitchFamily="34" charset="-122"/>
                <a:cs typeface="Yu Gothic" pitchFamily="34" charset="-120"/>
              </a:rPr>
              <a:t>W/kg</a:t>
            </a:r>
            <a:endParaRPr lang="en-US" sz="1200" dirty="0"/>
          </a:p>
        </p:txBody>
      </p:sp>
      <p:sp>
        <p:nvSpPr>
          <p:cNvPr id="26" name="Text 24"/>
          <p:cNvSpPr/>
          <p:nvPr/>
        </p:nvSpPr>
        <p:spPr>
          <a:xfrm>
            <a:off x="6217920" y="2576322"/>
            <a:ext cx="2651760" cy="292608"/>
          </a:xfrm>
          <a:prstGeom prst="rect">
            <a:avLst/>
          </a:prstGeom>
          <a:noFill/>
          <a:ln/>
        </p:spPr>
        <p:txBody>
          <a:bodyPr wrap="square" lIns="0" tIns="0" rIns="0" bIns="0" rtlCol="0" anchor="ctr"/>
          <a:lstStyle/>
          <a:p>
            <a:pPr algn="ctr" indent="0" marL="0">
              <a:buNone/>
            </a:pPr>
            <a:r>
              <a:rPr lang="en-US" sz="1000" dirty="0">
                <a:solidFill>
                  <a:srgbClr val="5A5A5A"/>
                </a:solidFill>
                <a:latin typeface="Yu Gothic" pitchFamily="34" charset="0"/>
                <a:ea typeface="Yu Gothic" pitchFamily="34" charset="-122"/>
                <a:cs typeface="Yu Gothic" pitchFamily="34" charset="-120"/>
              </a:rPr>
              <a:t>出力密度</a:t>
            </a:r>
            <a:endParaRPr lang="en-US" sz="1000" dirty="0"/>
          </a:p>
        </p:txBody>
      </p:sp>
      <p:sp>
        <p:nvSpPr>
          <p:cNvPr id="27" name="Shape 25"/>
          <p:cNvSpPr/>
          <p:nvPr/>
        </p:nvSpPr>
        <p:spPr>
          <a:xfrm>
            <a:off x="9098280" y="1554480"/>
            <a:ext cx="2651760" cy="1325880"/>
          </a:xfrm>
          <a:prstGeom prst="rect">
            <a:avLst/>
          </a:prstGeom>
          <a:solidFill>
            <a:srgbClr val="FFFFFF"/>
          </a:solidFill>
          <a:ln w="9525">
            <a:solidFill>
              <a:srgbClr val="C8C8C8"/>
            </a:solidFill>
            <a:prstDash val="solid"/>
          </a:ln>
        </p:spPr>
      </p:sp>
      <p:sp>
        <p:nvSpPr>
          <p:cNvPr id="28" name="Shape 26"/>
          <p:cNvSpPr/>
          <p:nvPr/>
        </p:nvSpPr>
        <p:spPr>
          <a:xfrm>
            <a:off x="9098280" y="1554480"/>
            <a:ext cx="2651760" cy="73152"/>
          </a:xfrm>
          <a:prstGeom prst="rect">
            <a:avLst/>
          </a:prstGeom>
          <a:solidFill>
            <a:srgbClr val="B03A2E"/>
          </a:solidFill>
          <a:ln/>
        </p:spPr>
      </p:sp>
      <p:sp>
        <p:nvSpPr>
          <p:cNvPr id="29" name="Text 27"/>
          <p:cNvSpPr/>
          <p:nvPr/>
        </p:nvSpPr>
        <p:spPr>
          <a:xfrm>
            <a:off x="9098280" y="1719072"/>
            <a:ext cx="2651760" cy="596646"/>
          </a:xfrm>
          <a:prstGeom prst="rect">
            <a:avLst/>
          </a:prstGeom>
          <a:noFill/>
          <a:ln/>
        </p:spPr>
        <p:txBody>
          <a:bodyPr wrap="square" lIns="0" tIns="0" rIns="0" bIns="0" rtlCol="0" anchor="ctr"/>
          <a:lstStyle/>
          <a:p>
            <a:pPr algn="ctr" indent="0" marL="0">
              <a:buNone/>
            </a:pPr>
            <a:r>
              <a:rPr lang="en-US" sz="3400" b="1" dirty="0">
                <a:solidFill>
                  <a:srgbClr val="16324F"/>
                </a:solidFill>
                <a:latin typeface="Arial" pitchFamily="34" charset="0"/>
                <a:ea typeface="Arial" pitchFamily="34" charset="-122"/>
                <a:cs typeface="Arial" pitchFamily="34" charset="-120"/>
              </a:rPr>
              <a:t>248</a:t>
            </a:r>
            <a:endParaRPr lang="en-US" sz="3400" dirty="0"/>
          </a:p>
        </p:txBody>
      </p:sp>
      <p:sp>
        <p:nvSpPr>
          <p:cNvPr id="30" name="Text 28"/>
          <p:cNvSpPr/>
          <p:nvPr/>
        </p:nvSpPr>
        <p:spPr>
          <a:xfrm>
            <a:off x="9098280" y="2283714"/>
            <a:ext cx="2651760" cy="274320"/>
          </a:xfrm>
          <a:prstGeom prst="rect">
            <a:avLst/>
          </a:prstGeom>
          <a:noFill/>
          <a:ln/>
        </p:spPr>
        <p:txBody>
          <a:bodyPr wrap="square" lIns="0" tIns="0" rIns="0" bIns="0" rtlCol="0" anchor="ctr"/>
          <a:lstStyle/>
          <a:p>
            <a:pPr algn="ctr" indent="0" marL="0">
              <a:buNone/>
            </a:pPr>
            <a:r>
              <a:rPr lang="en-US" sz="1200" b="1" dirty="0">
                <a:solidFill>
                  <a:srgbClr val="B03A2E"/>
                </a:solidFill>
                <a:latin typeface="Yu Gothic" pitchFamily="34" charset="0"/>
                <a:ea typeface="Yu Gothic" pitchFamily="34" charset="-122"/>
                <a:cs typeface="Yu Gothic" pitchFamily="34" charset="-120"/>
              </a:rPr>
              <a:t>°C</a:t>
            </a:r>
            <a:endParaRPr lang="en-US" sz="1200" dirty="0"/>
          </a:p>
        </p:txBody>
      </p:sp>
      <p:sp>
        <p:nvSpPr>
          <p:cNvPr id="31" name="Text 29"/>
          <p:cNvSpPr/>
          <p:nvPr/>
        </p:nvSpPr>
        <p:spPr>
          <a:xfrm>
            <a:off x="9098280" y="2576322"/>
            <a:ext cx="2651760" cy="292608"/>
          </a:xfrm>
          <a:prstGeom prst="rect">
            <a:avLst/>
          </a:prstGeom>
          <a:noFill/>
          <a:ln/>
        </p:spPr>
        <p:txBody>
          <a:bodyPr wrap="square" lIns="0" tIns="0" rIns="0" bIns="0" rtlCol="0" anchor="ctr"/>
          <a:lstStyle/>
          <a:p>
            <a:pPr algn="ctr" indent="0" marL="0">
              <a:buNone/>
            </a:pPr>
            <a:r>
              <a:rPr lang="en-US" sz="1000" dirty="0">
                <a:solidFill>
                  <a:srgbClr val="5A5A5A"/>
                </a:solidFill>
                <a:latin typeface="Yu Gothic" pitchFamily="34" charset="0"/>
                <a:ea typeface="Yu Gothic" pitchFamily="34" charset="-122"/>
                <a:cs typeface="Yu Gothic" pitchFamily="34" charset="-120"/>
              </a:rPr>
              <a:t>熱安定性限界</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3154680"/>
          <a:ext cx="11274552" cy="914400"/>
        </p:xfrm>
        <a:graphic>
          <a:graphicData uri="http://schemas.openxmlformats.org/drawingml/2006/table">
            <a:tbl>
              <a:tblPr/>
              <a:tblGrid>
                <a:gridCol w="3108960"/>
                <a:gridCol w="1920240"/>
                <a:gridCol w="2011680"/>
                <a:gridCol w="2194560"/>
                <a:gridCol w="2039112"/>
              </a:tblGrid>
              <a:tr h="438912">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指標</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LFP</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NMC</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全固体競合</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TNO-S(検証済)</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r>
              <a:tr h="438912">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エネルギー密度(Wh/kg)</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160~180</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250~300</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400~500(構想値)</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393(検証済)</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38912">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出力密度(W/kg)</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1,000~2,000</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2,000~3,000</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300~800</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5,900+</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38912">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サイクル寿命</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3,000~3,500</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1,000~2,000</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500~1,500</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6,000+</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38912">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急速充電(80%)</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30分</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30~45分</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60分+</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20分</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38912">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熱暴走閾値</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270°C</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120~150°C</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300~400°C</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248°C(UL)</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38912">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低温動作限界</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-10°C</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-20°C</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-15°C</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50" dirty="0">
                          <a:solidFill>
                            <a:srgbClr val="1A1A1A"/>
                          </a:solidFill>
                          <a:latin typeface="Yu Gothic" pitchFamily="34" charset="0"/>
                          <a:ea typeface="Yu Gothic" pitchFamily="34" charset="-122"/>
                          <a:cs typeface="Yu Gothic" pitchFamily="34" charset="-120"/>
                        </a:rPr>
                        <a:t>-36.8°C(検証済)</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3.2 / 3.6  ポジショニングと出力密度</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19/55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Ragoneプロット上の位置と出力密度</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Positioning vs. Competitors · 15C Pulse Discharge</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645920"/>
            <a:ext cx="5394960" cy="502920"/>
          </a:xfrm>
          <a:prstGeom prst="rect">
            <a:avLst/>
          </a:prstGeom>
          <a:solidFill>
            <a:srgbClr val="16324F"/>
          </a:solidFill>
          <a:ln/>
        </p:spPr>
      </p:sp>
      <p:sp>
        <p:nvSpPr>
          <p:cNvPr id="13" name="Text 11"/>
          <p:cNvSpPr/>
          <p:nvPr/>
        </p:nvSpPr>
        <p:spPr>
          <a:xfrm>
            <a:off x="457200" y="1645920"/>
            <a:ext cx="5394960" cy="502920"/>
          </a:xfrm>
          <a:prstGeom prst="rect">
            <a:avLst/>
          </a:prstGeom>
          <a:noFill/>
          <a:ln/>
        </p:spPr>
        <p:txBody>
          <a:bodyPr wrap="square" lIns="0" tIns="0" rIns="0" bIns="0" rtlCol="0" anchor="ctr"/>
          <a:lstStyle/>
          <a:p>
            <a:pPr algn="ctr" indent="0" marL="0">
              <a:buNone/>
            </a:pPr>
            <a:r>
              <a:rPr lang="en-US" sz="1150" b="1" dirty="0">
                <a:solidFill>
                  <a:srgbClr val="C9A227"/>
                </a:solidFill>
                <a:latin typeface="Yu Gothic" pitchFamily="34" charset="0"/>
                <a:ea typeface="Yu Gothic" pitchFamily="34" charset="-122"/>
                <a:cs typeface="Yu Gothic" pitchFamily="34" charset="-120"/>
              </a:rPr>
              <a:t>WHITE-SPACE OCCUPIED(空白領域の占有)</a:t>
            </a:r>
            <a:endParaRPr lang="en-US" sz="1150" dirty="0"/>
          </a:p>
        </p:txBody>
      </p:sp>
      <p:sp>
        <p:nvSpPr>
          <p:cNvPr id="14" name="Shape 12"/>
          <p:cNvSpPr/>
          <p:nvPr/>
        </p:nvSpPr>
        <p:spPr>
          <a:xfrm>
            <a:off x="457200" y="2148840"/>
            <a:ext cx="5394960" cy="3977640"/>
          </a:xfrm>
          <a:prstGeom prst="rect">
            <a:avLst/>
          </a:prstGeom>
          <a:solidFill>
            <a:srgbClr val="FFFFFF"/>
          </a:solidFill>
          <a:ln w="9525">
            <a:solidFill>
              <a:srgbClr val="C8C8C8"/>
            </a:solidFill>
            <a:prstDash val="solid"/>
          </a:ln>
        </p:spPr>
      </p:sp>
      <p:sp>
        <p:nvSpPr>
          <p:cNvPr id="15" name="Text 13"/>
          <p:cNvSpPr/>
          <p:nvPr/>
        </p:nvSpPr>
        <p:spPr>
          <a:xfrm>
            <a:off x="731520" y="2377440"/>
            <a:ext cx="4892040" cy="201168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1A1A1A"/>
                </a:solidFill>
                <a:latin typeface="Yu Gothic" pitchFamily="34" charset="0"/>
                <a:ea typeface="Yu Gothic" pitchFamily="34" charset="-122"/>
                <a:cs typeface="Yu Gothic" pitchFamily="34" charset="-120"/>
              </a:rPr>
              <a:t>TNO-Sはエネルギーと出力の同時最適領域(右上象限)を占有</a:t>
            </a:r>
            <a:endParaRPr lang="en-US" sz="1050" dirty="0"/>
          </a:p>
          <a:p>
            <a:pPr marL="342900" indent="-342900">
              <a:spcAft>
                <a:spcPts val="600"/>
              </a:spcAft>
              <a:buSzPct val="100000"/>
              <a:buChar char="•"/>
            </a:pPr>
            <a:r>
              <a:rPr lang="en-US" sz="1050" dirty="0">
                <a:solidFill>
                  <a:srgbClr val="1A1A1A"/>
                </a:solidFill>
                <a:latin typeface="Yu Gothic" pitchFamily="34" charset="0"/>
                <a:ea typeface="Yu Gothic" pitchFamily="34" charset="-122"/>
                <a:cs typeface="Yu Gothic" pitchFamily="34" charset="-120"/>
              </a:rPr>
              <a:t>LFP / NMC:エネルギー面のみ優位</a:t>
            </a:r>
            <a:endParaRPr lang="en-US" sz="1050" dirty="0"/>
          </a:p>
          <a:p>
            <a:pPr marL="342900" indent="-342900">
              <a:spcAft>
                <a:spcPts val="600"/>
              </a:spcAft>
              <a:buSzPct val="100000"/>
              <a:buChar char="•"/>
            </a:pPr>
            <a:r>
              <a:rPr lang="en-US" sz="1050" dirty="0">
                <a:solidFill>
                  <a:srgbClr val="1A1A1A"/>
                </a:solidFill>
                <a:latin typeface="Yu Gothic" pitchFamily="34" charset="0"/>
                <a:ea typeface="Yu Gothic" pitchFamily="34" charset="-122"/>
                <a:cs typeface="Yu Gothic" pitchFamily="34" charset="-120"/>
              </a:rPr>
              <a:t>スーパーキャパシタ:出力面のみ優位</a:t>
            </a:r>
            <a:endParaRPr lang="en-US" sz="1050" dirty="0"/>
          </a:p>
          <a:p>
            <a:pPr marL="342900" indent="-342900">
              <a:spcAft>
                <a:spcPts val="600"/>
              </a:spcAft>
              <a:buSzPct val="100000"/>
              <a:buChar char="•"/>
            </a:pPr>
            <a:r>
              <a:rPr lang="en-US" sz="1050" dirty="0">
                <a:solidFill>
                  <a:srgbClr val="1A1A1A"/>
                </a:solidFill>
                <a:latin typeface="Yu Gothic" pitchFamily="34" charset="0"/>
                <a:ea typeface="Yu Gothic" pitchFamily="34" charset="-122"/>
                <a:cs typeface="Yu Gothic" pitchFamily="34" charset="-120"/>
              </a:rPr>
              <a:t>全固体競合:エネルギー↑ · 出力↓</a:t>
            </a:r>
            <a:endParaRPr lang="en-US" sz="1050" dirty="0"/>
          </a:p>
        </p:txBody>
      </p:sp>
      <p:sp>
        <p:nvSpPr>
          <p:cNvPr id="16" name="Shape 14"/>
          <p:cNvSpPr/>
          <p:nvPr/>
        </p:nvSpPr>
        <p:spPr>
          <a:xfrm>
            <a:off x="731520" y="4709160"/>
            <a:ext cx="4846320" cy="1188720"/>
          </a:xfrm>
          <a:prstGeom prst="rect">
            <a:avLst/>
          </a:prstGeom>
          <a:solidFill>
            <a:srgbClr val="EFEDE8"/>
          </a:solidFill>
          <a:ln/>
        </p:spPr>
      </p:sp>
      <p:sp>
        <p:nvSpPr>
          <p:cNvPr id="17" name="Text 15"/>
          <p:cNvSpPr/>
          <p:nvPr/>
        </p:nvSpPr>
        <p:spPr>
          <a:xfrm>
            <a:off x="868680" y="4846320"/>
            <a:ext cx="4572000" cy="914400"/>
          </a:xfrm>
          <a:prstGeom prst="rect">
            <a:avLst/>
          </a:prstGeom>
          <a:noFill/>
          <a:ln/>
        </p:spPr>
        <p:txBody>
          <a:bodyPr wrap="square" lIns="0" tIns="0" rIns="0" bIns="0" rtlCol="0" anchor="ctr"/>
          <a:lstStyle/>
          <a:p>
            <a:pPr indent="0" marL="0">
              <a:buNone/>
            </a:pPr>
            <a:r>
              <a:rPr lang="en-US" sz="1200" b="1" dirty="0">
                <a:solidFill>
                  <a:srgbClr val="16324F"/>
                </a:solidFill>
                <a:latin typeface="Yu Gothic" pitchFamily="34" charset="0"/>
                <a:ea typeface="Yu Gothic" pitchFamily="34" charset="-122"/>
                <a:cs typeface="Yu Gothic" pitchFamily="34" charset="-120"/>
              </a:rPr>
              <a:t>TNO-S = 393 Wh/kg + 5,900 W/kg を同時達成</a:t>
            </a:r>
            <a:endParaRPr lang="en-US" sz="1200" dirty="0"/>
          </a:p>
          <a:p>
            <a:pPr indent="0" marL="0">
              <a:buNone/>
            </a:pPr>
            <a:r>
              <a:rPr lang="en-US" sz="1200" b="1" dirty="0">
                <a:solidFill>
                  <a:srgbClr val="16324F"/>
                </a:solidFill>
                <a:latin typeface="Yu Gothic" pitchFamily="34" charset="0"/>
                <a:ea typeface="Yu Gothic" pitchFamily="34" charset="-122"/>
                <a:cs typeface="Yu Gothic" pitchFamily="34" charset="-120"/>
              </a:rPr>
              <a:t>— 物理的トレードオフを克服</a:t>
            </a:r>
            <a:endParaRPr lang="en-US" sz="1200" dirty="0"/>
          </a:p>
        </p:txBody>
      </p:sp>
      <p:sp>
        <p:nvSpPr>
          <p:cNvPr id="18" name="Shape 16"/>
          <p:cNvSpPr/>
          <p:nvPr/>
        </p:nvSpPr>
        <p:spPr>
          <a:xfrm>
            <a:off x="6309360" y="1645920"/>
            <a:ext cx="5422392" cy="502920"/>
          </a:xfrm>
          <a:prstGeom prst="rect">
            <a:avLst/>
          </a:prstGeom>
          <a:solidFill>
            <a:srgbClr val="16324F"/>
          </a:solidFill>
          <a:ln/>
        </p:spPr>
      </p:sp>
      <p:sp>
        <p:nvSpPr>
          <p:cNvPr id="19" name="Text 17"/>
          <p:cNvSpPr/>
          <p:nvPr/>
        </p:nvSpPr>
        <p:spPr>
          <a:xfrm>
            <a:off x="6309360" y="1645920"/>
            <a:ext cx="5422392" cy="502920"/>
          </a:xfrm>
          <a:prstGeom prst="rect">
            <a:avLst/>
          </a:prstGeom>
          <a:noFill/>
          <a:ln/>
        </p:spPr>
        <p:txBody>
          <a:bodyPr wrap="square" lIns="0" tIns="0" rIns="0" bIns="0" rtlCol="0" anchor="ctr"/>
          <a:lstStyle/>
          <a:p>
            <a:pPr algn="ctr" indent="0" marL="0">
              <a:buNone/>
            </a:pPr>
            <a:r>
              <a:rPr lang="en-US" sz="1150" b="1" dirty="0">
                <a:solidFill>
                  <a:srgbClr val="C9A227"/>
                </a:solidFill>
                <a:latin typeface="Yu Gothic" pitchFamily="34" charset="0"/>
                <a:ea typeface="Yu Gothic" pitchFamily="34" charset="-122"/>
                <a:cs typeface="Yu Gothic" pitchFamily="34" charset="-120"/>
              </a:rPr>
              <a:t>出力密度 — 5,900+ W/kg · 15Cパルス</a:t>
            </a:r>
            <a:endParaRPr lang="en-US" sz="1150" dirty="0"/>
          </a:p>
        </p:txBody>
      </p:sp>
      <p:sp>
        <p:nvSpPr>
          <p:cNvPr id="20" name="Shape 18"/>
          <p:cNvSpPr/>
          <p:nvPr/>
        </p:nvSpPr>
        <p:spPr>
          <a:xfrm>
            <a:off x="6309360" y="2286000"/>
            <a:ext cx="5422392" cy="868680"/>
          </a:xfrm>
          <a:prstGeom prst="rect">
            <a:avLst/>
          </a:prstGeom>
          <a:solidFill>
            <a:srgbClr val="FFFFFF"/>
          </a:solidFill>
          <a:ln w="9525">
            <a:solidFill>
              <a:srgbClr val="C8C8C8"/>
            </a:solidFill>
            <a:prstDash val="solid"/>
          </a:ln>
        </p:spPr>
      </p:sp>
      <p:sp>
        <p:nvSpPr>
          <p:cNvPr id="21" name="Shape 19"/>
          <p:cNvSpPr/>
          <p:nvPr/>
        </p:nvSpPr>
        <p:spPr>
          <a:xfrm>
            <a:off x="6309360" y="2286000"/>
            <a:ext cx="82296" cy="868680"/>
          </a:xfrm>
          <a:prstGeom prst="rect">
            <a:avLst/>
          </a:prstGeom>
          <a:solidFill>
            <a:srgbClr val="C9A227"/>
          </a:solidFill>
          <a:ln/>
        </p:spPr>
      </p:sp>
      <p:sp>
        <p:nvSpPr>
          <p:cNvPr id="22" name="Text 20"/>
          <p:cNvSpPr/>
          <p:nvPr/>
        </p:nvSpPr>
        <p:spPr>
          <a:xfrm>
            <a:off x="6537960" y="2359152"/>
            <a:ext cx="5074920" cy="347472"/>
          </a:xfrm>
          <a:prstGeom prst="rect">
            <a:avLst/>
          </a:prstGeom>
          <a:noFill/>
          <a:ln/>
        </p:spPr>
        <p:txBody>
          <a:bodyPr wrap="square" lIns="0" tIns="0" rIns="0" bIns="0" rtlCol="0" anchor="ctr"/>
          <a:lstStyle/>
          <a:p>
            <a:pPr indent="0" marL="0">
              <a:buNone/>
            </a:pPr>
            <a:r>
              <a:rPr lang="en-US" sz="1150" b="1" dirty="0">
                <a:solidFill>
                  <a:srgbClr val="16324F"/>
                </a:solidFill>
                <a:latin typeface="Yu Gothic" pitchFamily="34" charset="0"/>
                <a:ea typeface="Yu Gothic" pitchFamily="34" charset="-122"/>
                <a:cs typeface="Yu Gothic" pitchFamily="34" charset="-120"/>
              </a:rPr>
              <a:t>軍用ドローンの回避機動</a:t>
            </a:r>
            <a:endParaRPr lang="en-US" sz="1150" dirty="0"/>
          </a:p>
        </p:txBody>
      </p:sp>
      <p:sp>
        <p:nvSpPr>
          <p:cNvPr id="23" name="Text 21"/>
          <p:cNvSpPr/>
          <p:nvPr/>
        </p:nvSpPr>
        <p:spPr>
          <a:xfrm>
            <a:off x="6537960" y="2706624"/>
            <a:ext cx="5074920" cy="365760"/>
          </a:xfrm>
          <a:prstGeom prst="rect">
            <a:avLst/>
          </a:prstGeom>
          <a:noFill/>
          <a:ln/>
        </p:spPr>
        <p:txBody>
          <a:bodyPr wrap="square" lIns="0" tIns="0" rIns="0" bIns="0" rtlCol="0" anchor="ctr"/>
          <a:lstStyle/>
          <a:p>
            <a:pPr indent="0" marL="0">
              <a:buNone/>
            </a:pPr>
            <a:r>
              <a:rPr lang="en-US" sz="950" dirty="0">
                <a:solidFill>
                  <a:srgbClr val="1A1A1A"/>
                </a:solidFill>
                <a:latin typeface="Yu Gothic" pitchFamily="34" charset="0"/>
                <a:ea typeface="Yu Gothic" pitchFamily="34" charset="-122"/>
                <a:cs typeface="Yu Gothic" pitchFamily="34" charset="-120"/>
              </a:rPr>
              <a:t>急上昇 / 急旋回 — 15C(303 A)パルスでも安全</a:t>
            </a:r>
            <a:endParaRPr lang="en-US" sz="950" dirty="0"/>
          </a:p>
        </p:txBody>
      </p:sp>
      <p:sp>
        <p:nvSpPr>
          <p:cNvPr id="24" name="Shape 22"/>
          <p:cNvSpPr/>
          <p:nvPr/>
        </p:nvSpPr>
        <p:spPr>
          <a:xfrm>
            <a:off x="6309360" y="3291840"/>
            <a:ext cx="5422392" cy="868680"/>
          </a:xfrm>
          <a:prstGeom prst="rect">
            <a:avLst/>
          </a:prstGeom>
          <a:solidFill>
            <a:srgbClr val="FFFFFF"/>
          </a:solidFill>
          <a:ln w="9525">
            <a:solidFill>
              <a:srgbClr val="C8C8C8"/>
            </a:solidFill>
            <a:prstDash val="solid"/>
          </a:ln>
        </p:spPr>
      </p:sp>
      <p:sp>
        <p:nvSpPr>
          <p:cNvPr id="25" name="Shape 23"/>
          <p:cNvSpPr/>
          <p:nvPr/>
        </p:nvSpPr>
        <p:spPr>
          <a:xfrm>
            <a:off x="6309360" y="3291840"/>
            <a:ext cx="82296" cy="868680"/>
          </a:xfrm>
          <a:prstGeom prst="rect">
            <a:avLst/>
          </a:prstGeom>
          <a:solidFill>
            <a:srgbClr val="C9A227"/>
          </a:solidFill>
          <a:ln/>
        </p:spPr>
      </p:sp>
      <p:sp>
        <p:nvSpPr>
          <p:cNvPr id="26" name="Text 24"/>
          <p:cNvSpPr/>
          <p:nvPr/>
        </p:nvSpPr>
        <p:spPr>
          <a:xfrm>
            <a:off x="6537960" y="3364992"/>
            <a:ext cx="5074920" cy="347472"/>
          </a:xfrm>
          <a:prstGeom prst="rect">
            <a:avLst/>
          </a:prstGeom>
          <a:noFill/>
          <a:ln/>
        </p:spPr>
        <p:txBody>
          <a:bodyPr wrap="square" lIns="0" tIns="0" rIns="0" bIns="0" rtlCol="0" anchor="ctr"/>
          <a:lstStyle/>
          <a:p>
            <a:pPr indent="0" marL="0">
              <a:buNone/>
            </a:pPr>
            <a:r>
              <a:rPr lang="en-US" sz="1150" b="1" dirty="0">
                <a:solidFill>
                  <a:srgbClr val="16324F"/>
                </a:solidFill>
                <a:latin typeface="Yu Gothic" pitchFamily="34" charset="0"/>
                <a:ea typeface="Yu Gothic" pitchFamily="34" charset="-122"/>
                <a:cs typeface="Yu Gothic" pitchFamily="34" charset="-120"/>
              </a:rPr>
              <a:t>UGVのオフロード走行</a:t>
            </a:r>
            <a:endParaRPr lang="en-US" sz="1150" dirty="0"/>
          </a:p>
        </p:txBody>
      </p:sp>
      <p:sp>
        <p:nvSpPr>
          <p:cNvPr id="27" name="Text 25"/>
          <p:cNvSpPr/>
          <p:nvPr/>
        </p:nvSpPr>
        <p:spPr>
          <a:xfrm>
            <a:off x="6537960" y="3712464"/>
            <a:ext cx="5074920" cy="365760"/>
          </a:xfrm>
          <a:prstGeom prst="rect">
            <a:avLst/>
          </a:prstGeom>
          <a:noFill/>
          <a:ln/>
        </p:spPr>
        <p:txBody>
          <a:bodyPr wrap="square" lIns="0" tIns="0" rIns="0" bIns="0" rtlCol="0" anchor="ctr"/>
          <a:lstStyle/>
          <a:p>
            <a:pPr indent="0" marL="0">
              <a:buNone/>
            </a:pPr>
            <a:r>
              <a:rPr lang="en-US" sz="950" dirty="0">
                <a:solidFill>
                  <a:srgbClr val="1A1A1A"/>
                </a:solidFill>
                <a:latin typeface="Yu Gothic" pitchFamily="34" charset="0"/>
                <a:ea typeface="Yu Gothic" pitchFamily="34" charset="-122"/>
                <a:cs typeface="Yu Gothic" pitchFamily="34" charset="-120"/>
              </a:rPr>
              <a:t>障害物回避 — 瞬時トルク 200 A連続</a:t>
            </a:r>
            <a:endParaRPr lang="en-US" sz="950" dirty="0"/>
          </a:p>
        </p:txBody>
      </p:sp>
      <p:sp>
        <p:nvSpPr>
          <p:cNvPr id="28" name="Shape 26"/>
          <p:cNvSpPr/>
          <p:nvPr/>
        </p:nvSpPr>
        <p:spPr>
          <a:xfrm>
            <a:off x="6309360" y="4297680"/>
            <a:ext cx="5422392" cy="868680"/>
          </a:xfrm>
          <a:prstGeom prst="rect">
            <a:avLst/>
          </a:prstGeom>
          <a:solidFill>
            <a:srgbClr val="FFFFFF"/>
          </a:solidFill>
          <a:ln w="9525">
            <a:solidFill>
              <a:srgbClr val="C8C8C8"/>
            </a:solidFill>
            <a:prstDash val="solid"/>
          </a:ln>
        </p:spPr>
      </p:sp>
      <p:sp>
        <p:nvSpPr>
          <p:cNvPr id="29" name="Shape 27"/>
          <p:cNvSpPr/>
          <p:nvPr/>
        </p:nvSpPr>
        <p:spPr>
          <a:xfrm>
            <a:off x="6309360" y="4297680"/>
            <a:ext cx="82296" cy="868680"/>
          </a:xfrm>
          <a:prstGeom prst="rect">
            <a:avLst/>
          </a:prstGeom>
          <a:solidFill>
            <a:srgbClr val="C9A227"/>
          </a:solidFill>
          <a:ln/>
        </p:spPr>
      </p:sp>
      <p:sp>
        <p:nvSpPr>
          <p:cNvPr id="30" name="Text 28"/>
          <p:cNvSpPr/>
          <p:nvPr/>
        </p:nvSpPr>
        <p:spPr>
          <a:xfrm>
            <a:off x="6537960" y="4370832"/>
            <a:ext cx="5074920" cy="347472"/>
          </a:xfrm>
          <a:prstGeom prst="rect">
            <a:avLst/>
          </a:prstGeom>
          <a:noFill/>
          <a:ln/>
        </p:spPr>
        <p:txBody>
          <a:bodyPr wrap="square" lIns="0" tIns="0" rIns="0" bIns="0" rtlCol="0" anchor="ctr"/>
          <a:lstStyle/>
          <a:p>
            <a:pPr indent="0" marL="0">
              <a:buNone/>
            </a:pPr>
            <a:r>
              <a:rPr lang="en-US" sz="1150" b="1" dirty="0">
                <a:solidFill>
                  <a:srgbClr val="16324F"/>
                </a:solidFill>
                <a:latin typeface="Yu Gothic" pitchFamily="34" charset="0"/>
                <a:ea typeface="Yu Gothic" pitchFamily="34" charset="-122"/>
                <a:cs typeface="Yu Gothic" pitchFamily="34" charset="-120"/>
              </a:rPr>
              <a:t>ミサイル / 誘導兵器の点火</a:t>
            </a:r>
            <a:endParaRPr lang="en-US" sz="1150" dirty="0"/>
          </a:p>
        </p:txBody>
      </p:sp>
      <p:sp>
        <p:nvSpPr>
          <p:cNvPr id="31" name="Text 29"/>
          <p:cNvSpPr/>
          <p:nvPr/>
        </p:nvSpPr>
        <p:spPr>
          <a:xfrm>
            <a:off x="6537960" y="4718304"/>
            <a:ext cx="5074920" cy="365760"/>
          </a:xfrm>
          <a:prstGeom prst="rect">
            <a:avLst/>
          </a:prstGeom>
          <a:noFill/>
          <a:ln/>
        </p:spPr>
        <p:txBody>
          <a:bodyPr wrap="square" lIns="0" tIns="0" rIns="0" bIns="0" rtlCol="0" anchor="ctr"/>
          <a:lstStyle/>
          <a:p>
            <a:pPr indent="0" marL="0">
              <a:buNone/>
            </a:pPr>
            <a:r>
              <a:rPr lang="en-US" sz="950" dirty="0">
                <a:solidFill>
                  <a:srgbClr val="1A1A1A"/>
                </a:solidFill>
                <a:latin typeface="Yu Gothic" pitchFamily="34" charset="0"/>
                <a:ea typeface="Yu Gothic" pitchFamily="34" charset="-122"/>
                <a:cs typeface="Yu Gothic" pitchFamily="34" charset="-120"/>
              </a:rPr>
              <a:t>0.1秒パルス 300 A — TNO-Sのみ実現可能</a:t>
            </a:r>
            <a:endParaRPr lang="en-US" sz="950" dirty="0"/>
          </a:p>
        </p:txBody>
      </p:sp>
      <p:sp>
        <p:nvSpPr>
          <p:cNvPr id="32" name="Shape 30"/>
          <p:cNvSpPr/>
          <p:nvPr/>
        </p:nvSpPr>
        <p:spPr>
          <a:xfrm>
            <a:off x="6309360" y="5303520"/>
            <a:ext cx="5422392" cy="868680"/>
          </a:xfrm>
          <a:prstGeom prst="rect">
            <a:avLst/>
          </a:prstGeom>
          <a:solidFill>
            <a:srgbClr val="FFFFFF"/>
          </a:solidFill>
          <a:ln w="9525">
            <a:solidFill>
              <a:srgbClr val="C8C8C8"/>
            </a:solidFill>
            <a:prstDash val="solid"/>
          </a:ln>
        </p:spPr>
      </p:sp>
      <p:sp>
        <p:nvSpPr>
          <p:cNvPr id="33" name="Shape 31"/>
          <p:cNvSpPr/>
          <p:nvPr/>
        </p:nvSpPr>
        <p:spPr>
          <a:xfrm>
            <a:off x="6309360" y="5303520"/>
            <a:ext cx="82296" cy="868680"/>
          </a:xfrm>
          <a:prstGeom prst="rect">
            <a:avLst/>
          </a:prstGeom>
          <a:solidFill>
            <a:srgbClr val="C9A227"/>
          </a:solidFill>
          <a:ln/>
        </p:spPr>
      </p:sp>
      <p:sp>
        <p:nvSpPr>
          <p:cNvPr id="34" name="Text 32"/>
          <p:cNvSpPr/>
          <p:nvPr/>
        </p:nvSpPr>
        <p:spPr>
          <a:xfrm>
            <a:off x="6537960" y="5376672"/>
            <a:ext cx="5074920" cy="347472"/>
          </a:xfrm>
          <a:prstGeom prst="rect">
            <a:avLst/>
          </a:prstGeom>
          <a:noFill/>
          <a:ln/>
        </p:spPr>
        <p:txBody>
          <a:bodyPr wrap="square" lIns="0" tIns="0" rIns="0" bIns="0" rtlCol="0" anchor="ctr"/>
          <a:lstStyle/>
          <a:p>
            <a:pPr indent="0" marL="0">
              <a:buNone/>
            </a:pPr>
            <a:r>
              <a:rPr lang="en-US" sz="1150" b="1" dirty="0">
                <a:solidFill>
                  <a:srgbClr val="16324F"/>
                </a:solidFill>
                <a:latin typeface="Yu Gothic" pitchFamily="34" charset="0"/>
                <a:ea typeface="Yu Gothic" pitchFamily="34" charset="-122"/>
                <a:cs typeface="Yu Gothic" pitchFamily="34" charset="-120"/>
              </a:rPr>
              <a:t>野戦UPSの停電対応</a:t>
            </a:r>
            <a:endParaRPr lang="en-US" sz="1150" dirty="0"/>
          </a:p>
        </p:txBody>
      </p:sp>
      <p:sp>
        <p:nvSpPr>
          <p:cNvPr id="35" name="Text 33"/>
          <p:cNvSpPr/>
          <p:nvPr/>
        </p:nvSpPr>
        <p:spPr>
          <a:xfrm>
            <a:off x="6537960" y="5724144"/>
            <a:ext cx="5074920" cy="365760"/>
          </a:xfrm>
          <a:prstGeom prst="rect">
            <a:avLst/>
          </a:prstGeom>
          <a:noFill/>
          <a:ln/>
        </p:spPr>
        <p:txBody>
          <a:bodyPr wrap="square" lIns="0" tIns="0" rIns="0" bIns="0" rtlCol="0" anchor="ctr"/>
          <a:lstStyle/>
          <a:p>
            <a:pPr indent="0" marL="0">
              <a:buNone/>
            </a:pPr>
            <a:r>
              <a:rPr lang="en-US" sz="950" dirty="0">
                <a:solidFill>
                  <a:srgbClr val="1A1A1A"/>
                </a:solidFill>
                <a:latin typeface="Yu Gothic" pitchFamily="34" charset="0"/>
                <a:ea typeface="Yu Gothic" pitchFamily="34" charset="-122"/>
                <a:cs typeface="Yu Gothic" pitchFamily="34" charset="-120"/>
              </a:rPr>
              <a:t>0.1秒以内の5Cパルス — 通信断絶を防止</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3.3  サイクル寿命 — UL検証</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20/55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サイクル寿命 — 6,000+サイクル · UL 10年</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Cycle Life — 6,000+ Cycles · UL Lifecycle 10yr</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5577840" cy="914400"/>
        </p:xfrm>
        <a:graphic>
          <a:graphicData uri="http://schemas.openxmlformats.org/drawingml/2006/table">
            <a:tbl>
              <a:tblPr/>
              <a:tblGrid>
                <a:gridCol w="1554480"/>
                <a:gridCol w="2194560"/>
                <a:gridCol w="1828800"/>
              </a:tblGrid>
              <a:tr h="502920">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サイクル数</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TNO-S 容量維持率</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NMC(参照)</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r>
              <a:tr h="502920">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500</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99.5%</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97%</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502920">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1,000</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98.2%</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92%</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502920">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2,000</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95.1%</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82%</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502920">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3,000</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92.0%</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70%(EOL)</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502920">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4,000</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88.5%</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502920">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5,000</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84.2%</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502920">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6,000</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80.0%(EOL)</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bl>
          </a:graphicData>
        </a:graphic>
      </p:graphicFrame>
      <p:sp>
        <p:nvSpPr>
          <p:cNvPr id="13" name="Shape 10"/>
          <p:cNvSpPr/>
          <p:nvPr/>
        </p:nvSpPr>
        <p:spPr>
          <a:xfrm>
            <a:off x="6217920" y="1645920"/>
            <a:ext cx="5513832" cy="960120"/>
          </a:xfrm>
          <a:prstGeom prst="rect">
            <a:avLst/>
          </a:prstGeom>
          <a:solidFill>
            <a:srgbClr val="FFFFFF"/>
          </a:solidFill>
          <a:ln w="9525">
            <a:solidFill>
              <a:srgbClr val="C8C8C8"/>
            </a:solidFill>
            <a:prstDash val="solid"/>
          </a:ln>
        </p:spPr>
      </p:sp>
      <p:sp>
        <p:nvSpPr>
          <p:cNvPr id="14" name="Shape 11"/>
          <p:cNvSpPr/>
          <p:nvPr/>
        </p:nvSpPr>
        <p:spPr>
          <a:xfrm>
            <a:off x="6217920" y="1645920"/>
            <a:ext cx="82296" cy="960120"/>
          </a:xfrm>
          <a:prstGeom prst="rect">
            <a:avLst/>
          </a:prstGeom>
          <a:solidFill>
            <a:srgbClr val="C9A227"/>
          </a:solidFill>
          <a:ln/>
        </p:spPr>
      </p:sp>
      <p:sp>
        <p:nvSpPr>
          <p:cNvPr id="15" name="Text 12"/>
          <p:cNvSpPr/>
          <p:nvPr/>
        </p:nvSpPr>
        <p:spPr>
          <a:xfrm>
            <a:off x="6446520" y="1737360"/>
            <a:ext cx="5166360" cy="365760"/>
          </a:xfrm>
          <a:prstGeom prst="rect">
            <a:avLst/>
          </a:prstGeom>
          <a:noFill/>
          <a:ln/>
        </p:spPr>
        <p:txBody>
          <a:bodyPr wrap="square" lIns="0" tIns="0" rIns="0" bIns="0" rtlCol="0" anchor="ctr"/>
          <a:lstStyle/>
          <a:p>
            <a:pPr indent="0" marL="0">
              <a:buNone/>
            </a:pPr>
            <a:r>
              <a:rPr lang="en-US" sz="1250" b="1" dirty="0">
                <a:solidFill>
                  <a:srgbClr val="16324F"/>
                </a:solidFill>
                <a:latin typeface="Yu Gothic" pitchFamily="34" charset="0"/>
                <a:ea typeface="Yu Gothic" pitchFamily="34" charset="-122"/>
                <a:cs typeface="Yu Gothic" pitchFamily="34" charset="-120"/>
              </a:rPr>
              <a:t>UL寿命認証</a:t>
            </a:r>
            <a:endParaRPr lang="en-US" sz="1250" dirty="0"/>
          </a:p>
        </p:txBody>
      </p:sp>
      <p:sp>
        <p:nvSpPr>
          <p:cNvPr id="16" name="Text 13"/>
          <p:cNvSpPr/>
          <p:nvPr/>
        </p:nvSpPr>
        <p:spPr>
          <a:xfrm>
            <a:off x="6446520" y="2103120"/>
            <a:ext cx="5166360" cy="384048"/>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ULLC-2025-14014~14019 — 10年検証 · 8年保証</a:t>
            </a:r>
            <a:endParaRPr lang="en-US" sz="1000" dirty="0"/>
          </a:p>
        </p:txBody>
      </p:sp>
      <p:sp>
        <p:nvSpPr>
          <p:cNvPr id="17" name="Shape 14"/>
          <p:cNvSpPr/>
          <p:nvPr/>
        </p:nvSpPr>
        <p:spPr>
          <a:xfrm>
            <a:off x="6217920" y="2761488"/>
            <a:ext cx="5513832" cy="960120"/>
          </a:xfrm>
          <a:prstGeom prst="rect">
            <a:avLst/>
          </a:prstGeom>
          <a:solidFill>
            <a:srgbClr val="FFFFFF"/>
          </a:solidFill>
          <a:ln w="9525">
            <a:solidFill>
              <a:srgbClr val="C8C8C8"/>
            </a:solidFill>
            <a:prstDash val="solid"/>
          </a:ln>
        </p:spPr>
      </p:sp>
      <p:sp>
        <p:nvSpPr>
          <p:cNvPr id="18" name="Shape 15"/>
          <p:cNvSpPr/>
          <p:nvPr/>
        </p:nvSpPr>
        <p:spPr>
          <a:xfrm>
            <a:off x="6217920" y="2761488"/>
            <a:ext cx="82296" cy="960120"/>
          </a:xfrm>
          <a:prstGeom prst="rect">
            <a:avLst/>
          </a:prstGeom>
          <a:solidFill>
            <a:srgbClr val="C9A227"/>
          </a:solidFill>
          <a:ln/>
        </p:spPr>
      </p:sp>
      <p:sp>
        <p:nvSpPr>
          <p:cNvPr id="19" name="Text 16"/>
          <p:cNvSpPr/>
          <p:nvPr/>
        </p:nvSpPr>
        <p:spPr>
          <a:xfrm>
            <a:off x="6446520" y="2852928"/>
            <a:ext cx="5166360" cy="365760"/>
          </a:xfrm>
          <a:prstGeom prst="rect">
            <a:avLst/>
          </a:prstGeom>
          <a:noFill/>
          <a:ln/>
        </p:spPr>
        <p:txBody>
          <a:bodyPr wrap="square" lIns="0" tIns="0" rIns="0" bIns="0" rtlCol="0" anchor="ctr"/>
          <a:lstStyle/>
          <a:p>
            <a:pPr indent="0" marL="0">
              <a:buNone/>
            </a:pPr>
            <a:r>
              <a:rPr lang="en-US" sz="1250" b="1" dirty="0">
                <a:solidFill>
                  <a:srgbClr val="16324F"/>
                </a:solidFill>
                <a:latin typeface="Yu Gothic" pitchFamily="34" charset="0"/>
                <a:ea typeface="Yu Gothic" pitchFamily="34" charset="-122"/>
                <a:cs typeface="Yu Gothic" pitchFamily="34" charset="-120"/>
              </a:rPr>
              <a:t>ゼロひずみ機構</a:t>
            </a:r>
            <a:endParaRPr lang="en-US" sz="1250" dirty="0"/>
          </a:p>
        </p:txBody>
      </p:sp>
      <p:sp>
        <p:nvSpPr>
          <p:cNvPr id="20" name="Text 17"/>
          <p:cNvSpPr/>
          <p:nvPr/>
        </p:nvSpPr>
        <p:spPr>
          <a:xfrm>
            <a:off x="6446520" y="3218688"/>
            <a:ext cx="5166360" cy="384048"/>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TNO格子ひずみ &lt; 1% — 完全可逆な酸化還元</a:t>
            </a:r>
            <a:endParaRPr lang="en-US" sz="1000" dirty="0"/>
          </a:p>
        </p:txBody>
      </p:sp>
      <p:sp>
        <p:nvSpPr>
          <p:cNvPr id="21" name="Shape 18"/>
          <p:cNvSpPr/>
          <p:nvPr/>
        </p:nvSpPr>
        <p:spPr>
          <a:xfrm>
            <a:off x="6217920" y="3877056"/>
            <a:ext cx="5513832" cy="960120"/>
          </a:xfrm>
          <a:prstGeom prst="rect">
            <a:avLst/>
          </a:prstGeom>
          <a:solidFill>
            <a:srgbClr val="FFFFFF"/>
          </a:solidFill>
          <a:ln w="9525">
            <a:solidFill>
              <a:srgbClr val="C8C8C8"/>
            </a:solidFill>
            <a:prstDash val="solid"/>
          </a:ln>
        </p:spPr>
      </p:sp>
      <p:sp>
        <p:nvSpPr>
          <p:cNvPr id="22" name="Shape 19"/>
          <p:cNvSpPr/>
          <p:nvPr/>
        </p:nvSpPr>
        <p:spPr>
          <a:xfrm>
            <a:off x="6217920" y="3877056"/>
            <a:ext cx="82296" cy="960120"/>
          </a:xfrm>
          <a:prstGeom prst="rect">
            <a:avLst/>
          </a:prstGeom>
          <a:solidFill>
            <a:srgbClr val="C9A227"/>
          </a:solidFill>
          <a:ln/>
        </p:spPr>
      </p:sp>
      <p:sp>
        <p:nvSpPr>
          <p:cNvPr id="23" name="Text 20"/>
          <p:cNvSpPr/>
          <p:nvPr/>
        </p:nvSpPr>
        <p:spPr>
          <a:xfrm>
            <a:off x="6446520" y="3968496"/>
            <a:ext cx="5166360" cy="365760"/>
          </a:xfrm>
          <a:prstGeom prst="rect">
            <a:avLst/>
          </a:prstGeom>
          <a:noFill/>
          <a:ln/>
        </p:spPr>
        <p:txBody>
          <a:bodyPr wrap="square" lIns="0" tIns="0" rIns="0" bIns="0" rtlCol="0" anchor="ctr"/>
          <a:lstStyle/>
          <a:p>
            <a:pPr indent="0" marL="0">
              <a:buNone/>
            </a:pPr>
            <a:r>
              <a:rPr lang="en-US" sz="1250" b="1" dirty="0">
                <a:solidFill>
                  <a:srgbClr val="16324F"/>
                </a:solidFill>
                <a:latin typeface="Yu Gothic" pitchFamily="34" charset="0"/>
                <a:ea typeface="Yu Gothic" pitchFamily="34" charset="-122"/>
                <a:cs typeface="Yu Gothic" pitchFamily="34" charset="-120"/>
              </a:rPr>
              <a:t>総所有コスト(TCO)</a:t>
            </a:r>
            <a:endParaRPr lang="en-US" sz="1250" dirty="0"/>
          </a:p>
        </p:txBody>
      </p:sp>
      <p:sp>
        <p:nvSpPr>
          <p:cNvPr id="24" name="Text 21"/>
          <p:cNvSpPr/>
          <p:nvPr/>
        </p:nvSpPr>
        <p:spPr>
          <a:xfrm>
            <a:off x="6446520" y="4334256"/>
            <a:ext cx="5166360" cy="384048"/>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Li-ion(1,500サイクル)の4倍の寿命 — 交換コスト 1/4</a:t>
            </a:r>
            <a:endParaRPr lang="en-US" sz="1000" dirty="0"/>
          </a:p>
        </p:txBody>
      </p:sp>
      <p:sp>
        <p:nvSpPr>
          <p:cNvPr id="25" name="Shape 22"/>
          <p:cNvSpPr/>
          <p:nvPr/>
        </p:nvSpPr>
        <p:spPr>
          <a:xfrm>
            <a:off x="6217920" y="4992624"/>
            <a:ext cx="5513832" cy="960120"/>
          </a:xfrm>
          <a:prstGeom prst="rect">
            <a:avLst/>
          </a:prstGeom>
          <a:solidFill>
            <a:srgbClr val="FFFFFF"/>
          </a:solidFill>
          <a:ln w="9525">
            <a:solidFill>
              <a:srgbClr val="C8C8C8"/>
            </a:solidFill>
            <a:prstDash val="solid"/>
          </a:ln>
        </p:spPr>
      </p:sp>
      <p:sp>
        <p:nvSpPr>
          <p:cNvPr id="26" name="Shape 23"/>
          <p:cNvSpPr/>
          <p:nvPr/>
        </p:nvSpPr>
        <p:spPr>
          <a:xfrm>
            <a:off x="6217920" y="4992624"/>
            <a:ext cx="82296" cy="960120"/>
          </a:xfrm>
          <a:prstGeom prst="rect">
            <a:avLst/>
          </a:prstGeom>
          <a:solidFill>
            <a:srgbClr val="C9A227"/>
          </a:solidFill>
          <a:ln/>
        </p:spPr>
      </p:sp>
      <p:sp>
        <p:nvSpPr>
          <p:cNvPr id="27" name="Text 24"/>
          <p:cNvSpPr/>
          <p:nvPr/>
        </p:nvSpPr>
        <p:spPr>
          <a:xfrm>
            <a:off x="6446520" y="5084064"/>
            <a:ext cx="5166360" cy="365760"/>
          </a:xfrm>
          <a:prstGeom prst="rect">
            <a:avLst/>
          </a:prstGeom>
          <a:noFill/>
          <a:ln/>
        </p:spPr>
        <p:txBody>
          <a:bodyPr wrap="square" lIns="0" tIns="0" rIns="0" bIns="0" rtlCol="0" anchor="ctr"/>
          <a:lstStyle/>
          <a:p>
            <a:pPr indent="0" marL="0">
              <a:buNone/>
            </a:pPr>
            <a:r>
              <a:rPr lang="en-US" sz="1250" b="1" dirty="0">
                <a:solidFill>
                  <a:srgbClr val="16324F"/>
                </a:solidFill>
                <a:latin typeface="Yu Gothic" pitchFamily="34" charset="0"/>
                <a:ea typeface="Yu Gothic" pitchFamily="34" charset="-122"/>
                <a:cs typeface="Yu Gothic" pitchFamily="34" charset="-120"/>
              </a:rPr>
              <a:t>ESS運用安定性</a:t>
            </a:r>
            <a:endParaRPr lang="en-US" sz="1250" dirty="0"/>
          </a:p>
        </p:txBody>
      </p:sp>
      <p:sp>
        <p:nvSpPr>
          <p:cNvPr id="28" name="Text 25"/>
          <p:cNvSpPr/>
          <p:nvPr/>
        </p:nvSpPr>
        <p:spPr>
          <a:xfrm>
            <a:off x="6446520" y="5449824"/>
            <a:ext cx="5166360" cy="384048"/>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15年以上稼働 — 残存価値 70%以上</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3.4  急速充電 — 20分で80%</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21/55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急速充電 — 20分で80%</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Fast Charging — 80% in 20 minutes</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Text 10"/>
          <p:cNvSpPr/>
          <p:nvPr/>
        </p:nvSpPr>
        <p:spPr>
          <a:xfrm>
            <a:off x="457200" y="1691640"/>
            <a:ext cx="3017520" cy="457200"/>
          </a:xfrm>
          <a:prstGeom prst="rect">
            <a:avLst/>
          </a:prstGeom>
          <a:noFill/>
          <a:ln/>
        </p:spPr>
        <p:txBody>
          <a:bodyPr wrap="square" lIns="0" tIns="0" rIns="0" bIns="0" rtlCol="0" anchor="ctr"/>
          <a:lstStyle/>
          <a:p>
            <a:pPr indent="0" marL="0">
              <a:buNone/>
            </a:pPr>
            <a:r>
              <a:rPr lang="en-US" sz="1050" b="1" dirty="0">
                <a:solidFill>
                  <a:srgbClr val="16324F"/>
                </a:solidFill>
                <a:latin typeface="Yu Gothic" pitchFamily="34" charset="0"/>
                <a:ea typeface="Yu Gothic" pitchFamily="34" charset="-122"/>
                <a:cs typeface="Yu Gothic" pitchFamily="34" charset="-120"/>
              </a:rPr>
              <a:t>黒鉛(現行量産)</a:t>
            </a:r>
            <a:endParaRPr lang="en-US" sz="1050" dirty="0"/>
          </a:p>
        </p:txBody>
      </p:sp>
      <p:sp>
        <p:nvSpPr>
          <p:cNvPr id="13" name="Shape 11"/>
          <p:cNvSpPr/>
          <p:nvPr/>
        </p:nvSpPr>
        <p:spPr>
          <a:xfrm>
            <a:off x="3611880" y="1728216"/>
            <a:ext cx="3154680" cy="384048"/>
          </a:xfrm>
          <a:prstGeom prst="rect">
            <a:avLst/>
          </a:prstGeom>
          <a:solidFill>
            <a:srgbClr val="A9B2BE"/>
          </a:solidFill>
          <a:ln/>
        </p:spPr>
      </p:sp>
      <p:sp>
        <p:nvSpPr>
          <p:cNvPr id="14" name="Text 12"/>
          <p:cNvSpPr/>
          <p:nvPr/>
        </p:nvSpPr>
        <p:spPr>
          <a:xfrm>
            <a:off x="6903720" y="1691640"/>
            <a:ext cx="1097280" cy="457200"/>
          </a:xfrm>
          <a:prstGeom prst="rect">
            <a:avLst/>
          </a:prstGeom>
          <a:noFill/>
          <a:ln/>
        </p:spPr>
        <p:txBody>
          <a:bodyPr wrap="square" lIns="0" tIns="0" rIns="0" bIns="0" rtlCol="0" anchor="ctr"/>
          <a:lstStyle/>
          <a:p>
            <a:pPr indent="0" marL="0">
              <a:buNone/>
            </a:pPr>
            <a:r>
              <a:rPr lang="en-US" sz="1200" b="1" dirty="0">
                <a:solidFill>
                  <a:srgbClr val="5A5A5A"/>
                </a:solidFill>
                <a:latin typeface="Arial" pitchFamily="34" charset="0"/>
                <a:ea typeface="Arial" pitchFamily="34" charset="-122"/>
                <a:cs typeface="Arial" pitchFamily="34" charset="-120"/>
              </a:rPr>
              <a:t>30分</a:t>
            </a:r>
            <a:endParaRPr lang="en-US" sz="1200" dirty="0"/>
          </a:p>
        </p:txBody>
      </p:sp>
      <p:sp>
        <p:nvSpPr>
          <p:cNvPr id="15" name="Text 13"/>
          <p:cNvSpPr/>
          <p:nvPr/>
        </p:nvSpPr>
        <p:spPr>
          <a:xfrm>
            <a:off x="457200" y="2350008"/>
            <a:ext cx="3017520" cy="457200"/>
          </a:xfrm>
          <a:prstGeom prst="rect">
            <a:avLst/>
          </a:prstGeom>
          <a:noFill/>
          <a:ln/>
        </p:spPr>
        <p:txBody>
          <a:bodyPr wrap="square" lIns="0" tIns="0" rIns="0" bIns="0" rtlCol="0" anchor="ctr"/>
          <a:lstStyle/>
          <a:p>
            <a:pPr indent="0" marL="0">
              <a:buNone/>
            </a:pPr>
            <a:r>
              <a:rPr lang="en-US" sz="1050" b="1" dirty="0">
                <a:solidFill>
                  <a:srgbClr val="16324F"/>
                </a:solidFill>
                <a:latin typeface="Yu Gothic" pitchFamily="34" charset="0"/>
                <a:ea typeface="Yu Gothic" pitchFamily="34" charset="-122"/>
                <a:cs typeface="Yu Gothic" pitchFamily="34" charset="-120"/>
              </a:rPr>
              <a:t>LFP</a:t>
            </a:r>
            <a:endParaRPr lang="en-US" sz="1050" dirty="0"/>
          </a:p>
        </p:txBody>
      </p:sp>
      <p:sp>
        <p:nvSpPr>
          <p:cNvPr id="16" name="Shape 14"/>
          <p:cNvSpPr/>
          <p:nvPr/>
        </p:nvSpPr>
        <p:spPr>
          <a:xfrm>
            <a:off x="3611880" y="2386584"/>
            <a:ext cx="3154680" cy="384048"/>
          </a:xfrm>
          <a:prstGeom prst="rect">
            <a:avLst/>
          </a:prstGeom>
          <a:solidFill>
            <a:srgbClr val="A9B2BE"/>
          </a:solidFill>
          <a:ln/>
        </p:spPr>
      </p:sp>
      <p:sp>
        <p:nvSpPr>
          <p:cNvPr id="17" name="Text 15"/>
          <p:cNvSpPr/>
          <p:nvPr/>
        </p:nvSpPr>
        <p:spPr>
          <a:xfrm>
            <a:off x="6903720" y="2350008"/>
            <a:ext cx="1097280" cy="457200"/>
          </a:xfrm>
          <a:prstGeom prst="rect">
            <a:avLst/>
          </a:prstGeom>
          <a:noFill/>
          <a:ln/>
        </p:spPr>
        <p:txBody>
          <a:bodyPr wrap="square" lIns="0" tIns="0" rIns="0" bIns="0" rtlCol="0" anchor="ctr"/>
          <a:lstStyle/>
          <a:p>
            <a:pPr indent="0" marL="0">
              <a:buNone/>
            </a:pPr>
            <a:r>
              <a:rPr lang="en-US" sz="1200" b="1" dirty="0">
                <a:solidFill>
                  <a:srgbClr val="5A5A5A"/>
                </a:solidFill>
                <a:latin typeface="Arial" pitchFamily="34" charset="0"/>
                <a:ea typeface="Arial" pitchFamily="34" charset="-122"/>
                <a:cs typeface="Arial" pitchFamily="34" charset="-120"/>
              </a:rPr>
              <a:t>30分</a:t>
            </a:r>
            <a:endParaRPr lang="en-US" sz="1200" dirty="0"/>
          </a:p>
        </p:txBody>
      </p:sp>
      <p:sp>
        <p:nvSpPr>
          <p:cNvPr id="18" name="Text 16"/>
          <p:cNvSpPr/>
          <p:nvPr/>
        </p:nvSpPr>
        <p:spPr>
          <a:xfrm>
            <a:off x="457200" y="3008376"/>
            <a:ext cx="3017520" cy="457200"/>
          </a:xfrm>
          <a:prstGeom prst="rect">
            <a:avLst/>
          </a:prstGeom>
          <a:noFill/>
          <a:ln/>
        </p:spPr>
        <p:txBody>
          <a:bodyPr wrap="square" lIns="0" tIns="0" rIns="0" bIns="0" rtlCol="0" anchor="ctr"/>
          <a:lstStyle/>
          <a:p>
            <a:pPr indent="0" marL="0">
              <a:buNone/>
            </a:pPr>
            <a:r>
              <a:rPr lang="en-US" sz="1050" b="1" dirty="0">
                <a:solidFill>
                  <a:srgbClr val="16324F"/>
                </a:solidFill>
                <a:latin typeface="Yu Gothic" pitchFamily="34" charset="0"/>
                <a:ea typeface="Yu Gothic" pitchFamily="34" charset="-122"/>
                <a:cs typeface="Yu Gothic" pitchFamily="34" charset="-120"/>
              </a:rPr>
              <a:t>NMC 急速充電</a:t>
            </a:r>
            <a:endParaRPr lang="en-US" sz="1050" dirty="0"/>
          </a:p>
        </p:txBody>
      </p:sp>
      <p:sp>
        <p:nvSpPr>
          <p:cNvPr id="19" name="Shape 17"/>
          <p:cNvSpPr/>
          <p:nvPr/>
        </p:nvSpPr>
        <p:spPr>
          <a:xfrm>
            <a:off x="3611880" y="3044952"/>
            <a:ext cx="2628900" cy="384048"/>
          </a:xfrm>
          <a:prstGeom prst="rect">
            <a:avLst/>
          </a:prstGeom>
          <a:solidFill>
            <a:srgbClr val="A9B2BE"/>
          </a:solidFill>
          <a:ln/>
        </p:spPr>
      </p:sp>
      <p:sp>
        <p:nvSpPr>
          <p:cNvPr id="20" name="Text 18"/>
          <p:cNvSpPr/>
          <p:nvPr/>
        </p:nvSpPr>
        <p:spPr>
          <a:xfrm>
            <a:off x="6377940" y="3008376"/>
            <a:ext cx="1097280" cy="457200"/>
          </a:xfrm>
          <a:prstGeom prst="rect">
            <a:avLst/>
          </a:prstGeom>
          <a:noFill/>
          <a:ln/>
        </p:spPr>
        <p:txBody>
          <a:bodyPr wrap="square" lIns="0" tIns="0" rIns="0" bIns="0" rtlCol="0" anchor="ctr"/>
          <a:lstStyle/>
          <a:p>
            <a:pPr indent="0" marL="0">
              <a:buNone/>
            </a:pPr>
            <a:r>
              <a:rPr lang="en-US" sz="1200" b="1" dirty="0">
                <a:solidFill>
                  <a:srgbClr val="5A5A5A"/>
                </a:solidFill>
                <a:latin typeface="Arial" pitchFamily="34" charset="0"/>
                <a:ea typeface="Arial" pitchFamily="34" charset="-122"/>
                <a:cs typeface="Arial" pitchFamily="34" charset="-120"/>
              </a:rPr>
              <a:t>25分</a:t>
            </a:r>
            <a:endParaRPr lang="en-US" sz="1200" dirty="0"/>
          </a:p>
        </p:txBody>
      </p:sp>
      <p:sp>
        <p:nvSpPr>
          <p:cNvPr id="21" name="Text 19"/>
          <p:cNvSpPr/>
          <p:nvPr/>
        </p:nvSpPr>
        <p:spPr>
          <a:xfrm>
            <a:off x="457200" y="3666744"/>
            <a:ext cx="3017520" cy="457200"/>
          </a:xfrm>
          <a:prstGeom prst="rect">
            <a:avLst/>
          </a:prstGeom>
          <a:noFill/>
          <a:ln/>
        </p:spPr>
        <p:txBody>
          <a:bodyPr wrap="square" lIns="0" tIns="0" rIns="0" bIns="0" rtlCol="0" anchor="ctr"/>
          <a:lstStyle/>
          <a:p>
            <a:pPr indent="0" marL="0">
              <a:buNone/>
            </a:pPr>
            <a:r>
              <a:rPr lang="en-US" sz="1050" b="1" dirty="0">
                <a:solidFill>
                  <a:srgbClr val="16324F"/>
                </a:solidFill>
                <a:latin typeface="Yu Gothic" pitchFamily="34" charset="0"/>
                <a:ea typeface="Yu Gothic" pitchFamily="34" charset="-122"/>
                <a:cs typeface="Yu Gothic" pitchFamily="34" charset="-120"/>
              </a:rPr>
              <a:t>TNO-S(1C標準)</a:t>
            </a:r>
            <a:endParaRPr lang="en-US" sz="1050" dirty="0"/>
          </a:p>
        </p:txBody>
      </p:sp>
      <p:sp>
        <p:nvSpPr>
          <p:cNvPr id="22" name="Shape 20"/>
          <p:cNvSpPr/>
          <p:nvPr/>
        </p:nvSpPr>
        <p:spPr>
          <a:xfrm>
            <a:off x="3611880" y="3703320"/>
            <a:ext cx="6309360" cy="384048"/>
          </a:xfrm>
          <a:prstGeom prst="rect">
            <a:avLst/>
          </a:prstGeom>
          <a:solidFill>
            <a:srgbClr val="45586E"/>
          </a:solidFill>
          <a:ln/>
        </p:spPr>
      </p:sp>
      <p:sp>
        <p:nvSpPr>
          <p:cNvPr id="23" name="Text 21"/>
          <p:cNvSpPr/>
          <p:nvPr/>
        </p:nvSpPr>
        <p:spPr>
          <a:xfrm>
            <a:off x="10058400" y="3666744"/>
            <a:ext cx="1097280" cy="457200"/>
          </a:xfrm>
          <a:prstGeom prst="rect">
            <a:avLst/>
          </a:prstGeom>
          <a:noFill/>
          <a:ln/>
        </p:spPr>
        <p:txBody>
          <a:bodyPr wrap="square" lIns="0" tIns="0" rIns="0" bIns="0" rtlCol="0" anchor="ctr"/>
          <a:lstStyle/>
          <a:p>
            <a:pPr indent="0" marL="0">
              <a:buNone/>
            </a:pPr>
            <a:r>
              <a:rPr lang="en-US" sz="1200" b="1" dirty="0">
                <a:solidFill>
                  <a:srgbClr val="45586E"/>
                </a:solidFill>
                <a:latin typeface="Arial" pitchFamily="34" charset="0"/>
                <a:ea typeface="Arial" pitchFamily="34" charset="-122"/>
                <a:cs typeface="Arial" pitchFamily="34" charset="-120"/>
              </a:rPr>
              <a:t>60分</a:t>
            </a:r>
            <a:endParaRPr lang="en-US" sz="1200" dirty="0"/>
          </a:p>
        </p:txBody>
      </p:sp>
      <p:sp>
        <p:nvSpPr>
          <p:cNvPr id="24" name="Text 22"/>
          <p:cNvSpPr/>
          <p:nvPr/>
        </p:nvSpPr>
        <p:spPr>
          <a:xfrm>
            <a:off x="457200" y="4325112"/>
            <a:ext cx="3017520" cy="457200"/>
          </a:xfrm>
          <a:prstGeom prst="rect">
            <a:avLst/>
          </a:prstGeom>
          <a:noFill/>
          <a:ln/>
        </p:spPr>
        <p:txBody>
          <a:bodyPr wrap="square" lIns="0" tIns="0" rIns="0" bIns="0" rtlCol="0" anchor="ctr"/>
          <a:lstStyle/>
          <a:p>
            <a:pPr indent="0" marL="0">
              <a:buNone/>
            </a:pPr>
            <a:r>
              <a:rPr lang="en-US" sz="1050" b="1" dirty="0">
                <a:solidFill>
                  <a:srgbClr val="16324F"/>
                </a:solidFill>
                <a:latin typeface="Yu Gothic" pitchFamily="34" charset="0"/>
                <a:ea typeface="Yu Gothic" pitchFamily="34" charset="-122"/>
                <a:cs typeface="Yu Gothic" pitchFamily="34" charset="-120"/>
              </a:rPr>
              <a:t>TNO-S(5C急速)</a:t>
            </a:r>
            <a:endParaRPr lang="en-US" sz="1050" dirty="0"/>
          </a:p>
        </p:txBody>
      </p:sp>
      <p:sp>
        <p:nvSpPr>
          <p:cNvPr id="25" name="Shape 23"/>
          <p:cNvSpPr/>
          <p:nvPr/>
        </p:nvSpPr>
        <p:spPr>
          <a:xfrm>
            <a:off x="3611880" y="4361688"/>
            <a:ext cx="2103120" cy="384048"/>
          </a:xfrm>
          <a:prstGeom prst="rect">
            <a:avLst/>
          </a:prstGeom>
          <a:solidFill>
            <a:srgbClr val="C9A227"/>
          </a:solidFill>
          <a:ln w="19050">
            <a:solidFill>
              <a:srgbClr val="B03A2E"/>
            </a:solidFill>
            <a:prstDash val="solid"/>
          </a:ln>
        </p:spPr>
      </p:sp>
      <p:sp>
        <p:nvSpPr>
          <p:cNvPr id="26" name="Text 24"/>
          <p:cNvSpPr/>
          <p:nvPr/>
        </p:nvSpPr>
        <p:spPr>
          <a:xfrm>
            <a:off x="5852160" y="4325112"/>
            <a:ext cx="1097280" cy="457200"/>
          </a:xfrm>
          <a:prstGeom prst="rect">
            <a:avLst/>
          </a:prstGeom>
          <a:noFill/>
          <a:ln/>
        </p:spPr>
        <p:txBody>
          <a:bodyPr wrap="square" lIns="0" tIns="0" rIns="0" bIns="0" rtlCol="0" anchor="ctr"/>
          <a:lstStyle/>
          <a:p>
            <a:pPr indent="0" marL="0">
              <a:buNone/>
            </a:pPr>
            <a:r>
              <a:rPr lang="en-US" sz="1200" b="1" dirty="0">
                <a:solidFill>
                  <a:srgbClr val="C9A227"/>
                </a:solidFill>
                <a:latin typeface="Arial" pitchFamily="34" charset="0"/>
                <a:ea typeface="Arial" pitchFamily="34" charset="-122"/>
                <a:cs typeface="Arial" pitchFamily="34" charset="-120"/>
              </a:rPr>
              <a:t>20分</a:t>
            </a:r>
            <a:endParaRPr lang="en-US" sz="1200" dirty="0"/>
          </a:p>
        </p:txBody>
      </p:sp>
      <p:sp>
        <p:nvSpPr>
          <p:cNvPr id="27" name="Text 25"/>
          <p:cNvSpPr/>
          <p:nvPr/>
        </p:nvSpPr>
        <p:spPr>
          <a:xfrm>
            <a:off x="457200" y="4983480"/>
            <a:ext cx="3017520" cy="457200"/>
          </a:xfrm>
          <a:prstGeom prst="rect">
            <a:avLst/>
          </a:prstGeom>
          <a:noFill/>
          <a:ln/>
        </p:spPr>
        <p:txBody>
          <a:bodyPr wrap="square" lIns="0" tIns="0" rIns="0" bIns="0" rtlCol="0" anchor="ctr"/>
          <a:lstStyle/>
          <a:p>
            <a:pPr indent="0" marL="0">
              <a:buNone/>
            </a:pPr>
            <a:r>
              <a:rPr lang="en-US" sz="1050" b="1" dirty="0">
                <a:solidFill>
                  <a:srgbClr val="16324F"/>
                </a:solidFill>
                <a:latin typeface="Yu Gothic" pitchFamily="34" charset="0"/>
                <a:ea typeface="Yu Gothic" pitchFamily="34" charset="-122"/>
                <a:cs typeface="Yu Gothic" pitchFamily="34" charset="-120"/>
              </a:rPr>
              <a:t>NWO(次世代 / 未実現)</a:t>
            </a:r>
            <a:endParaRPr lang="en-US" sz="1050" dirty="0"/>
          </a:p>
        </p:txBody>
      </p:sp>
      <p:sp>
        <p:nvSpPr>
          <p:cNvPr id="28" name="Shape 26"/>
          <p:cNvSpPr/>
          <p:nvPr/>
        </p:nvSpPr>
        <p:spPr>
          <a:xfrm>
            <a:off x="3611880" y="5020056"/>
            <a:ext cx="420624" cy="384048"/>
          </a:xfrm>
          <a:prstGeom prst="rect">
            <a:avLst/>
          </a:prstGeom>
          <a:solidFill>
            <a:srgbClr val="4F6238"/>
          </a:solidFill>
          <a:ln/>
        </p:spPr>
      </p:sp>
      <p:sp>
        <p:nvSpPr>
          <p:cNvPr id="29" name="Text 27"/>
          <p:cNvSpPr/>
          <p:nvPr/>
        </p:nvSpPr>
        <p:spPr>
          <a:xfrm>
            <a:off x="4169664" y="4983480"/>
            <a:ext cx="1097280" cy="457200"/>
          </a:xfrm>
          <a:prstGeom prst="rect">
            <a:avLst/>
          </a:prstGeom>
          <a:noFill/>
          <a:ln/>
        </p:spPr>
        <p:txBody>
          <a:bodyPr wrap="square" lIns="0" tIns="0" rIns="0" bIns="0" rtlCol="0" anchor="ctr"/>
          <a:lstStyle/>
          <a:p>
            <a:pPr indent="0" marL="0">
              <a:buNone/>
            </a:pPr>
            <a:r>
              <a:rPr lang="en-US" sz="1200" b="1" dirty="0">
                <a:solidFill>
                  <a:srgbClr val="4F6238"/>
                </a:solidFill>
                <a:latin typeface="Arial" pitchFamily="34" charset="0"/>
                <a:ea typeface="Arial" pitchFamily="34" charset="-122"/>
                <a:cs typeface="Arial" pitchFamily="34" charset="-120"/>
              </a:rPr>
              <a:t>4分</a:t>
            </a:r>
            <a:endParaRPr lang="en-US" sz="1200" dirty="0"/>
          </a:p>
        </p:txBody>
      </p:sp>
      <p:sp>
        <p:nvSpPr>
          <p:cNvPr id="30" name="Shape 28"/>
          <p:cNvSpPr/>
          <p:nvPr/>
        </p:nvSpPr>
        <p:spPr>
          <a:xfrm>
            <a:off x="457200" y="5806440"/>
            <a:ext cx="11274552" cy="502920"/>
          </a:xfrm>
          <a:prstGeom prst="rect">
            <a:avLst/>
          </a:prstGeom>
          <a:solidFill>
            <a:srgbClr val="16324F"/>
          </a:solidFill>
          <a:ln/>
        </p:spPr>
      </p:sp>
      <p:sp>
        <p:nvSpPr>
          <p:cNvPr id="31" name="Text 29"/>
          <p:cNvSpPr/>
          <p:nvPr/>
        </p:nvSpPr>
        <p:spPr>
          <a:xfrm>
            <a:off x="685800" y="5806440"/>
            <a:ext cx="10881360" cy="502920"/>
          </a:xfrm>
          <a:prstGeom prst="rect">
            <a:avLst/>
          </a:prstGeom>
          <a:noFill/>
          <a:ln/>
        </p:spPr>
        <p:txBody>
          <a:bodyPr wrap="square" lIns="0" tIns="0" rIns="0" bIns="0" rtlCol="0" anchor="ctr"/>
          <a:lstStyle/>
          <a:p>
            <a:pPr indent="0" marL="0">
              <a:buNone/>
            </a:pPr>
            <a:r>
              <a:rPr lang="en-US" sz="1150" b="1" dirty="0">
                <a:solidFill>
                  <a:srgbClr val="C9A227"/>
                </a:solidFill>
                <a:latin typeface="Yu Gothic" pitchFamily="34" charset="0"/>
                <a:ea typeface="Yu Gothic" pitchFamily="34" charset="-122"/>
                <a:cs typeface="Yu Gothic" pitchFamily="34" charset="-120"/>
              </a:rPr>
              <a:t>防衛上の含意:ドローンが出撃から帰還 → 20分ターンアラウンド → 再発進(作戦テンポ 1.5倍)</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3.5  広温度域動作 -36.8 ~ +80°C</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22/55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広温度域動作 — 極限環境で実証</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Wide Temperature Range Operation</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645920"/>
            <a:ext cx="2103120" cy="777240"/>
          </a:xfrm>
          <a:prstGeom prst="rect">
            <a:avLst/>
          </a:prstGeom>
          <a:solidFill>
            <a:srgbClr val="45586E"/>
          </a:solidFill>
          <a:ln/>
        </p:spPr>
      </p:sp>
      <p:sp>
        <p:nvSpPr>
          <p:cNvPr id="13" name="Text 11"/>
          <p:cNvSpPr/>
          <p:nvPr/>
        </p:nvSpPr>
        <p:spPr>
          <a:xfrm>
            <a:off x="457200" y="1645920"/>
            <a:ext cx="210312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-36.8°C</a:t>
            </a:r>
            <a:endParaRPr lang="en-US" sz="1700" dirty="0"/>
          </a:p>
        </p:txBody>
      </p:sp>
      <p:sp>
        <p:nvSpPr>
          <p:cNvPr id="14" name="Shape 12"/>
          <p:cNvSpPr/>
          <p:nvPr/>
        </p:nvSpPr>
        <p:spPr>
          <a:xfrm>
            <a:off x="2560320" y="1645920"/>
            <a:ext cx="9171432" cy="777240"/>
          </a:xfrm>
          <a:prstGeom prst="rect">
            <a:avLst/>
          </a:prstGeom>
          <a:solidFill>
            <a:srgbClr val="FFFFFF"/>
          </a:solidFill>
          <a:ln w="9525">
            <a:solidFill>
              <a:srgbClr val="C8C8C8"/>
            </a:solidFill>
            <a:prstDash val="solid"/>
          </a:ln>
        </p:spPr>
      </p:sp>
      <p:sp>
        <p:nvSpPr>
          <p:cNvPr id="15" name="Text 13"/>
          <p:cNvSpPr/>
          <p:nvPr/>
        </p:nvSpPr>
        <p:spPr>
          <a:xfrm>
            <a:off x="2788920" y="1719072"/>
            <a:ext cx="8778240" cy="347472"/>
          </a:xfrm>
          <a:prstGeom prst="rect">
            <a:avLst/>
          </a:prstGeom>
          <a:noFill/>
          <a:ln/>
        </p:spPr>
        <p:txBody>
          <a:bodyPr wrap="square" lIns="0" tIns="0" rIns="0" bIns="0" rtlCol="0" anchor="ctr"/>
          <a:lstStyle/>
          <a:p>
            <a:pPr indent="0" marL="0">
              <a:buNone/>
            </a:pPr>
            <a:r>
              <a:rPr lang="en-US" sz="1250" b="1" dirty="0">
                <a:solidFill>
                  <a:srgbClr val="16324F"/>
                </a:solidFill>
                <a:latin typeface="Yu Gothic" pitchFamily="34" charset="0"/>
                <a:ea typeface="Yu Gothic" pitchFamily="34" charset="-122"/>
                <a:cs typeface="Yu Gothic" pitchFamily="34" charset="-120"/>
              </a:rPr>
              <a:t>放電下限</a:t>
            </a:r>
            <a:endParaRPr lang="en-US" sz="1250" dirty="0"/>
          </a:p>
        </p:txBody>
      </p:sp>
      <p:sp>
        <p:nvSpPr>
          <p:cNvPr id="16" name="Text 14"/>
          <p:cNvSpPr/>
          <p:nvPr/>
        </p:nvSpPr>
        <p:spPr>
          <a:xfrm>
            <a:off x="2788920" y="2066544"/>
            <a:ext cx="8778240" cy="301752"/>
          </a:xfrm>
          <a:prstGeom prst="rect">
            <a:avLst/>
          </a:prstGeom>
          <a:noFill/>
          <a:ln/>
        </p:spPr>
        <p:txBody>
          <a:bodyPr wrap="square" lIns="0" tIns="0" rIns="0" bIns="0" rtlCol="0" anchor="ctr"/>
          <a:lstStyle/>
          <a:p>
            <a:pPr indent="0" marL="0">
              <a:buNone/>
            </a:pPr>
            <a:r>
              <a:rPr lang="en-US" sz="1000" dirty="0">
                <a:solidFill>
                  <a:srgbClr val="5A5A5A"/>
                </a:solidFill>
                <a:latin typeface="Yu Gothic" pitchFamily="34" charset="0"/>
                <a:ea typeface="Yu Gothic" pitchFamily="34" charset="-122"/>
                <a:cs typeface="Yu Gothic" pitchFamily="34" charset="-120"/>
              </a:rPr>
              <a:t>NATO北極圏検証</a:t>
            </a:r>
            <a:endParaRPr lang="en-US" sz="1000" dirty="0"/>
          </a:p>
        </p:txBody>
      </p:sp>
      <p:sp>
        <p:nvSpPr>
          <p:cNvPr id="17" name="Shape 15"/>
          <p:cNvSpPr/>
          <p:nvPr/>
        </p:nvSpPr>
        <p:spPr>
          <a:xfrm>
            <a:off x="457200" y="2542032"/>
            <a:ext cx="2103120" cy="777240"/>
          </a:xfrm>
          <a:prstGeom prst="rect">
            <a:avLst/>
          </a:prstGeom>
          <a:solidFill>
            <a:srgbClr val="16324F"/>
          </a:solidFill>
          <a:ln/>
        </p:spPr>
      </p:sp>
      <p:sp>
        <p:nvSpPr>
          <p:cNvPr id="18" name="Text 16"/>
          <p:cNvSpPr/>
          <p:nvPr/>
        </p:nvSpPr>
        <p:spPr>
          <a:xfrm>
            <a:off x="457200" y="2542032"/>
            <a:ext cx="210312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-25°C</a:t>
            </a:r>
            <a:endParaRPr lang="en-US" sz="1700" dirty="0"/>
          </a:p>
        </p:txBody>
      </p:sp>
      <p:sp>
        <p:nvSpPr>
          <p:cNvPr id="19" name="Shape 17"/>
          <p:cNvSpPr/>
          <p:nvPr/>
        </p:nvSpPr>
        <p:spPr>
          <a:xfrm>
            <a:off x="2560320" y="2542032"/>
            <a:ext cx="9171432" cy="777240"/>
          </a:xfrm>
          <a:prstGeom prst="rect">
            <a:avLst/>
          </a:prstGeom>
          <a:solidFill>
            <a:srgbClr val="FFFFFF"/>
          </a:solidFill>
          <a:ln w="9525">
            <a:solidFill>
              <a:srgbClr val="C8C8C8"/>
            </a:solidFill>
            <a:prstDash val="solid"/>
          </a:ln>
        </p:spPr>
      </p:sp>
      <p:sp>
        <p:nvSpPr>
          <p:cNvPr id="20" name="Text 18"/>
          <p:cNvSpPr/>
          <p:nvPr/>
        </p:nvSpPr>
        <p:spPr>
          <a:xfrm>
            <a:off x="2788920" y="2615184"/>
            <a:ext cx="8778240" cy="347472"/>
          </a:xfrm>
          <a:prstGeom prst="rect">
            <a:avLst/>
          </a:prstGeom>
          <a:noFill/>
          <a:ln/>
        </p:spPr>
        <p:txBody>
          <a:bodyPr wrap="square" lIns="0" tIns="0" rIns="0" bIns="0" rtlCol="0" anchor="ctr"/>
          <a:lstStyle/>
          <a:p>
            <a:pPr indent="0" marL="0">
              <a:buNone/>
            </a:pPr>
            <a:r>
              <a:rPr lang="en-US" sz="1250" b="1" dirty="0">
                <a:solidFill>
                  <a:srgbClr val="16324F"/>
                </a:solidFill>
                <a:latin typeface="Yu Gothic" pitchFamily="34" charset="0"/>
                <a:ea typeface="Yu Gothic" pitchFamily="34" charset="-122"/>
                <a:cs typeface="Yu Gothic" pitchFamily="34" charset="-120"/>
              </a:rPr>
              <a:t>標準放電下限</a:t>
            </a:r>
            <a:endParaRPr lang="en-US" sz="1250" dirty="0"/>
          </a:p>
        </p:txBody>
      </p:sp>
      <p:sp>
        <p:nvSpPr>
          <p:cNvPr id="21" name="Text 19"/>
          <p:cNvSpPr/>
          <p:nvPr/>
        </p:nvSpPr>
        <p:spPr>
          <a:xfrm>
            <a:off x="2788920" y="2962656"/>
            <a:ext cx="8778240" cy="301752"/>
          </a:xfrm>
          <a:prstGeom prst="rect">
            <a:avLst/>
          </a:prstGeom>
          <a:noFill/>
          <a:ln/>
        </p:spPr>
        <p:txBody>
          <a:bodyPr wrap="square" lIns="0" tIns="0" rIns="0" bIns="0" rtlCol="0" anchor="ctr"/>
          <a:lstStyle/>
          <a:p>
            <a:pPr indent="0" marL="0">
              <a:buNone/>
            </a:pPr>
            <a:r>
              <a:rPr lang="en-US" sz="1000" dirty="0">
                <a:solidFill>
                  <a:srgbClr val="5A5A5A"/>
                </a:solidFill>
                <a:latin typeface="Yu Gothic" pitchFamily="34" charset="0"/>
                <a:ea typeface="Yu Gothic" pitchFamily="34" charset="-122"/>
                <a:cs typeface="Yu Gothic" pitchFamily="34" charset="-120"/>
              </a:rPr>
              <a:t>18650 / 21700 標準</a:t>
            </a:r>
            <a:endParaRPr lang="en-US" sz="1000" dirty="0"/>
          </a:p>
        </p:txBody>
      </p:sp>
      <p:sp>
        <p:nvSpPr>
          <p:cNvPr id="22" name="Shape 20"/>
          <p:cNvSpPr/>
          <p:nvPr/>
        </p:nvSpPr>
        <p:spPr>
          <a:xfrm>
            <a:off x="457200" y="3438144"/>
            <a:ext cx="2103120" cy="777240"/>
          </a:xfrm>
          <a:prstGeom prst="rect">
            <a:avLst/>
          </a:prstGeom>
          <a:solidFill>
            <a:srgbClr val="4F6238"/>
          </a:solidFill>
          <a:ln/>
        </p:spPr>
      </p:sp>
      <p:sp>
        <p:nvSpPr>
          <p:cNvPr id="23" name="Text 21"/>
          <p:cNvSpPr/>
          <p:nvPr/>
        </p:nvSpPr>
        <p:spPr>
          <a:xfrm>
            <a:off x="457200" y="3438144"/>
            <a:ext cx="210312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+25°C</a:t>
            </a:r>
            <a:endParaRPr lang="en-US" sz="1700" dirty="0"/>
          </a:p>
        </p:txBody>
      </p:sp>
      <p:sp>
        <p:nvSpPr>
          <p:cNvPr id="24" name="Shape 22"/>
          <p:cNvSpPr/>
          <p:nvPr/>
        </p:nvSpPr>
        <p:spPr>
          <a:xfrm>
            <a:off x="2560320" y="3438144"/>
            <a:ext cx="9171432" cy="777240"/>
          </a:xfrm>
          <a:prstGeom prst="rect">
            <a:avLst/>
          </a:prstGeom>
          <a:solidFill>
            <a:srgbClr val="FFFFFF"/>
          </a:solidFill>
          <a:ln w="9525">
            <a:solidFill>
              <a:srgbClr val="C8C8C8"/>
            </a:solidFill>
            <a:prstDash val="solid"/>
          </a:ln>
        </p:spPr>
      </p:sp>
      <p:sp>
        <p:nvSpPr>
          <p:cNvPr id="25" name="Text 23"/>
          <p:cNvSpPr/>
          <p:nvPr/>
        </p:nvSpPr>
        <p:spPr>
          <a:xfrm>
            <a:off x="2788920" y="3511296"/>
            <a:ext cx="8778240" cy="347472"/>
          </a:xfrm>
          <a:prstGeom prst="rect">
            <a:avLst/>
          </a:prstGeom>
          <a:noFill/>
          <a:ln/>
        </p:spPr>
        <p:txBody>
          <a:bodyPr wrap="square" lIns="0" tIns="0" rIns="0" bIns="0" rtlCol="0" anchor="ctr"/>
          <a:lstStyle/>
          <a:p>
            <a:pPr indent="0" marL="0">
              <a:buNone/>
            </a:pPr>
            <a:r>
              <a:rPr lang="en-US" sz="1250" b="1" dirty="0">
                <a:solidFill>
                  <a:srgbClr val="16324F"/>
                </a:solidFill>
                <a:latin typeface="Yu Gothic" pitchFamily="34" charset="0"/>
                <a:ea typeface="Yu Gothic" pitchFamily="34" charset="-122"/>
                <a:cs typeface="Yu Gothic" pitchFamily="34" charset="-120"/>
              </a:rPr>
              <a:t>最適動作</a:t>
            </a:r>
            <a:endParaRPr lang="en-US" sz="1250" dirty="0"/>
          </a:p>
        </p:txBody>
      </p:sp>
      <p:sp>
        <p:nvSpPr>
          <p:cNvPr id="26" name="Text 24"/>
          <p:cNvSpPr/>
          <p:nvPr/>
        </p:nvSpPr>
        <p:spPr>
          <a:xfrm>
            <a:off x="2788920" y="3858768"/>
            <a:ext cx="8778240" cy="301752"/>
          </a:xfrm>
          <a:prstGeom prst="rect">
            <a:avLst/>
          </a:prstGeom>
          <a:noFill/>
          <a:ln/>
        </p:spPr>
        <p:txBody>
          <a:bodyPr wrap="square" lIns="0" tIns="0" rIns="0" bIns="0" rtlCol="0" anchor="ctr"/>
          <a:lstStyle/>
          <a:p>
            <a:pPr indent="0" marL="0">
              <a:buNone/>
            </a:pPr>
            <a:r>
              <a:rPr lang="en-US" sz="1000" dirty="0">
                <a:solidFill>
                  <a:srgbClr val="5A5A5A"/>
                </a:solidFill>
                <a:latin typeface="Yu Gothic" pitchFamily="34" charset="0"/>
                <a:ea typeface="Yu Gothic" pitchFamily="34" charset="-122"/>
                <a:cs typeface="Yu Gothic" pitchFamily="34" charset="-120"/>
              </a:rPr>
              <a:t>6,000+サイクルの基準</a:t>
            </a:r>
            <a:endParaRPr lang="en-US" sz="1000" dirty="0"/>
          </a:p>
        </p:txBody>
      </p:sp>
      <p:sp>
        <p:nvSpPr>
          <p:cNvPr id="27" name="Shape 25"/>
          <p:cNvSpPr/>
          <p:nvPr/>
        </p:nvSpPr>
        <p:spPr>
          <a:xfrm>
            <a:off x="457200" y="4334256"/>
            <a:ext cx="2103120" cy="777240"/>
          </a:xfrm>
          <a:prstGeom prst="rect">
            <a:avLst/>
          </a:prstGeom>
          <a:solidFill>
            <a:srgbClr val="8A7B3A"/>
          </a:solidFill>
          <a:ln/>
        </p:spPr>
      </p:sp>
      <p:sp>
        <p:nvSpPr>
          <p:cNvPr id="28" name="Text 26"/>
          <p:cNvSpPr/>
          <p:nvPr/>
        </p:nvSpPr>
        <p:spPr>
          <a:xfrm>
            <a:off x="457200" y="4334256"/>
            <a:ext cx="210312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+60°C</a:t>
            </a:r>
            <a:endParaRPr lang="en-US" sz="1700" dirty="0"/>
          </a:p>
        </p:txBody>
      </p:sp>
      <p:sp>
        <p:nvSpPr>
          <p:cNvPr id="29" name="Shape 27"/>
          <p:cNvSpPr/>
          <p:nvPr/>
        </p:nvSpPr>
        <p:spPr>
          <a:xfrm>
            <a:off x="2560320" y="4334256"/>
            <a:ext cx="9171432" cy="777240"/>
          </a:xfrm>
          <a:prstGeom prst="rect">
            <a:avLst/>
          </a:prstGeom>
          <a:solidFill>
            <a:srgbClr val="FFFFFF"/>
          </a:solidFill>
          <a:ln w="9525">
            <a:solidFill>
              <a:srgbClr val="C8C8C8"/>
            </a:solidFill>
            <a:prstDash val="solid"/>
          </a:ln>
        </p:spPr>
      </p:sp>
      <p:sp>
        <p:nvSpPr>
          <p:cNvPr id="30" name="Text 28"/>
          <p:cNvSpPr/>
          <p:nvPr/>
        </p:nvSpPr>
        <p:spPr>
          <a:xfrm>
            <a:off x="2788920" y="4407408"/>
            <a:ext cx="8778240" cy="347472"/>
          </a:xfrm>
          <a:prstGeom prst="rect">
            <a:avLst/>
          </a:prstGeom>
          <a:noFill/>
          <a:ln/>
        </p:spPr>
        <p:txBody>
          <a:bodyPr wrap="square" lIns="0" tIns="0" rIns="0" bIns="0" rtlCol="0" anchor="ctr"/>
          <a:lstStyle/>
          <a:p>
            <a:pPr indent="0" marL="0">
              <a:buNone/>
            </a:pPr>
            <a:r>
              <a:rPr lang="en-US" sz="1250" b="1" dirty="0">
                <a:solidFill>
                  <a:srgbClr val="16324F"/>
                </a:solidFill>
                <a:latin typeface="Yu Gothic" pitchFamily="34" charset="0"/>
                <a:ea typeface="Yu Gothic" pitchFamily="34" charset="-122"/>
                <a:cs typeface="Yu Gothic" pitchFamily="34" charset="-120"/>
              </a:rPr>
              <a:t>充電上限</a:t>
            </a:r>
            <a:endParaRPr lang="en-US" sz="1250" dirty="0"/>
          </a:p>
        </p:txBody>
      </p:sp>
      <p:sp>
        <p:nvSpPr>
          <p:cNvPr id="31" name="Text 29"/>
          <p:cNvSpPr/>
          <p:nvPr/>
        </p:nvSpPr>
        <p:spPr>
          <a:xfrm>
            <a:off x="2788920" y="4754880"/>
            <a:ext cx="8778240" cy="301752"/>
          </a:xfrm>
          <a:prstGeom prst="rect">
            <a:avLst/>
          </a:prstGeom>
          <a:noFill/>
          <a:ln/>
        </p:spPr>
        <p:txBody>
          <a:bodyPr wrap="square" lIns="0" tIns="0" rIns="0" bIns="0" rtlCol="0" anchor="ctr"/>
          <a:lstStyle/>
          <a:p>
            <a:pPr indent="0" marL="0">
              <a:buNone/>
            </a:pPr>
            <a:r>
              <a:rPr lang="en-US" sz="1000" dirty="0">
                <a:solidFill>
                  <a:srgbClr val="5A5A5A"/>
                </a:solidFill>
                <a:latin typeface="Yu Gothic" pitchFamily="34" charset="0"/>
                <a:ea typeface="Yu Gothic" pitchFamily="34" charset="-122"/>
                <a:cs typeface="Yu Gothic" pitchFamily="34" charset="-120"/>
              </a:rPr>
              <a:t>70°Cカットオフ</a:t>
            </a:r>
            <a:endParaRPr lang="en-US" sz="1000" dirty="0"/>
          </a:p>
        </p:txBody>
      </p:sp>
      <p:sp>
        <p:nvSpPr>
          <p:cNvPr id="32" name="Shape 30"/>
          <p:cNvSpPr/>
          <p:nvPr/>
        </p:nvSpPr>
        <p:spPr>
          <a:xfrm>
            <a:off x="457200" y="5230368"/>
            <a:ext cx="2103120" cy="777240"/>
          </a:xfrm>
          <a:prstGeom prst="rect">
            <a:avLst/>
          </a:prstGeom>
          <a:solidFill>
            <a:srgbClr val="B03A2E"/>
          </a:solidFill>
          <a:ln/>
        </p:spPr>
      </p:sp>
      <p:sp>
        <p:nvSpPr>
          <p:cNvPr id="33" name="Text 31"/>
          <p:cNvSpPr/>
          <p:nvPr/>
        </p:nvSpPr>
        <p:spPr>
          <a:xfrm>
            <a:off x="457200" y="5230368"/>
            <a:ext cx="210312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+80°C</a:t>
            </a:r>
            <a:endParaRPr lang="en-US" sz="1700" dirty="0"/>
          </a:p>
        </p:txBody>
      </p:sp>
      <p:sp>
        <p:nvSpPr>
          <p:cNvPr id="34" name="Shape 32"/>
          <p:cNvSpPr/>
          <p:nvPr/>
        </p:nvSpPr>
        <p:spPr>
          <a:xfrm>
            <a:off x="2560320" y="5230368"/>
            <a:ext cx="9171432" cy="777240"/>
          </a:xfrm>
          <a:prstGeom prst="rect">
            <a:avLst/>
          </a:prstGeom>
          <a:solidFill>
            <a:srgbClr val="FFFFFF"/>
          </a:solidFill>
          <a:ln w="9525">
            <a:solidFill>
              <a:srgbClr val="C8C8C8"/>
            </a:solidFill>
            <a:prstDash val="solid"/>
          </a:ln>
        </p:spPr>
      </p:sp>
      <p:sp>
        <p:nvSpPr>
          <p:cNvPr id="35" name="Text 33"/>
          <p:cNvSpPr/>
          <p:nvPr/>
        </p:nvSpPr>
        <p:spPr>
          <a:xfrm>
            <a:off x="2788920" y="5303520"/>
            <a:ext cx="8778240" cy="347472"/>
          </a:xfrm>
          <a:prstGeom prst="rect">
            <a:avLst/>
          </a:prstGeom>
          <a:noFill/>
          <a:ln/>
        </p:spPr>
        <p:txBody>
          <a:bodyPr wrap="square" lIns="0" tIns="0" rIns="0" bIns="0" rtlCol="0" anchor="ctr"/>
          <a:lstStyle/>
          <a:p>
            <a:pPr indent="0" marL="0">
              <a:buNone/>
            </a:pPr>
            <a:r>
              <a:rPr lang="en-US" sz="1250" b="1" dirty="0">
                <a:solidFill>
                  <a:srgbClr val="16324F"/>
                </a:solidFill>
                <a:latin typeface="Yu Gothic" pitchFamily="34" charset="0"/>
                <a:ea typeface="Yu Gothic" pitchFamily="34" charset="-122"/>
                <a:cs typeface="Yu Gothic" pitchFamily="34" charset="-120"/>
              </a:rPr>
              <a:t>放電上限</a:t>
            </a:r>
            <a:endParaRPr lang="en-US" sz="1250" dirty="0"/>
          </a:p>
        </p:txBody>
      </p:sp>
      <p:sp>
        <p:nvSpPr>
          <p:cNvPr id="36" name="Text 34"/>
          <p:cNvSpPr/>
          <p:nvPr/>
        </p:nvSpPr>
        <p:spPr>
          <a:xfrm>
            <a:off x="2788920" y="5650992"/>
            <a:ext cx="8778240" cy="301752"/>
          </a:xfrm>
          <a:prstGeom prst="rect">
            <a:avLst/>
          </a:prstGeom>
          <a:noFill/>
          <a:ln/>
        </p:spPr>
        <p:txBody>
          <a:bodyPr wrap="square" lIns="0" tIns="0" rIns="0" bIns="0" rtlCol="0" anchor="ctr"/>
          <a:lstStyle/>
          <a:p>
            <a:pPr indent="0" marL="0">
              <a:buNone/>
            </a:pPr>
            <a:r>
              <a:rPr lang="en-US" sz="1000" dirty="0">
                <a:solidFill>
                  <a:srgbClr val="5A5A5A"/>
                </a:solidFill>
                <a:latin typeface="Yu Gothic" pitchFamily="34" charset="0"/>
                <a:ea typeface="Yu Gothic" pitchFamily="34" charset="-122"/>
                <a:cs typeface="Yu Gothic" pitchFamily="34" charset="-120"/>
              </a:rPr>
              <a:t>砂漠 / 火災現場</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324F"/>
        </a:solidFill>
      </p:bgPr>
    </p:bg>
    <p:spTree>
      <p:nvGrpSpPr>
        <p:cNvPr id="1" name=""/>
        <p:cNvGrpSpPr/>
        <p:nvPr/>
      </p:nvGrpSpPr>
      <p:grpSpPr>
        <a:xfrm>
          <a:off x="0" y="0"/>
          <a:ext cx="0" cy="0"/>
          <a:chOff x="0" y="0"/>
          <a:chExt cx="0" cy="0"/>
        </a:xfrm>
      </p:grpSpPr>
      <p:sp>
        <p:nvSpPr>
          <p:cNvPr id="2" name="Text 0"/>
          <p:cNvSpPr/>
          <p:nvPr/>
        </p:nvSpPr>
        <p:spPr>
          <a:xfrm>
            <a:off x="457200" y="411480"/>
            <a:ext cx="274320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BK DONGYEOUNG TECH</a:t>
            </a:r>
            <a:endParaRPr lang="en-US" sz="900" dirty="0"/>
          </a:p>
        </p:txBody>
      </p:sp>
      <p:sp>
        <p:nvSpPr>
          <p:cNvPr id="3" name="Text 1"/>
          <p:cNvSpPr/>
          <p:nvPr/>
        </p:nvSpPr>
        <p:spPr>
          <a:xfrm>
            <a:off x="502920" y="1417320"/>
            <a:ext cx="4572000" cy="411480"/>
          </a:xfrm>
          <a:prstGeom prst="rect">
            <a:avLst/>
          </a:prstGeom>
          <a:noFill/>
          <a:ln/>
        </p:spPr>
        <p:txBody>
          <a:bodyPr wrap="square" lIns="0" tIns="0" rIns="0" bIns="0" rtlCol="0" anchor="ctr"/>
          <a:lstStyle/>
          <a:p>
            <a:pPr indent="0" marL="0">
              <a:buNone/>
            </a:pPr>
            <a:r>
              <a:rPr lang="en-US" sz="1800" b="1" dirty="0">
                <a:solidFill>
                  <a:srgbClr val="C9A227"/>
                </a:solidFill>
                <a:latin typeface="Arial" pitchFamily="34" charset="0"/>
                <a:ea typeface="Arial" pitchFamily="34" charset="-122"/>
                <a:cs typeface="Arial" pitchFamily="34" charset="-120"/>
              </a:rPr>
              <a:t>CHAPTER 04</a:t>
            </a:r>
            <a:endParaRPr lang="en-US" sz="1800" dirty="0"/>
          </a:p>
        </p:txBody>
      </p:sp>
      <p:sp>
        <p:nvSpPr>
          <p:cNvPr id="4" name="Shape 2"/>
          <p:cNvSpPr/>
          <p:nvPr/>
        </p:nvSpPr>
        <p:spPr>
          <a:xfrm>
            <a:off x="530352" y="1965960"/>
            <a:ext cx="502920" cy="64008"/>
          </a:xfrm>
          <a:prstGeom prst="rect">
            <a:avLst/>
          </a:prstGeom>
          <a:solidFill>
            <a:srgbClr val="C9A227"/>
          </a:solidFill>
          <a:ln/>
        </p:spPr>
      </p:sp>
      <p:sp>
        <p:nvSpPr>
          <p:cNvPr id="5" name="Text 3"/>
          <p:cNvSpPr/>
          <p:nvPr/>
        </p:nvSpPr>
        <p:spPr>
          <a:xfrm>
            <a:off x="457200" y="2148840"/>
            <a:ext cx="5852160" cy="2011680"/>
          </a:xfrm>
          <a:prstGeom prst="rect">
            <a:avLst/>
          </a:prstGeom>
          <a:noFill/>
          <a:ln/>
        </p:spPr>
        <p:txBody>
          <a:bodyPr wrap="square" lIns="0" tIns="0" rIns="0" bIns="0" rtlCol="0" anchor="t"/>
          <a:lstStyle/>
          <a:p>
            <a:pPr indent="0" marL="0">
              <a:buNone/>
            </a:pPr>
            <a:r>
              <a:rPr lang="en-US" sz="3400" b="1" dirty="0">
                <a:solidFill>
                  <a:srgbClr val="FFFFFF"/>
                </a:solidFill>
                <a:latin typeface="Yu Gothic" pitchFamily="34" charset="0"/>
                <a:ea typeface="Yu Gothic" pitchFamily="34" charset="-122"/>
                <a:cs typeface="Yu Gothic" pitchFamily="34" charset="-120"/>
              </a:rPr>
              <a:t>安全性</a:t>
            </a:r>
            <a:endParaRPr lang="en-US" sz="3400" dirty="0"/>
          </a:p>
          <a:p>
            <a:pPr indent="0" marL="0">
              <a:buNone/>
            </a:pPr>
            <a:r>
              <a:rPr lang="en-US" sz="3400" b="1" dirty="0">
                <a:solidFill>
                  <a:srgbClr val="FFFFFF"/>
                </a:solidFill>
                <a:latin typeface="Yu Gothic" pitchFamily="34" charset="0"/>
                <a:ea typeface="Yu Gothic" pitchFamily="34" charset="-122"/>
                <a:cs typeface="Yu Gothic" pitchFamily="34" charset="-120"/>
              </a:rPr>
              <a:t>発火ゼロ ·</a:t>
            </a:r>
            <a:endParaRPr lang="en-US" sz="3400" dirty="0"/>
          </a:p>
          <a:p>
            <a:pPr indent="0" marL="0">
              <a:buNone/>
            </a:pPr>
            <a:r>
              <a:rPr lang="en-US" sz="3400" b="1" dirty="0">
                <a:solidFill>
                  <a:srgbClr val="FFFFFF"/>
                </a:solidFill>
                <a:latin typeface="Yu Gothic" pitchFamily="34" charset="0"/>
                <a:ea typeface="Yu Gothic" pitchFamily="34" charset="-122"/>
                <a:cs typeface="Yu Gothic" pitchFamily="34" charset="-120"/>
              </a:rPr>
              <a:t>熱暴走ゼロ</a:t>
            </a:r>
            <a:endParaRPr lang="en-US" sz="3400" dirty="0"/>
          </a:p>
        </p:txBody>
      </p:sp>
      <p:sp>
        <p:nvSpPr>
          <p:cNvPr id="6" name="Text 4"/>
          <p:cNvSpPr/>
          <p:nvPr/>
        </p:nvSpPr>
        <p:spPr>
          <a:xfrm>
            <a:off x="502920" y="4434840"/>
            <a:ext cx="5394960" cy="1920240"/>
          </a:xfrm>
          <a:prstGeom prst="rect">
            <a:avLst/>
          </a:prstGeom>
          <a:noFill/>
          <a:ln/>
        </p:spPr>
        <p:txBody>
          <a:bodyPr wrap="square" lIns="0" tIns="0" rIns="0" bIns="0" rtlCol="0" anchor="t"/>
          <a:lstStyle/>
          <a:p>
            <a:pPr indent="0" marL="0">
              <a:buNone/>
            </a:pPr>
            <a:r>
              <a:rPr lang="en-US" sz="1150" dirty="0">
                <a:solidFill>
                  <a:srgbClr val="D8DEE8"/>
                </a:solidFill>
                <a:latin typeface="Yu Gothic" pitchFamily="34" charset="0"/>
                <a:ea typeface="Yu Gothic" pitchFamily="34" charset="-122"/>
                <a:cs typeface="Yu Gothic" pitchFamily="34" charset="-120"/>
              </a:rPr>
              <a:t>No Liquid · No SEI · No Dendrite の3大安全原則。</a:t>
            </a:r>
            <a:endParaRPr lang="en-US" sz="1150" dirty="0"/>
          </a:p>
          <a:p>
            <a:pPr indent="0" marL="0">
              <a:buNone/>
            </a:pPr>
            <a:endParaRPr lang="en-US" sz="1150" dirty="0"/>
          </a:p>
          <a:p>
            <a:pPr indent="0" marL="0">
              <a:buNone/>
            </a:pPr>
            <a:r>
              <a:rPr lang="en-US" sz="1150" dirty="0">
                <a:solidFill>
                  <a:srgbClr val="D8DEE8"/>
                </a:solidFill>
                <a:latin typeface="Yu Gothic" pitchFamily="34" charset="0"/>
                <a:ea typeface="Yu Gothic" pitchFamily="34" charset="-122"/>
                <a:cs typeface="Yu Gothic" pitchFamily="34" charset="-120"/>
              </a:rPr>
              <a:t>UL 248°C熱安定性、NATO 7.62 mm貫通発火ゼロ、-28°C 32分飛行、23件の認証 — 客観的データにより防衛適用の安全性を証明する。</a:t>
            </a:r>
            <a:endParaRPr lang="en-US" sz="1150" dirty="0"/>
          </a:p>
        </p:txBody>
      </p:sp>
      <p:sp>
        <p:nvSpPr>
          <p:cNvPr id="7" name="Shape 5"/>
          <p:cNvSpPr/>
          <p:nvPr/>
        </p:nvSpPr>
        <p:spPr>
          <a:xfrm>
            <a:off x="6400800" y="914400"/>
            <a:ext cx="5330952" cy="5029200"/>
          </a:xfrm>
          <a:prstGeom prst="rect">
            <a:avLst/>
          </a:prstGeom>
          <a:solidFill>
            <a:srgbClr val="24466B"/>
          </a:solidFill>
          <a:ln/>
        </p:spPr>
      </p:sp>
      <p:sp>
        <p:nvSpPr>
          <p:cNvPr id="8" name="Shape 6"/>
          <p:cNvSpPr/>
          <p:nvPr/>
        </p:nvSpPr>
        <p:spPr>
          <a:xfrm>
            <a:off x="6400800" y="914400"/>
            <a:ext cx="5330952" cy="82296"/>
          </a:xfrm>
          <a:prstGeom prst="rect">
            <a:avLst/>
          </a:prstGeom>
          <a:solidFill>
            <a:srgbClr val="C9A227"/>
          </a:solidFill>
          <a:ln/>
        </p:spPr>
      </p:sp>
      <p:sp>
        <p:nvSpPr>
          <p:cNvPr id="9" name="Text 7"/>
          <p:cNvSpPr/>
          <p:nvPr/>
        </p:nvSpPr>
        <p:spPr>
          <a:xfrm>
            <a:off x="6400800" y="2743200"/>
            <a:ext cx="5330952"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TNO-S</a:t>
            </a:r>
            <a:endParaRPr lang="en-US" sz="4400" dirty="0"/>
          </a:p>
        </p:txBody>
      </p:sp>
      <p:sp>
        <p:nvSpPr>
          <p:cNvPr id="10" name="Text 8"/>
          <p:cNvSpPr/>
          <p:nvPr/>
        </p:nvSpPr>
        <p:spPr>
          <a:xfrm>
            <a:off x="6400800" y="3657600"/>
            <a:ext cx="5330952" cy="365760"/>
          </a:xfrm>
          <a:prstGeom prst="rect">
            <a:avLst/>
          </a:prstGeom>
          <a:noFill/>
          <a:ln/>
        </p:spPr>
        <p:txBody>
          <a:bodyPr wrap="square" lIns="0" tIns="0" rIns="0" bIns="0" rtlCol="0" anchor="ctr"/>
          <a:lstStyle/>
          <a:p>
            <a:pPr algn="ctr" indent="0" marL="0">
              <a:buNone/>
            </a:pPr>
            <a:r>
              <a:rPr lang="en-US" sz="1200" dirty="0">
                <a:solidFill>
                  <a:srgbClr val="C9A227"/>
                </a:solidFill>
                <a:latin typeface="Arial" pitchFamily="34" charset="0"/>
                <a:ea typeface="Arial" pitchFamily="34" charset="-122"/>
                <a:cs typeface="Arial" pitchFamily="34" charset="-120"/>
              </a:rPr>
              <a:t>Lithium-Free All-Solid-State Battery</a:t>
            </a:r>
            <a:endParaRPr lang="en-US" sz="1200" dirty="0"/>
          </a:p>
        </p:txBody>
      </p:sp>
      <p:sp>
        <p:nvSpPr>
          <p:cNvPr id="11" name="Text 9"/>
          <p:cNvSpPr/>
          <p:nvPr/>
        </p:nvSpPr>
        <p:spPr>
          <a:xfrm>
            <a:off x="10725912" y="6355080"/>
            <a:ext cx="1097280" cy="274320"/>
          </a:xfrm>
          <a:prstGeom prst="rect">
            <a:avLst/>
          </a:prstGeom>
          <a:noFill/>
          <a:ln/>
        </p:spPr>
        <p:txBody>
          <a:bodyPr wrap="square" lIns="0" tIns="0" rIns="0" bIns="0" rtlCol="0" anchor="ctr"/>
          <a:lstStyle/>
          <a:p>
            <a:pPr algn="r" indent="0" marL="0">
              <a:buNone/>
            </a:pPr>
            <a:r>
              <a:rPr lang="en-US" sz="1000" b="1" dirty="0">
                <a:solidFill>
                  <a:srgbClr val="C9A227"/>
                </a:solidFill>
                <a:latin typeface="Arial" pitchFamily="34" charset="0"/>
                <a:ea typeface="Arial" pitchFamily="34" charset="-122"/>
                <a:cs typeface="Arial" pitchFamily="34" charset="-120"/>
              </a:rPr>
              <a:t>p.24/55</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4.1  TNO-S 3大安全原則</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24/55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3大安全原則 — 火災原因の構造的排除</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Three Safety Principles — Structural Fire Elimination</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600200"/>
            <a:ext cx="3611880" cy="685800"/>
          </a:xfrm>
          <a:prstGeom prst="rect">
            <a:avLst/>
          </a:prstGeom>
          <a:solidFill>
            <a:srgbClr val="B03A2E"/>
          </a:solidFill>
          <a:ln/>
        </p:spPr>
      </p:sp>
      <p:sp>
        <p:nvSpPr>
          <p:cNvPr id="13" name="Text 11"/>
          <p:cNvSpPr/>
          <p:nvPr/>
        </p:nvSpPr>
        <p:spPr>
          <a:xfrm>
            <a:off x="457200" y="1600200"/>
            <a:ext cx="361188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NO LIQUID</a:t>
            </a:r>
            <a:endParaRPr lang="en-US" sz="1100" dirty="0"/>
          </a:p>
          <a:p>
            <a:pPr algn="ctr" indent="0" marL="0">
              <a:buNone/>
            </a:pPr>
            <a:r>
              <a:rPr lang="en-US" sz="1100" b="1" dirty="0">
                <a:solidFill>
                  <a:srgbClr val="FFFFFF"/>
                </a:solidFill>
                <a:latin typeface="Yu Gothic" pitchFamily="34" charset="0"/>
                <a:ea typeface="Yu Gothic" pitchFamily="34" charset="-122"/>
                <a:cs typeface="Yu Gothic" pitchFamily="34" charset="-120"/>
              </a:rPr>
              <a:t>液体電解質なし</a:t>
            </a:r>
            <a:endParaRPr lang="en-US" sz="1100" dirty="0"/>
          </a:p>
        </p:txBody>
      </p:sp>
      <p:sp>
        <p:nvSpPr>
          <p:cNvPr id="14" name="Shape 12"/>
          <p:cNvSpPr/>
          <p:nvPr/>
        </p:nvSpPr>
        <p:spPr>
          <a:xfrm>
            <a:off x="457200" y="2286000"/>
            <a:ext cx="3611880" cy="1371600"/>
          </a:xfrm>
          <a:prstGeom prst="rect">
            <a:avLst/>
          </a:prstGeom>
          <a:solidFill>
            <a:srgbClr val="FFFFFF"/>
          </a:solidFill>
          <a:ln w="9525">
            <a:solidFill>
              <a:srgbClr val="C8C8C8"/>
            </a:solidFill>
            <a:prstDash val="solid"/>
          </a:ln>
        </p:spPr>
      </p:sp>
      <p:sp>
        <p:nvSpPr>
          <p:cNvPr id="15" name="Text 13"/>
          <p:cNvSpPr/>
          <p:nvPr/>
        </p:nvSpPr>
        <p:spPr>
          <a:xfrm>
            <a:off x="731520" y="2450592"/>
            <a:ext cx="3200400" cy="1143000"/>
          </a:xfrm>
          <a:prstGeom prst="rect">
            <a:avLst/>
          </a:prstGeom>
          <a:noFill/>
          <a:ln/>
        </p:spPr>
        <p:txBody>
          <a:bodyPr wrap="square" lIns="0" tIns="0" rIns="0" bIns="0" rtlCol="0" anchor="t"/>
          <a:lstStyle/>
          <a:p>
            <a:pPr marL="342900" indent="-342900">
              <a:spcAft>
                <a:spcPts val="600"/>
              </a:spcAft>
              <a:buSzPct val="100000"/>
              <a:buChar char="•"/>
            </a:pPr>
            <a:r>
              <a:rPr lang="en-US" sz="950" dirty="0">
                <a:solidFill>
                  <a:srgbClr val="1A1A1A"/>
                </a:solidFill>
                <a:latin typeface="Yu Gothic" pitchFamily="34" charset="0"/>
                <a:ea typeface="Yu Gothic" pitchFamily="34" charset="-122"/>
                <a:cs typeface="Yu Gothic" pitchFamily="34" charset="-120"/>
              </a:rPr>
              <a:t>固体酸化物電解質</a:t>
            </a:r>
            <a:endParaRPr lang="en-US" sz="950" dirty="0"/>
          </a:p>
          <a:p>
            <a:pPr marL="342900" indent="-342900">
              <a:spcAft>
                <a:spcPts val="600"/>
              </a:spcAft>
              <a:buSzPct val="100000"/>
              <a:buChar char="•"/>
            </a:pPr>
            <a:r>
              <a:rPr lang="en-US" sz="950" dirty="0">
                <a:solidFill>
                  <a:srgbClr val="1A1A1A"/>
                </a:solidFill>
                <a:latin typeface="Yu Gothic" pitchFamily="34" charset="0"/>
                <a:ea typeface="Yu Gothic" pitchFamily="34" charset="-122"/>
                <a:cs typeface="Yu Gothic" pitchFamily="34" charset="-120"/>
              </a:rPr>
              <a:t>漏液 0 · 引火点なし</a:t>
            </a:r>
            <a:endParaRPr lang="en-US" sz="950" dirty="0"/>
          </a:p>
          <a:p>
            <a:pPr marL="342900" indent="-342900">
              <a:spcAft>
                <a:spcPts val="600"/>
              </a:spcAft>
              <a:buSzPct val="100000"/>
              <a:buChar char="•"/>
            </a:pPr>
            <a:r>
              <a:rPr lang="en-US" sz="950" dirty="0">
                <a:solidFill>
                  <a:srgbClr val="1A1A1A"/>
                </a:solidFill>
                <a:latin typeface="Yu Gothic" pitchFamily="34" charset="0"/>
                <a:ea typeface="Yu Gothic" pitchFamily="34" charset="-122"/>
                <a:cs typeface="Yu Gothic" pitchFamily="34" charset="-120"/>
              </a:rPr>
              <a:t>換気不要</a:t>
            </a:r>
            <a:endParaRPr lang="en-US" sz="950" dirty="0"/>
          </a:p>
        </p:txBody>
      </p:sp>
      <p:sp>
        <p:nvSpPr>
          <p:cNvPr id="16" name="Shape 14"/>
          <p:cNvSpPr/>
          <p:nvPr/>
        </p:nvSpPr>
        <p:spPr>
          <a:xfrm>
            <a:off x="4297680" y="1600200"/>
            <a:ext cx="3611880" cy="685800"/>
          </a:xfrm>
          <a:prstGeom prst="rect">
            <a:avLst/>
          </a:prstGeom>
          <a:solidFill>
            <a:srgbClr val="B03A2E"/>
          </a:solidFill>
          <a:ln/>
        </p:spPr>
      </p:sp>
      <p:sp>
        <p:nvSpPr>
          <p:cNvPr id="17" name="Text 15"/>
          <p:cNvSpPr/>
          <p:nvPr/>
        </p:nvSpPr>
        <p:spPr>
          <a:xfrm>
            <a:off x="4297680" y="1600200"/>
            <a:ext cx="361188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NO SEI</a:t>
            </a:r>
            <a:endParaRPr lang="en-US" sz="1100" dirty="0"/>
          </a:p>
          <a:p>
            <a:pPr algn="ctr" indent="0" marL="0">
              <a:buNone/>
            </a:pPr>
            <a:r>
              <a:rPr lang="en-US" sz="1100" b="1" dirty="0">
                <a:solidFill>
                  <a:srgbClr val="FFFFFF"/>
                </a:solidFill>
                <a:latin typeface="Yu Gothic" pitchFamily="34" charset="0"/>
                <a:ea typeface="Yu Gothic" pitchFamily="34" charset="-122"/>
                <a:cs typeface="Yu Gothic" pitchFamily="34" charset="-120"/>
              </a:rPr>
              <a:t>SEI層形成ゼロ</a:t>
            </a:r>
            <a:endParaRPr lang="en-US" sz="1100" dirty="0"/>
          </a:p>
        </p:txBody>
      </p:sp>
      <p:sp>
        <p:nvSpPr>
          <p:cNvPr id="18" name="Shape 16"/>
          <p:cNvSpPr/>
          <p:nvPr/>
        </p:nvSpPr>
        <p:spPr>
          <a:xfrm>
            <a:off x="4297680" y="2286000"/>
            <a:ext cx="3611880" cy="1371600"/>
          </a:xfrm>
          <a:prstGeom prst="rect">
            <a:avLst/>
          </a:prstGeom>
          <a:solidFill>
            <a:srgbClr val="FFFFFF"/>
          </a:solidFill>
          <a:ln w="9525">
            <a:solidFill>
              <a:srgbClr val="C8C8C8"/>
            </a:solidFill>
            <a:prstDash val="solid"/>
          </a:ln>
        </p:spPr>
      </p:sp>
      <p:sp>
        <p:nvSpPr>
          <p:cNvPr id="19" name="Text 17"/>
          <p:cNvSpPr/>
          <p:nvPr/>
        </p:nvSpPr>
        <p:spPr>
          <a:xfrm>
            <a:off x="4572000" y="2450592"/>
            <a:ext cx="3200400" cy="1143000"/>
          </a:xfrm>
          <a:prstGeom prst="rect">
            <a:avLst/>
          </a:prstGeom>
          <a:noFill/>
          <a:ln/>
        </p:spPr>
        <p:txBody>
          <a:bodyPr wrap="square" lIns="0" tIns="0" rIns="0" bIns="0" rtlCol="0" anchor="t"/>
          <a:lstStyle/>
          <a:p>
            <a:pPr marL="342900" indent="-342900">
              <a:spcAft>
                <a:spcPts val="600"/>
              </a:spcAft>
              <a:buSzPct val="100000"/>
              <a:buChar char="•"/>
            </a:pPr>
            <a:r>
              <a:rPr lang="en-US" sz="950" dirty="0">
                <a:solidFill>
                  <a:srgbClr val="1A1A1A"/>
                </a:solidFill>
                <a:latin typeface="Yu Gothic" pitchFamily="34" charset="0"/>
                <a:ea typeface="Yu Gothic" pitchFamily="34" charset="-122"/>
                <a:cs typeface="Yu Gothic" pitchFamily="34" charset="-120"/>
              </a:rPr>
              <a:t>界面ガス発生ゼロ</a:t>
            </a:r>
            <a:endParaRPr lang="en-US" sz="950" dirty="0"/>
          </a:p>
          <a:p>
            <a:pPr marL="342900" indent="-342900">
              <a:spcAft>
                <a:spcPts val="600"/>
              </a:spcAft>
              <a:buSzPct val="100000"/>
              <a:buChar char="•"/>
            </a:pPr>
            <a:r>
              <a:rPr lang="en-US" sz="950" dirty="0">
                <a:solidFill>
                  <a:srgbClr val="1A1A1A"/>
                </a:solidFill>
                <a:latin typeface="Yu Gothic" pitchFamily="34" charset="0"/>
                <a:ea typeface="Yu Gothic" pitchFamily="34" charset="-122"/>
                <a:cs typeface="Yu Gothic" pitchFamily="34" charset="-120"/>
              </a:rPr>
              <a:t>セル膨張ゼロ</a:t>
            </a:r>
            <a:endParaRPr lang="en-US" sz="950" dirty="0"/>
          </a:p>
          <a:p>
            <a:pPr marL="342900" indent="-342900">
              <a:spcAft>
                <a:spcPts val="600"/>
              </a:spcAft>
              <a:buSzPct val="100000"/>
              <a:buChar char="•"/>
            </a:pPr>
            <a:r>
              <a:rPr lang="en-US" sz="950" dirty="0">
                <a:solidFill>
                  <a:srgbClr val="1A1A1A"/>
                </a:solidFill>
                <a:latin typeface="Yu Gothic" pitchFamily="34" charset="0"/>
                <a:ea typeface="Yu Gothic" pitchFamily="34" charset="-122"/>
                <a:cs typeface="Yu Gothic" pitchFamily="34" charset="-120"/>
              </a:rPr>
              <a:t>発熱反応なし</a:t>
            </a:r>
            <a:endParaRPr lang="en-US" sz="950" dirty="0"/>
          </a:p>
        </p:txBody>
      </p:sp>
      <p:sp>
        <p:nvSpPr>
          <p:cNvPr id="20" name="Shape 18"/>
          <p:cNvSpPr/>
          <p:nvPr/>
        </p:nvSpPr>
        <p:spPr>
          <a:xfrm>
            <a:off x="8138160" y="1600200"/>
            <a:ext cx="3611880" cy="685800"/>
          </a:xfrm>
          <a:prstGeom prst="rect">
            <a:avLst/>
          </a:prstGeom>
          <a:solidFill>
            <a:srgbClr val="B03A2E"/>
          </a:solidFill>
          <a:ln/>
        </p:spPr>
      </p:sp>
      <p:sp>
        <p:nvSpPr>
          <p:cNvPr id="21" name="Text 19"/>
          <p:cNvSpPr/>
          <p:nvPr/>
        </p:nvSpPr>
        <p:spPr>
          <a:xfrm>
            <a:off x="8138160" y="1600200"/>
            <a:ext cx="361188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NO DENDRITE</a:t>
            </a:r>
            <a:endParaRPr lang="en-US" sz="1100" dirty="0"/>
          </a:p>
          <a:p>
            <a:pPr algn="ctr" indent="0" marL="0">
              <a:buNone/>
            </a:pPr>
            <a:r>
              <a:rPr lang="en-US" sz="1100" b="1" dirty="0">
                <a:solidFill>
                  <a:srgbClr val="FFFFFF"/>
                </a:solidFill>
                <a:latin typeface="Yu Gothic" pitchFamily="34" charset="0"/>
                <a:ea typeface="Yu Gothic" pitchFamily="34" charset="-122"/>
                <a:cs typeface="Yu Gothic" pitchFamily="34" charset="-120"/>
              </a:rPr>
              <a:t>デンドライト形成なし</a:t>
            </a:r>
            <a:endParaRPr lang="en-US" sz="1100" dirty="0"/>
          </a:p>
        </p:txBody>
      </p:sp>
      <p:sp>
        <p:nvSpPr>
          <p:cNvPr id="22" name="Shape 20"/>
          <p:cNvSpPr/>
          <p:nvPr/>
        </p:nvSpPr>
        <p:spPr>
          <a:xfrm>
            <a:off x="8138160" y="2286000"/>
            <a:ext cx="3611880" cy="1371600"/>
          </a:xfrm>
          <a:prstGeom prst="rect">
            <a:avLst/>
          </a:prstGeom>
          <a:solidFill>
            <a:srgbClr val="FFFFFF"/>
          </a:solidFill>
          <a:ln w="9525">
            <a:solidFill>
              <a:srgbClr val="C8C8C8"/>
            </a:solidFill>
            <a:prstDash val="solid"/>
          </a:ln>
        </p:spPr>
      </p:sp>
      <p:sp>
        <p:nvSpPr>
          <p:cNvPr id="23" name="Text 21"/>
          <p:cNvSpPr/>
          <p:nvPr/>
        </p:nvSpPr>
        <p:spPr>
          <a:xfrm>
            <a:off x="8412480" y="2450592"/>
            <a:ext cx="3200400" cy="1143000"/>
          </a:xfrm>
          <a:prstGeom prst="rect">
            <a:avLst/>
          </a:prstGeom>
          <a:noFill/>
          <a:ln/>
        </p:spPr>
        <p:txBody>
          <a:bodyPr wrap="square" lIns="0" tIns="0" rIns="0" bIns="0" rtlCol="0" anchor="t"/>
          <a:lstStyle/>
          <a:p>
            <a:pPr marL="342900" indent="-342900">
              <a:spcAft>
                <a:spcPts val="600"/>
              </a:spcAft>
              <a:buSzPct val="100000"/>
              <a:buChar char="•"/>
            </a:pPr>
            <a:r>
              <a:rPr lang="en-US" sz="950" dirty="0">
                <a:solidFill>
                  <a:srgbClr val="1A1A1A"/>
                </a:solidFill>
                <a:latin typeface="Yu Gothic" pitchFamily="34" charset="0"/>
                <a:ea typeface="Yu Gothic" pitchFamily="34" charset="-122"/>
                <a:cs typeface="Yu Gothic" pitchFamily="34" charset="-120"/>
              </a:rPr>
              <a:t>リチウム析出を根源から排除</a:t>
            </a:r>
            <a:endParaRPr lang="en-US" sz="950" dirty="0"/>
          </a:p>
          <a:p>
            <a:pPr marL="342900" indent="-342900">
              <a:spcAft>
                <a:spcPts val="600"/>
              </a:spcAft>
              <a:buSzPct val="100000"/>
              <a:buChar char="•"/>
            </a:pPr>
            <a:r>
              <a:rPr lang="en-US" sz="950" dirty="0">
                <a:solidFill>
                  <a:srgbClr val="1A1A1A"/>
                </a:solidFill>
                <a:latin typeface="Yu Gothic" pitchFamily="34" charset="0"/>
                <a:ea typeface="Yu Gothic" pitchFamily="34" charset="-122"/>
                <a:cs typeface="Yu Gothic" pitchFamily="34" charset="-120"/>
              </a:rPr>
              <a:t>内部短絡ゼロ</a:t>
            </a:r>
            <a:endParaRPr lang="en-US" sz="950" dirty="0"/>
          </a:p>
          <a:p>
            <a:pPr marL="342900" indent="-342900">
              <a:spcAft>
                <a:spcPts val="600"/>
              </a:spcAft>
              <a:buSzPct val="100000"/>
              <a:buChar char="•"/>
            </a:pPr>
            <a:r>
              <a:rPr lang="en-US" sz="950" dirty="0">
                <a:solidFill>
                  <a:srgbClr val="1A1A1A"/>
                </a:solidFill>
                <a:latin typeface="Yu Gothic" pitchFamily="34" charset="0"/>
                <a:ea typeface="Yu Gothic" pitchFamily="34" charset="-122"/>
                <a:cs typeface="Yu Gothic" pitchFamily="34" charset="-120"/>
              </a:rPr>
              <a:t>過充放電に強靭</a:t>
            </a:r>
            <a:endParaRPr lang="en-US" sz="950" dirty="0"/>
          </a:p>
        </p:txBody>
      </p:sp>
      <p:sp>
        <p:nvSpPr>
          <p:cNvPr id="24" name="Text 22"/>
          <p:cNvSpPr/>
          <p:nvPr/>
        </p:nvSpPr>
        <p:spPr>
          <a:xfrm>
            <a:off x="457200" y="3840480"/>
            <a:ext cx="11274552" cy="320040"/>
          </a:xfrm>
          <a:prstGeom prst="rect">
            <a:avLst/>
          </a:prstGeom>
          <a:noFill/>
          <a:ln/>
        </p:spPr>
        <p:txBody>
          <a:bodyPr wrap="square" lIns="0" tIns="0" rIns="0" bIns="0" rtlCol="0" anchor="ctr"/>
          <a:lstStyle/>
          <a:p>
            <a:pPr indent="0" marL="0">
              <a:buNone/>
            </a:pPr>
            <a:r>
              <a:rPr lang="en-US" sz="1100" b="1" i="1" dirty="0">
                <a:solidFill>
                  <a:srgbClr val="16324F"/>
                </a:solidFill>
                <a:latin typeface="Yu Gothic" pitchFamily="34" charset="0"/>
                <a:ea typeface="Yu Gothic" pitchFamily="34" charset="-122"/>
                <a:cs typeface="Yu Gothic" pitchFamily="34" charset="-120"/>
              </a:rPr>
              <a:t>▼ NO LIQUIDの実装 — 電解質「逆(逆)乾燥」プロセス:液体電解質 → 多段乾燥 → 固体酸化物の形成(25°C → 50°C → 80°C)</a:t>
            </a:r>
            <a:endParaRPr lang="en-US" sz="1100" dirty="0"/>
          </a:p>
        </p:txBody>
      </p:sp>
      <p:sp>
        <p:nvSpPr>
          <p:cNvPr id="25" name="Shape 23"/>
          <p:cNvSpPr/>
          <p:nvPr/>
        </p:nvSpPr>
        <p:spPr>
          <a:xfrm>
            <a:off x="457200" y="4297680"/>
            <a:ext cx="2651760" cy="457200"/>
          </a:xfrm>
          <a:prstGeom prst="rect">
            <a:avLst/>
          </a:prstGeom>
          <a:solidFill>
            <a:srgbClr val="16324F"/>
          </a:solidFill>
          <a:ln/>
        </p:spPr>
      </p:sp>
      <p:sp>
        <p:nvSpPr>
          <p:cNvPr id="26" name="Text 24"/>
          <p:cNvSpPr/>
          <p:nvPr/>
        </p:nvSpPr>
        <p:spPr>
          <a:xfrm>
            <a:off x="457200" y="4297680"/>
            <a:ext cx="2651760" cy="457200"/>
          </a:xfrm>
          <a:prstGeom prst="rect">
            <a:avLst/>
          </a:prstGeom>
          <a:noFill/>
          <a:ln/>
        </p:spPr>
        <p:txBody>
          <a:bodyPr wrap="square" lIns="0" tIns="0" rIns="0" bIns="0" rtlCol="0" anchor="ctr"/>
          <a:lstStyle/>
          <a:p>
            <a:pPr algn="ctr" indent="0" marL="0">
              <a:buNone/>
            </a:pPr>
            <a:r>
              <a:rPr lang="en-US" sz="1200" b="1" dirty="0">
                <a:solidFill>
                  <a:srgbClr val="C9A227"/>
                </a:solidFill>
                <a:latin typeface="Arial" pitchFamily="34" charset="0"/>
                <a:ea typeface="Arial" pitchFamily="34" charset="-122"/>
                <a:cs typeface="Arial" pitchFamily="34" charset="-120"/>
              </a:rPr>
              <a:t>STEP 1</a:t>
            </a:r>
            <a:endParaRPr lang="en-US" sz="1200" dirty="0"/>
          </a:p>
        </p:txBody>
      </p:sp>
      <p:sp>
        <p:nvSpPr>
          <p:cNvPr id="27" name="Shape 25"/>
          <p:cNvSpPr/>
          <p:nvPr/>
        </p:nvSpPr>
        <p:spPr>
          <a:xfrm>
            <a:off x="457200" y="4754880"/>
            <a:ext cx="2651760" cy="1325880"/>
          </a:xfrm>
          <a:prstGeom prst="rect">
            <a:avLst/>
          </a:prstGeom>
          <a:solidFill>
            <a:srgbClr val="FFFFFF"/>
          </a:solidFill>
          <a:ln w="9525">
            <a:solidFill>
              <a:srgbClr val="C8C8C8"/>
            </a:solidFill>
            <a:prstDash val="solid"/>
          </a:ln>
        </p:spPr>
      </p:sp>
      <p:sp>
        <p:nvSpPr>
          <p:cNvPr id="28" name="Text 26"/>
          <p:cNvSpPr/>
          <p:nvPr/>
        </p:nvSpPr>
        <p:spPr>
          <a:xfrm>
            <a:off x="566928" y="4846320"/>
            <a:ext cx="2432304" cy="1143000"/>
          </a:xfrm>
          <a:prstGeom prst="rect">
            <a:avLst/>
          </a:prstGeom>
          <a:noFill/>
          <a:ln/>
        </p:spPr>
        <p:txBody>
          <a:bodyPr wrap="square" lIns="0" tIns="0" rIns="0" bIns="0" rtlCol="0" anchor="ctr"/>
          <a:lstStyle/>
          <a:p>
            <a:pPr algn="ctr" indent="0" marL="0">
              <a:buNone/>
            </a:pPr>
            <a:r>
              <a:rPr lang="en-US" sz="950" dirty="0">
                <a:solidFill>
                  <a:srgbClr val="1A1A1A"/>
                </a:solidFill>
                <a:latin typeface="Yu Gothic" pitchFamily="34" charset="0"/>
                <a:ea typeface="Yu Gothic" pitchFamily="34" charset="-122"/>
                <a:cs typeface="Yu Gothic" pitchFamily="34" charset="-120"/>
              </a:rPr>
              <a:t>液体電解質の注入</a:t>
            </a:r>
            <a:endParaRPr lang="en-US" sz="950" dirty="0"/>
          </a:p>
        </p:txBody>
      </p:sp>
      <p:sp>
        <p:nvSpPr>
          <p:cNvPr id="29" name="Text 27"/>
          <p:cNvSpPr/>
          <p:nvPr/>
        </p:nvSpPr>
        <p:spPr>
          <a:xfrm>
            <a:off x="3108960" y="5120640"/>
            <a:ext cx="228600" cy="457200"/>
          </a:xfrm>
          <a:prstGeom prst="rect">
            <a:avLst/>
          </a:prstGeom>
          <a:noFill/>
          <a:ln/>
        </p:spPr>
        <p:txBody>
          <a:bodyPr wrap="square" lIns="0" tIns="0" rIns="0" bIns="0" rtlCol="0" anchor="ctr"/>
          <a:lstStyle/>
          <a:p>
            <a:pPr algn="ctr" indent="0" marL="0">
              <a:buNone/>
            </a:pPr>
            <a:r>
              <a:rPr lang="en-US" sz="1400" b="1" dirty="0">
                <a:solidFill>
                  <a:srgbClr val="C9A227"/>
                </a:solidFill>
                <a:latin typeface="Arial" pitchFamily="34" charset="0"/>
                <a:ea typeface="Arial" pitchFamily="34" charset="-122"/>
                <a:cs typeface="Arial" pitchFamily="34" charset="-120"/>
              </a:rPr>
              <a:t>▶</a:t>
            </a:r>
            <a:endParaRPr lang="en-US" sz="1400" dirty="0"/>
          </a:p>
        </p:txBody>
      </p:sp>
      <p:sp>
        <p:nvSpPr>
          <p:cNvPr id="30" name="Shape 28"/>
          <p:cNvSpPr/>
          <p:nvPr/>
        </p:nvSpPr>
        <p:spPr>
          <a:xfrm>
            <a:off x="3337560" y="4297680"/>
            <a:ext cx="2651760" cy="457200"/>
          </a:xfrm>
          <a:prstGeom prst="rect">
            <a:avLst/>
          </a:prstGeom>
          <a:solidFill>
            <a:srgbClr val="16324F"/>
          </a:solidFill>
          <a:ln/>
        </p:spPr>
      </p:sp>
      <p:sp>
        <p:nvSpPr>
          <p:cNvPr id="31" name="Text 29"/>
          <p:cNvSpPr/>
          <p:nvPr/>
        </p:nvSpPr>
        <p:spPr>
          <a:xfrm>
            <a:off x="3337560" y="4297680"/>
            <a:ext cx="2651760" cy="457200"/>
          </a:xfrm>
          <a:prstGeom prst="rect">
            <a:avLst/>
          </a:prstGeom>
          <a:noFill/>
          <a:ln/>
        </p:spPr>
        <p:txBody>
          <a:bodyPr wrap="square" lIns="0" tIns="0" rIns="0" bIns="0" rtlCol="0" anchor="ctr"/>
          <a:lstStyle/>
          <a:p>
            <a:pPr algn="ctr" indent="0" marL="0">
              <a:buNone/>
            </a:pPr>
            <a:r>
              <a:rPr lang="en-US" sz="1200" b="1" dirty="0">
                <a:solidFill>
                  <a:srgbClr val="C9A227"/>
                </a:solidFill>
                <a:latin typeface="Arial" pitchFamily="34" charset="0"/>
                <a:ea typeface="Arial" pitchFamily="34" charset="-122"/>
                <a:cs typeface="Arial" pitchFamily="34" charset="-120"/>
              </a:rPr>
              <a:t>STEP 2</a:t>
            </a:r>
            <a:endParaRPr lang="en-US" sz="1200" dirty="0"/>
          </a:p>
        </p:txBody>
      </p:sp>
      <p:sp>
        <p:nvSpPr>
          <p:cNvPr id="32" name="Shape 30"/>
          <p:cNvSpPr/>
          <p:nvPr/>
        </p:nvSpPr>
        <p:spPr>
          <a:xfrm>
            <a:off x="3337560" y="4754880"/>
            <a:ext cx="2651760" cy="1325880"/>
          </a:xfrm>
          <a:prstGeom prst="rect">
            <a:avLst/>
          </a:prstGeom>
          <a:solidFill>
            <a:srgbClr val="FFFFFF"/>
          </a:solidFill>
          <a:ln w="9525">
            <a:solidFill>
              <a:srgbClr val="C8C8C8"/>
            </a:solidFill>
            <a:prstDash val="solid"/>
          </a:ln>
        </p:spPr>
      </p:sp>
      <p:sp>
        <p:nvSpPr>
          <p:cNvPr id="33" name="Text 31"/>
          <p:cNvSpPr/>
          <p:nvPr/>
        </p:nvSpPr>
        <p:spPr>
          <a:xfrm>
            <a:off x="3447288" y="4846320"/>
            <a:ext cx="2432304" cy="1143000"/>
          </a:xfrm>
          <a:prstGeom prst="rect">
            <a:avLst/>
          </a:prstGeom>
          <a:noFill/>
          <a:ln/>
        </p:spPr>
        <p:txBody>
          <a:bodyPr wrap="square" lIns="0" tIns="0" rIns="0" bIns="0" rtlCol="0" anchor="ctr"/>
          <a:lstStyle/>
          <a:p>
            <a:pPr algn="ctr" indent="0" marL="0">
              <a:buNone/>
            </a:pPr>
            <a:r>
              <a:rPr lang="en-US" sz="950" dirty="0">
                <a:solidFill>
                  <a:srgbClr val="1A1A1A"/>
                </a:solidFill>
                <a:latin typeface="Yu Gothic" pitchFamily="34" charset="0"/>
                <a:ea typeface="Yu Gothic" pitchFamily="34" charset="-122"/>
                <a:cs typeface="Yu Gothic" pitchFamily="34" charset="-120"/>
              </a:rPr>
              <a:t>一次乾燥 25→50°C(溶媒蒸発 · 中間ゲル)</a:t>
            </a:r>
            <a:endParaRPr lang="en-US" sz="950" dirty="0"/>
          </a:p>
        </p:txBody>
      </p:sp>
      <p:sp>
        <p:nvSpPr>
          <p:cNvPr id="34" name="Text 32"/>
          <p:cNvSpPr/>
          <p:nvPr/>
        </p:nvSpPr>
        <p:spPr>
          <a:xfrm>
            <a:off x="5989320" y="5120640"/>
            <a:ext cx="228600" cy="457200"/>
          </a:xfrm>
          <a:prstGeom prst="rect">
            <a:avLst/>
          </a:prstGeom>
          <a:noFill/>
          <a:ln/>
        </p:spPr>
        <p:txBody>
          <a:bodyPr wrap="square" lIns="0" tIns="0" rIns="0" bIns="0" rtlCol="0" anchor="ctr"/>
          <a:lstStyle/>
          <a:p>
            <a:pPr algn="ctr" indent="0" marL="0">
              <a:buNone/>
            </a:pPr>
            <a:r>
              <a:rPr lang="en-US" sz="1400" b="1" dirty="0">
                <a:solidFill>
                  <a:srgbClr val="C9A227"/>
                </a:solidFill>
                <a:latin typeface="Arial" pitchFamily="34" charset="0"/>
                <a:ea typeface="Arial" pitchFamily="34" charset="-122"/>
                <a:cs typeface="Arial" pitchFamily="34" charset="-120"/>
              </a:rPr>
              <a:t>▶</a:t>
            </a:r>
            <a:endParaRPr lang="en-US" sz="1400" dirty="0"/>
          </a:p>
        </p:txBody>
      </p:sp>
      <p:sp>
        <p:nvSpPr>
          <p:cNvPr id="35" name="Shape 33"/>
          <p:cNvSpPr/>
          <p:nvPr/>
        </p:nvSpPr>
        <p:spPr>
          <a:xfrm>
            <a:off x="6217920" y="4297680"/>
            <a:ext cx="2651760" cy="457200"/>
          </a:xfrm>
          <a:prstGeom prst="rect">
            <a:avLst/>
          </a:prstGeom>
          <a:solidFill>
            <a:srgbClr val="16324F"/>
          </a:solidFill>
          <a:ln/>
        </p:spPr>
      </p:sp>
      <p:sp>
        <p:nvSpPr>
          <p:cNvPr id="36" name="Text 34"/>
          <p:cNvSpPr/>
          <p:nvPr/>
        </p:nvSpPr>
        <p:spPr>
          <a:xfrm>
            <a:off x="6217920" y="4297680"/>
            <a:ext cx="2651760" cy="457200"/>
          </a:xfrm>
          <a:prstGeom prst="rect">
            <a:avLst/>
          </a:prstGeom>
          <a:noFill/>
          <a:ln/>
        </p:spPr>
        <p:txBody>
          <a:bodyPr wrap="square" lIns="0" tIns="0" rIns="0" bIns="0" rtlCol="0" anchor="ctr"/>
          <a:lstStyle/>
          <a:p>
            <a:pPr algn="ctr" indent="0" marL="0">
              <a:buNone/>
            </a:pPr>
            <a:r>
              <a:rPr lang="en-US" sz="1200" b="1" dirty="0">
                <a:solidFill>
                  <a:srgbClr val="C9A227"/>
                </a:solidFill>
                <a:latin typeface="Arial" pitchFamily="34" charset="0"/>
                <a:ea typeface="Arial" pitchFamily="34" charset="-122"/>
                <a:cs typeface="Arial" pitchFamily="34" charset="-120"/>
              </a:rPr>
              <a:t>STEP 3</a:t>
            </a:r>
            <a:endParaRPr lang="en-US" sz="1200" dirty="0"/>
          </a:p>
        </p:txBody>
      </p:sp>
      <p:sp>
        <p:nvSpPr>
          <p:cNvPr id="37" name="Shape 35"/>
          <p:cNvSpPr/>
          <p:nvPr/>
        </p:nvSpPr>
        <p:spPr>
          <a:xfrm>
            <a:off x="6217920" y="4754880"/>
            <a:ext cx="2651760" cy="1325880"/>
          </a:xfrm>
          <a:prstGeom prst="rect">
            <a:avLst/>
          </a:prstGeom>
          <a:solidFill>
            <a:srgbClr val="FFFFFF"/>
          </a:solidFill>
          <a:ln w="9525">
            <a:solidFill>
              <a:srgbClr val="C8C8C8"/>
            </a:solidFill>
            <a:prstDash val="solid"/>
          </a:ln>
        </p:spPr>
      </p:sp>
      <p:sp>
        <p:nvSpPr>
          <p:cNvPr id="38" name="Text 36"/>
          <p:cNvSpPr/>
          <p:nvPr/>
        </p:nvSpPr>
        <p:spPr>
          <a:xfrm>
            <a:off x="6327648" y="4846320"/>
            <a:ext cx="2432304" cy="1143000"/>
          </a:xfrm>
          <a:prstGeom prst="rect">
            <a:avLst/>
          </a:prstGeom>
          <a:noFill/>
          <a:ln/>
        </p:spPr>
        <p:txBody>
          <a:bodyPr wrap="square" lIns="0" tIns="0" rIns="0" bIns="0" rtlCol="0" anchor="ctr"/>
          <a:lstStyle/>
          <a:p>
            <a:pPr algn="ctr" indent="0" marL="0">
              <a:buNone/>
            </a:pPr>
            <a:r>
              <a:rPr lang="en-US" sz="950" dirty="0">
                <a:solidFill>
                  <a:srgbClr val="1A1A1A"/>
                </a:solidFill>
                <a:latin typeface="Yu Gothic" pitchFamily="34" charset="0"/>
                <a:ea typeface="Yu Gothic" pitchFamily="34" charset="-122"/>
                <a:cs typeface="Yu Gothic" pitchFamily="34" charset="-120"/>
              </a:rPr>
              <a:t>二次乾燥 50→80°C(固体化 · 結晶化進行)</a:t>
            </a:r>
            <a:endParaRPr lang="en-US" sz="950" dirty="0"/>
          </a:p>
        </p:txBody>
      </p:sp>
      <p:sp>
        <p:nvSpPr>
          <p:cNvPr id="39" name="Text 37"/>
          <p:cNvSpPr/>
          <p:nvPr/>
        </p:nvSpPr>
        <p:spPr>
          <a:xfrm>
            <a:off x="8869680" y="5120640"/>
            <a:ext cx="228600" cy="457200"/>
          </a:xfrm>
          <a:prstGeom prst="rect">
            <a:avLst/>
          </a:prstGeom>
          <a:noFill/>
          <a:ln/>
        </p:spPr>
        <p:txBody>
          <a:bodyPr wrap="square" lIns="0" tIns="0" rIns="0" bIns="0" rtlCol="0" anchor="ctr"/>
          <a:lstStyle/>
          <a:p>
            <a:pPr algn="ctr" indent="0" marL="0">
              <a:buNone/>
            </a:pPr>
            <a:r>
              <a:rPr lang="en-US" sz="1400" b="1" dirty="0">
                <a:solidFill>
                  <a:srgbClr val="C9A227"/>
                </a:solidFill>
                <a:latin typeface="Arial" pitchFamily="34" charset="0"/>
                <a:ea typeface="Arial" pitchFamily="34" charset="-122"/>
                <a:cs typeface="Arial" pitchFamily="34" charset="-120"/>
              </a:rPr>
              <a:t>▶</a:t>
            </a:r>
            <a:endParaRPr lang="en-US" sz="1400" dirty="0"/>
          </a:p>
        </p:txBody>
      </p:sp>
      <p:sp>
        <p:nvSpPr>
          <p:cNvPr id="40" name="Shape 38"/>
          <p:cNvSpPr/>
          <p:nvPr/>
        </p:nvSpPr>
        <p:spPr>
          <a:xfrm>
            <a:off x="9098280" y="4297680"/>
            <a:ext cx="2651760" cy="457200"/>
          </a:xfrm>
          <a:prstGeom prst="rect">
            <a:avLst/>
          </a:prstGeom>
          <a:solidFill>
            <a:srgbClr val="16324F"/>
          </a:solidFill>
          <a:ln/>
        </p:spPr>
      </p:sp>
      <p:sp>
        <p:nvSpPr>
          <p:cNvPr id="41" name="Text 39"/>
          <p:cNvSpPr/>
          <p:nvPr/>
        </p:nvSpPr>
        <p:spPr>
          <a:xfrm>
            <a:off x="9098280" y="4297680"/>
            <a:ext cx="2651760" cy="457200"/>
          </a:xfrm>
          <a:prstGeom prst="rect">
            <a:avLst/>
          </a:prstGeom>
          <a:noFill/>
          <a:ln/>
        </p:spPr>
        <p:txBody>
          <a:bodyPr wrap="square" lIns="0" tIns="0" rIns="0" bIns="0" rtlCol="0" anchor="ctr"/>
          <a:lstStyle/>
          <a:p>
            <a:pPr algn="ctr" indent="0" marL="0">
              <a:buNone/>
            </a:pPr>
            <a:r>
              <a:rPr lang="en-US" sz="1200" b="1" dirty="0">
                <a:solidFill>
                  <a:srgbClr val="C9A227"/>
                </a:solidFill>
                <a:latin typeface="Arial" pitchFamily="34" charset="0"/>
                <a:ea typeface="Arial" pitchFamily="34" charset="-122"/>
                <a:cs typeface="Arial" pitchFamily="34" charset="-120"/>
              </a:rPr>
              <a:t>STEP 4</a:t>
            </a:r>
            <a:endParaRPr lang="en-US" sz="1200" dirty="0"/>
          </a:p>
        </p:txBody>
      </p:sp>
      <p:sp>
        <p:nvSpPr>
          <p:cNvPr id="42" name="Shape 40"/>
          <p:cNvSpPr/>
          <p:nvPr/>
        </p:nvSpPr>
        <p:spPr>
          <a:xfrm>
            <a:off x="9098280" y="4754880"/>
            <a:ext cx="2651760" cy="1325880"/>
          </a:xfrm>
          <a:prstGeom prst="rect">
            <a:avLst/>
          </a:prstGeom>
          <a:solidFill>
            <a:srgbClr val="FFFFFF"/>
          </a:solidFill>
          <a:ln w="9525">
            <a:solidFill>
              <a:srgbClr val="C8C8C8"/>
            </a:solidFill>
            <a:prstDash val="solid"/>
          </a:ln>
        </p:spPr>
      </p:sp>
      <p:sp>
        <p:nvSpPr>
          <p:cNvPr id="43" name="Text 41"/>
          <p:cNvSpPr/>
          <p:nvPr/>
        </p:nvSpPr>
        <p:spPr>
          <a:xfrm>
            <a:off x="9208008" y="4846320"/>
            <a:ext cx="2432304" cy="1143000"/>
          </a:xfrm>
          <a:prstGeom prst="rect">
            <a:avLst/>
          </a:prstGeom>
          <a:noFill/>
          <a:ln/>
        </p:spPr>
        <p:txBody>
          <a:bodyPr wrap="square" lIns="0" tIns="0" rIns="0" bIns="0" rtlCol="0" anchor="ctr"/>
          <a:lstStyle/>
          <a:p>
            <a:pPr algn="ctr" indent="0" marL="0">
              <a:buNone/>
            </a:pPr>
            <a:r>
              <a:rPr lang="en-US" sz="950" dirty="0">
                <a:solidFill>
                  <a:srgbClr val="1A1A1A"/>
                </a:solidFill>
                <a:latin typeface="Yu Gothic" pitchFamily="34" charset="0"/>
                <a:ea typeface="Yu Gothic" pitchFamily="34" charset="-122"/>
                <a:cs typeface="Yu Gothic" pitchFamily="34" charset="-120"/>
              </a:rPr>
              <a:t>固体酸化物電解質の完成:漏液0 · 引火点不在 · 換気不要</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4.2  UL熱暴走試験 — 248°Cまで安定</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25/55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UL熱暴走試験 — 248°Cまで安定</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UL Thermal Runaway Test — Stable up to 248°C</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645920"/>
            <a:ext cx="5394960" cy="548640"/>
          </a:xfrm>
          <a:prstGeom prst="rect">
            <a:avLst/>
          </a:prstGeom>
          <a:solidFill>
            <a:srgbClr val="B03A2E"/>
          </a:solidFill>
          <a:ln/>
        </p:spPr>
      </p:sp>
      <p:sp>
        <p:nvSpPr>
          <p:cNvPr id="13" name="Text 11"/>
          <p:cNvSpPr/>
          <p:nvPr/>
        </p:nvSpPr>
        <p:spPr>
          <a:xfrm>
            <a:off x="457200" y="1645920"/>
            <a:ext cx="539496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Li-ion(参照)</a:t>
            </a:r>
            <a:endParaRPr lang="en-US" sz="1300" dirty="0"/>
          </a:p>
        </p:txBody>
      </p:sp>
      <p:sp>
        <p:nvSpPr>
          <p:cNvPr id="14" name="Shape 12"/>
          <p:cNvSpPr/>
          <p:nvPr/>
        </p:nvSpPr>
        <p:spPr>
          <a:xfrm>
            <a:off x="457200" y="2194560"/>
            <a:ext cx="5394960" cy="3931920"/>
          </a:xfrm>
          <a:prstGeom prst="rect">
            <a:avLst/>
          </a:prstGeom>
          <a:solidFill>
            <a:srgbClr val="FFFFFF"/>
          </a:solidFill>
          <a:ln w="9525">
            <a:solidFill>
              <a:srgbClr val="C8C8C8"/>
            </a:solidFill>
            <a:prstDash val="solid"/>
          </a:ln>
        </p:spPr>
      </p:sp>
      <p:sp>
        <p:nvSpPr>
          <p:cNvPr id="15" name="Text 13"/>
          <p:cNvSpPr/>
          <p:nvPr/>
        </p:nvSpPr>
        <p:spPr>
          <a:xfrm>
            <a:off x="777240" y="2377440"/>
            <a:ext cx="4754880" cy="23774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1A1A1A"/>
                </a:solidFill>
                <a:latin typeface="Yu Gothic" pitchFamily="34" charset="0"/>
                <a:ea typeface="Yu Gothic" pitchFamily="34" charset="-122"/>
                <a:cs typeface="Yu Gothic" pitchFamily="34" charset="-120"/>
              </a:rPr>
              <a:t>閾値 120~150°C</a:t>
            </a:r>
            <a:endParaRPr lang="en-US" sz="1050" dirty="0"/>
          </a:p>
          <a:p>
            <a:pPr marL="342900" indent="-342900">
              <a:spcAft>
                <a:spcPts val="600"/>
              </a:spcAft>
              <a:buSzPct val="100000"/>
              <a:buChar char="•"/>
            </a:pPr>
            <a:r>
              <a:rPr lang="en-US" sz="1050" dirty="0">
                <a:solidFill>
                  <a:srgbClr val="1A1A1A"/>
                </a:solidFill>
                <a:latin typeface="Yu Gothic" pitchFamily="34" charset="0"/>
                <a:ea typeface="Yu Gothic" pitchFamily="34" charset="-122"/>
                <a:cs typeface="Yu Gothic" pitchFamily="34" charset="-120"/>
              </a:rPr>
              <a:t>液体電解質の気化 / 発火</a:t>
            </a:r>
            <a:endParaRPr lang="en-US" sz="1050" dirty="0"/>
          </a:p>
          <a:p>
            <a:pPr marL="342900" indent="-342900">
              <a:spcAft>
                <a:spcPts val="600"/>
              </a:spcAft>
              <a:buSzPct val="100000"/>
              <a:buChar char="•"/>
            </a:pPr>
            <a:r>
              <a:rPr lang="en-US" sz="1050" dirty="0">
                <a:solidFill>
                  <a:srgbClr val="1A1A1A"/>
                </a:solidFill>
                <a:latin typeface="Yu Gothic" pitchFamily="34" charset="0"/>
                <a:ea typeface="Yu Gothic" pitchFamily="34" charset="-122"/>
                <a:cs typeface="Yu Gothic" pitchFamily="34" charset="-120"/>
              </a:rPr>
              <a:t>SEI分解 → 熱暴走</a:t>
            </a:r>
            <a:endParaRPr lang="en-US" sz="1050" dirty="0"/>
          </a:p>
          <a:p>
            <a:pPr marL="342900" indent="-342900">
              <a:spcAft>
                <a:spcPts val="600"/>
              </a:spcAft>
              <a:buSzPct val="100000"/>
              <a:buChar char="•"/>
            </a:pPr>
            <a:r>
              <a:rPr lang="en-US" sz="1050" dirty="0">
                <a:solidFill>
                  <a:srgbClr val="1A1A1A"/>
                </a:solidFill>
                <a:latin typeface="Yu Gothic" pitchFamily="34" charset="0"/>
                <a:ea typeface="Yu Gothic" pitchFamily="34" charset="-122"/>
                <a:cs typeface="Yu Gothic" pitchFamily="34" charset="-120"/>
              </a:rPr>
              <a:t>酸素放出 → 爆発</a:t>
            </a:r>
            <a:endParaRPr lang="en-US" sz="1050" dirty="0"/>
          </a:p>
          <a:p>
            <a:pPr marL="342900" indent="-342900">
              <a:spcAft>
                <a:spcPts val="600"/>
              </a:spcAft>
              <a:buSzPct val="100000"/>
              <a:buChar char="•"/>
            </a:pPr>
            <a:r>
              <a:rPr lang="en-US" sz="1050" dirty="0">
                <a:solidFill>
                  <a:srgbClr val="1A1A1A"/>
                </a:solidFill>
                <a:latin typeface="Yu Gothic" pitchFamily="34" charset="0"/>
                <a:ea typeface="Yu Gothic" pitchFamily="34" charset="-122"/>
                <a:cs typeface="Yu Gothic" pitchFamily="34" charset="-120"/>
              </a:rPr>
              <a:t>UL合格は困難</a:t>
            </a:r>
            <a:endParaRPr lang="en-US" sz="1050" dirty="0"/>
          </a:p>
        </p:txBody>
      </p:sp>
      <p:sp>
        <p:nvSpPr>
          <p:cNvPr id="16" name="Text 14"/>
          <p:cNvSpPr/>
          <p:nvPr/>
        </p:nvSpPr>
        <p:spPr>
          <a:xfrm>
            <a:off x="777240" y="5394960"/>
            <a:ext cx="4754880" cy="548640"/>
          </a:xfrm>
          <a:prstGeom prst="rect">
            <a:avLst/>
          </a:prstGeom>
          <a:noFill/>
          <a:ln/>
        </p:spPr>
        <p:txBody>
          <a:bodyPr wrap="square" lIns="0" tIns="0" rIns="0" bIns="0" rtlCol="0" anchor="ctr"/>
          <a:lstStyle/>
          <a:p>
            <a:pPr indent="0" marL="0">
              <a:buNone/>
            </a:pPr>
            <a:r>
              <a:rPr lang="en-US" sz="1000" i="1" dirty="0">
                <a:solidFill>
                  <a:srgbClr val="5A5A5A"/>
                </a:solidFill>
                <a:latin typeface="Yu Gothic" pitchFamily="34" charset="0"/>
                <a:ea typeface="Yu Gothic" pitchFamily="34" charset="-122"/>
                <a:cs typeface="Yu Gothic" pitchFamily="34" charset="-120"/>
              </a:rPr>
              <a:t>※ 2024年 青羅、2025年 大田の火災の背後にある化学</a:t>
            </a:r>
            <a:endParaRPr lang="en-US" sz="1000" dirty="0"/>
          </a:p>
        </p:txBody>
      </p:sp>
      <p:sp>
        <p:nvSpPr>
          <p:cNvPr id="17" name="Shape 15"/>
          <p:cNvSpPr/>
          <p:nvPr/>
        </p:nvSpPr>
        <p:spPr>
          <a:xfrm>
            <a:off x="6309360" y="1645920"/>
            <a:ext cx="5422392" cy="548640"/>
          </a:xfrm>
          <a:prstGeom prst="rect">
            <a:avLst/>
          </a:prstGeom>
          <a:solidFill>
            <a:srgbClr val="4F6238"/>
          </a:solidFill>
          <a:ln/>
        </p:spPr>
      </p:sp>
      <p:sp>
        <p:nvSpPr>
          <p:cNvPr id="18" name="Text 16"/>
          <p:cNvSpPr/>
          <p:nvPr/>
        </p:nvSpPr>
        <p:spPr>
          <a:xfrm>
            <a:off x="6309360" y="1645920"/>
            <a:ext cx="5422392"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TNO-S(検証済)</a:t>
            </a:r>
            <a:endParaRPr lang="en-US" sz="1300" dirty="0"/>
          </a:p>
        </p:txBody>
      </p:sp>
      <p:sp>
        <p:nvSpPr>
          <p:cNvPr id="19" name="Shape 17"/>
          <p:cNvSpPr/>
          <p:nvPr/>
        </p:nvSpPr>
        <p:spPr>
          <a:xfrm>
            <a:off x="6309360" y="2194560"/>
            <a:ext cx="5422392" cy="3931920"/>
          </a:xfrm>
          <a:prstGeom prst="rect">
            <a:avLst/>
          </a:prstGeom>
          <a:solidFill>
            <a:srgbClr val="FFFFFF"/>
          </a:solidFill>
          <a:ln w="9525">
            <a:solidFill>
              <a:srgbClr val="C8C8C8"/>
            </a:solidFill>
            <a:prstDash val="solid"/>
          </a:ln>
        </p:spPr>
      </p:sp>
      <p:sp>
        <p:nvSpPr>
          <p:cNvPr id="20" name="Text 18"/>
          <p:cNvSpPr/>
          <p:nvPr/>
        </p:nvSpPr>
        <p:spPr>
          <a:xfrm>
            <a:off x="6629400" y="2377440"/>
            <a:ext cx="4800600" cy="23774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1A1A1A"/>
                </a:solidFill>
                <a:latin typeface="Yu Gothic" pitchFamily="34" charset="0"/>
                <a:ea typeface="Yu Gothic" pitchFamily="34" charset="-122"/>
                <a:cs typeface="Yu Gothic" pitchFamily="34" charset="-120"/>
              </a:rPr>
              <a:t>閾値 248°C(UL検証)</a:t>
            </a:r>
            <a:endParaRPr lang="en-US" sz="1050" dirty="0"/>
          </a:p>
          <a:p>
            <a:pPr marL="342900" indent="-342900">
              <a:spcAft>
                <a:spcPts val="600"/>
              </a:spcAft>
              <a:buSzPct val="100000"/>
              <a:buChar char="•"/>
            </a:pPr>
            <a:r>
              <a:rPr lang="en-US" sz="1050" dirty="0">
                <a:solidFill>
                  <a:srgbClr val="1A1A1A"/>
                </a:solidFill>
                <a:latin typeface="Yu Gothic" pitchFamily="34" charset="0"/>
                <a:ea typeface="Yu Gothic" pitchFamily="34" charset="-122"/>
                <a:cs typeface="Yu Gothic" pitchFamily="34" charset="-120"/>
              </a:rPr>
              <a:t>固体電解質 — 液体なし</a:t>
            </a:r>
            <a:endParaRPr lang="en-US" sz="1050" dirty="0"/>
          </a:p>
          <a:p>
            <a:pPr marL="342900" indent="-342900">
              <a:spcAft>
                <a:spcPts val="600"/>
              </a:spcAft>
              <a:buSzPct val="100000"/>
              <a:buChar char="•"/>
            </a:pPr>
            <a:r>
              <a:rPr lang="en-US" sz="1050" dirty="0">
                <a:solidFill>
                  <a:srgbClr val="1A1A1A"/>
                </a:solidFill>
                <a:latin typeface="Yu Gothic" pitchFamily="34" charset="0"/>
                <a:ea typeface="Yu Gothic" pitchFamily="34" charset="-122"/>
                <a:cs typeface="Yu Gothic" pitchFamily="34" charset="-120"/>
              </a:rPr>
              <a:t>SEIそのものが不在</a:t>
            </a:r>
            <a:endParaRPr lang="en-US" sz="1050" dirty="0"/>
          </a:p>
          <a:p>
            <a:pPr marL="342900" indent="-342900">
              <a:spcAft>
                <a:spcPts val="600"/>
              </a:spcAft>
              <a:buSzPct val="100000"/>
              <a:buChar char="•"/>
            </a:pPr>
            <a:r>
              <a:rPr lang="en-US" sz="1050" dirty="0">
                <a:solidFill>
                  <a:srgbClr val="1A1A1A"/>
                </a:solidFill>
                <a:latin typeface="Yu Gothic" pitchFamily="34" charset="0"/>
                <a:ea typeface="Yu Gothic" pitchFamily="34" charset="-122"/>
                <a:cs typeface="Yu Gothic" pitchFamily="34" charset="-120"/>
              </a:rPr>
              <a:t>ガス放出ゼロ</a:t>
            </a:r>
            <a:endParaRPr lang="en-US" sz="1050" dirty="0"/>
          </a:p>
          <a:p>
            <a:pPr marL="342900" indent="-342900">
              <a:spcAft>
                <a:spcPts val="600"/>
              </a:spcAft>
              <a:buSzPct val="100000"/>
              <a:buChar char="•"/>
            </a:pPr>
            <a:r>
              <a:rPr lang="en-US" sz="1050" dirty="0">
                <a:solidFill>
                  <a:srgbClr val="1A1A1A"/>
                </a:solidFill>
                <a:latin typeface="Yu Gothic" pitchFamily="34" charset="0"/>
                <a:ea typeface="Yu Gothic" pitchFamily="34" charset="-122"/>
                <a:cs typeface="Yu Gothic" pitchFamily="34" charset="-120"/>
              </a:rPr>
              <a:t>UL ULTR-2025-14014~19</a:t>
            </a:r>
            <a:endParaRPr lang="en-US" sz="1050" dirty="0"/>
          </a:p>
        </p:txBody>
      </p:sp>
      <p:sp>
        <p:nvSpPr>
          <p:cNvPr id="21" name="Shape 19"/>
          <p:cNvSpPr/>
          <p:nvPr/>
        </p:nvSpPr>
        <p:spPr>
          <a:xfrm>
            <a:off x="6583680" y="5166360"/>
            <a:ext cx="4892040" cy="731520"/>
          </a:xfrm>
          <a:prstGeom prst="rect">
            <a:avLst/>
          </a:prstGeom>
          <a:solidFill>
            <a:srgbClr val="EFEDE8"/>
          </a:solidFill>
          <a:ln/>
        </p:spPr>
      </p:sp>
      <p:sp>
        <p:nvSpPr>
          <p:cNvPr id="22" name="Text 20"/>
          <p:cNvSpPr/>
          <p:nvPr/>
        </p:nvSpPr>
        <p:spPr>
          <a:xfrm>
            <a:off x="6720840" y="5166360"/>
            <a:ext cx="4663440" cy="731520"/>
          </a:xfrm>
          <a:prstGeom prst="rect">
            <a:avLst/>
          </a:prstGeom>
          <a:noFill/>
          <a:ln/>
        </p:spPr>
        <p:txBody>
          <a:bodyPr wrap="square" lIns="0" tIns="0" rIns="0" bIns="0" rtlCol="0" anchor="ctr"/>
          <a:lstStyle/>
          <a:p>
            <a:pPr indent="0" marL="0">
              <a:buNone/>
            </a:pPr>
            <a:r>
              <a:rPr lang="en-US" sz="1200" b="1" dirty="0">
                <a:solidFill>
                  <a:srgbClr val="4F6238"/>
                </a:solidFill>
                <a:latin typeface="Yu Gothic" pitchFamily="34" charset="0"/>
                <a:ea typeface="Yu Gothic" pitchFamily="34" charset="-122"/>
                <a:cs typeface="Yu Gothic" pitchFamily="34" charset="-120"/>
              </a:rPr>
              <a:t>400°Cまで加熱しても 発火ゼロ · 爆発ゼロ</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4.3  NATO 7.62 mm 貫通試験</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26/55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NATO 7.62 mm 貫通試験 — 発火ゼロ · 爆発ゼロ</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NATO 7.62mm Penetration Test</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645920"/>
            <a:ext cx="5394960" cy="548640"/>
          </a:xfrm>
          <a:prstGeom prst="rect">
            <a:avLst/>
          </a:prstGeom>
          <a:solidFill>
            <a:srgbClr val="B03A2E"/>
          </a:solidFill>
          <a:ln/>
        </p:spPr>
      </p:sp>
      <p:sp>
        <p:nvSpPr>
          <p:cNvPr id="13" name="Text 11"/>
          <p:cNvSpPr/>
          <p:nvPr/>
        </p:nvSpPr>
        <p:spPr>
          <a:xfrm>
            <a:off x="457200" y="1645920"/>
            <a:ext cx="5394960" cy="548640"/>
          </a:xfrm>
          <a:prstGeom prst="rect">
            <a:avLst/>
          </a:prstGeom>
          <a:noFill/>
          <a:ln/>
        </p:spPr>
        <p:txBody>
          <a:bodyPr wrap="square" lIns="0" tIns="0" rIns="0" bIns="0" rtlCol="0" anchor="ctr"/>
          <a:lstStyle/>
          <a:p>
            <a:pPr algn="ctr" indent="0" marL="0">
              <a:buNone/>
            </a:pPr>
            <a:r>
              <a:rPr lang="en-US" sz="1250" b="1" dirty="0">
                <a:solidFill>
                  <a:srgbClr val="FFFFFF"/>
                </a:solidFill>
                <a:latin typeface="Yu Gothic" pitchFamily="34" charset="0"/>
                <a:ea typeface="Yu Gothic" pitchFamily="34" charset="-122"/>
                <a:cs typeface="Yu Gothic" pitchFamily="34" charset="-120"/>
              </a:rPr>
              <a:t>従来型Li-ion · 発火 &amp; 爆発</a:t>
            </a:r>
            <a:endParaRPr lang="en-US" sz="1250" dirty="0"/>
          </a:p>
        </p:txBody>
      </p:sp>
      <p:sp>
        <p:nvSpPr>
          <p:cNvPr id="14" name="Shape 12"/>
          <p:cNvSpPr/>
          <p:nvPr/>
        </p:nvSpPr>
        <p:spPr>
          <a:xfrm>
            <a:off x="457200" y="2194560"/>
            <a:ext cx="5394960" cy="914400"/>
          </a:xfrm>
          <a:prstGeom prst="rect">
            <a:avLst/>
          </a:prstGeom>
          <a:solidFill>
            <a:srgbClr val="FFFFFF"/>
          </a:solidFill>
          <a:ln w="9525">
            <a:solidFill>
              <a:srgbClr val="C8C8C8"/>
            </a:solidFill>
            <a:prstDash val="solid"/>
          </a:ln>
        </p:spPr>
      </p:sp>
      <p:sp>
        <p:nvSpPr>
          <p:cNvPr id="15" name="Text 13"/>
          <p:cNvSpPr/>
          <p:nvPr/>
        </p:nvSpPr>
        <p:spPr>
          <a:xfrm>
            <a:off x="640080" y="2194560"/>
            <a:ext cx="5029200" cy="914400"/>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貫通と同時に発火・爆発 — セル構造が完全に崩壊</a:t>
            </a:r>
            <a:endParaRPr lang="en-US" sz="1050" dirty="0"/>
          </a:p>
        </p:txBody>
      </p:sp>
      <p:sp>
        <p:nvSpPr>
          <p:cNvPr id="16" name="Shape 14"/>
          <p:cNvSpPr/>
          <p:nvPr/>
        </p:nvSpPr>
        <p:spPr>
          <a:xfrm>
            <a:off x="6309360" y="1645920"/>
            <a:ext cx="5422392" cy="548640"/>
          </a:xfrm>
          <a:prstGeom prst="rect">
            <a:avLst/>
          </a:prstGeom>
          <a:solidFill>
            <a:srgbClr val="16324F"/>
          </a:solidFill>
          <a:ln/>
        </p:spPr>
      </p:sp>
      <p:sp>
        <p:nvSpPr>
          <p:cNvPr id="17" name="Text 15"/>
          <p:cNvSpPr/>
          <p:nvPr/>
        </p:nvSpPr>
        <p:spPr>
          <a:xfrm>
            <a:off x="6309360" y="1645920"/>
            <a:ext cx="5422392" cy="548640"/>
          </a:xfrm>
          <a:prstGeom prst="rect">
            <a:avLst/>
          </a:prstGeom>
          <a:noFill/>
          <a:ln/>
        </p:spPr>
        <p:txBody>
          <a:bodyPr wrap="square" lIns="0" tIns="0" rIns="0" bIns="0" rtlCol="0" anchor="ctr"/>
          <a:lstStyle/>
          <a:p>
            <a:pPr algn="ctr" indent="0" marL="0">
              <a:buNone/>
            </a:pPr>
            <a:r>
              <a:rPr lang="en-US" sz="1250" b="1" dirty="0">
                <a:solidFill>
                  <a:srgbClr val="FFFFFF"/>
                </a:solidFill>
                <a:latin typeface="Yu Gothic" pitchFamily="34" charset="0"/>
                <a:ea typeface="Yu Gothic" pitchFamily="34" charset="-122"/>
                <a:cs typeface="Yu Gothic" pitchFamily="34" charset="-120"/>
              </a:rPr>
              <a:t>TNO-S 全固体 · 発火なし · 爆発なし</a:t>
            </a:r>
            <a:endParaRPr lang="en-US" sz="1250" dirty="0"/>
          </a:p>
        </p:txBody>
      </p:sp>
      <p:sp>
        <p:nvSpPr>
          <p:cNvPr id="18" name="Shape 16"/>
          <p:cNvSpPr/>
          <p:nvPr/>
        </p:nvSpPr>
        <p:spPr>
          <a:xfrm>
            <a:off x="6309360" y="2194560"/>
            <a:ext cx="5422392" cy="914400"/>
          </a:xfrm>
          <a:prstGeom prst="rect">
            <a:avLst/>
          </a:prstGeom>
          <a:solidFill>
            <a:srgbClr val="FFFFFF"/>
          </a:solidFill>
          <a:ln w="9525">
            <a:solidFill>
              <a:srgbClr val="C8C8C8"/>
            </a:solidFill>
            <a:prstDash val="solid"/>
          </a:ln>
        </p:spPr>
      </p:sp>
      <p:sp>
        <p:nvSpPr>
          <p:cNvPr id="19" name="Text 17"/>
          <p:cNvSpPr/>
          <p:nvPr/>
        </p:nvSpPr>
        <p:spPr>
          <a:xfrm>
            <a:off x="6492240" y="2194560"/>
            <a:ext cx="5029200" cy="914400"/>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貫通後もセル形状を維持 — 発火・爆発・発煙なし</a:t>
            </a:r>
            <a:endParaRPr lang="en-US" sz="1050" dirty="0"/>
          </a:p>
        </p:txBody>
      </p:sp>
      <p:sp>
        <p:nvSpPr>
          <p:cNvPr id="20" name="Shape 18"/>
          <p:cNvSpPr/>
          <p:nvPr/>
        </p:nvSpPr>
        <p:spPr>
          <a:xfrm>
            <a:off x="457200" y="3383280"/>
            <a:ext cx="5394960" cy="457200"/>
          </a:xfrm>
          <a:prstGeom prst="rect">
            <a:avLst/>
          </a:prstGeom>
          <a:solidFill>
            <a:srgbClr val="16324F"/>
          </a:solidFill>
          <a:ln/>
        </p:spPr>
      </p:sp>
      <p:sp>
        <p:nvSpPr>
          <p:cNvPr id="21" name="Text 19"/>
          <p:cNvSpPr/>
          <p:nvPr/>
        </p:nvSpPr>
        <p:spPr>
          <a:xfrm>
            <a:off x="640080" y="3383280"/>
            <a:ext cx="5029200" cy="457200"/>
          </a:xfrm>
          <a:prstGeom prst="rect">
            <a:avLst/>
          </a:prstGeom>
          <a:noFill/>
          <a:ln/>
        </p:spPr>
        <p:txBody>
          <a:bodyPr wrap="square" lIns="0" tIns="0" rIns="0" bIns="0" rtlCol="0" anchor="ctr"/>
          <a:lstStyle/>
          <a:p>
            <a:pPr indent="0" marL="0">
              <a:buNone/>
            </a:pPr>
            <a:r>
              <a:rPr lang="en-US" sz="1200" b="1" dirty="0">
                <a:solidFill>
                  <a:srgbClr val="C9A227"/>
                </a:solidFill>
                <a:latin typeface="Yu Gothic" pitchFamily="34" charset="0"/>
                <a:ea typeface="Yu Gothic" pitchFamily="34" charset="-122"/>
                <a:cs typeface="Yu Gothic" pitchFamily="34" charset="-120"/>
              </a:rPr>
              <a:t>試験条件</a:t>
            </a:r>
            <a:endParaRPr lang="en-US" sz="1200" dirty="0"/>
          </a:p>
        </p:txBody>
      </p:sp>
      <p:sp>
        <p:nvSpPr>
          <p:cNvPr id="22" name="Shape 20"/>
          <p:cNvSpPr/>
          <p:nvPr/>
        </p:nvSpPr>
        <p:spPr>
          <a:xfrm>
            <a:off x="457200" y="3840480"/>
            <a:ext cx="5394960" cy="2286000"/>
          </a:xfrm>
          <a:prstGeom prst="rect">
            <a:avLst/>
          </a:prstGeom>
          <a:solidFill>
            <a:srgbClr val="FFFFFF"/>
          </a:solidFill>
          <a:ln w="9525">
            <a:solidFill>
              <a:srgbClr val="C8C8C8"/>
            </a:solidFill>
            <a:prstDash val="solid"/>
          </a:ln>
        </p:spPr>
      </p:sp>
      <p:sp>
        <p:nvSpPr>
          <p:cNvPr id="23" name="Text 21"/>
          <p:cNvSpPr/>
          <p:nvPr/>
        </p:nvSpPr>
        <p:spPr>
          <a:xfrm>
            <a:off x="777240" y="4023360"/>
            <a:ext cx="4754880" cy="19202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1A1A1A"/>
                </a:solidFill>
                <a:latin typeface="Yu Gothic" pitchFamily="34" charset="0"/>
                <a:ea typeface="Yu Gothic" pitchFamily="34" charset="-122"/>
                <a:cs typeface="Yu Gothic" pitchFamily="34" charset="-120"/>
              </a:rPr>
              <a:t>弾種:NATO 7.62×51 mm · 距離:25 m</a:t>
            </a:r>
            <a:endParaRPr lang="en-US" sz="1050" dirty="0"/>
          </a:p>
          <a:p>
            <a:pPr marL="342900" indent="-342900">
              <a:spcAft>
                <a:spcPts val="600"/>
              </a:spcAft>
              <a:buSzPct val="100000"/>
              <a:buChar char="•"/>
            </a:pPr>
            <a:r>
              <a:rPr lang="en-US" sz="1050" dirty="0">
                <a:solidFill>
                  <a:srgbClr val="1A1A1A"/>
                </a:solidFill>
                <a:latin typeface="Yu Gothic" pitchFamily="34" charset="0"/>
                <a:ea typeface="Yu Gothic" pitchFamily="34" charset="-122"/>
                <a:cs typeface="Yu Gothic" pitchFamily="34" charset="-120"/>
              </a:rPr>
              <a:t>セル状態:100% SOC</a:t>
            </a:r>
            <a:endParaRPr lang="en-US" sz="1050" dirty="0"/>
          </a:p>
          <a:p>
            <a:pPr marL="342900" indent="-342900">
              <a:spcAft>
                <a:spcPts val="600"/>
              </a:spcAft>
              <a:buSzPct val="100000"/>
              <a:buChar char="•"/>
            </a:pPr>
            <a:r>
              <a:rPr lang="en-US" sz="1050" dirty="0">
                <a:solidFill>
                  <a:srgbClr val="1A1A1A"/>
                </a:solidFill>
                <a:latin typeface="Yu Gothic" pitchFamily="34" charset="0"/>
                <a:ea typeface="Yu Gothic" pitchFamily="34" charset="-122"/>
                <a:cs typeface="Yu Gothic" pitchFamily="34" charset="-120"/>
              </a:rPr>
              <a:t>貫通位置:セル中央</a:t>
            </a:r>
            <a:endParaRPr lang="en-US" sz="1050" dirty="0"/>
          </a:p>
          <a:p>
            <a:pPr marL="342900" indent="-342900">
              <a:spcAft>
                <a:spcPts val="600"/>
              </a:spcAft>
              <a:buSzPct val="100000"/>
              <a:buChar char="•"/>
            </a:pPr>
            <a:r>
              <a:rPr lang="en-US" sz="1050" dirty="0">
                <a:solidFill>
                  <a:srgbClr val="1A1A1A"/>
                </a:solidFill>
                <a:latin typeface="Yu Gothic" pitchFamily="34" charset="0"/>
                <a:ea typeface="Yu Gothic" pitchFamily="34" charset="-122"/>
                <a:cs typeface="Yu Gothic" pitchFamily="34" charset="-120"/>
              </a:rPr>
              <a:t>測定項目:電圧 / 温度 / ガス</a:t>
            </a:r>
            <a:endParaRPr lang="en-US" sz="1050" dirty="0"/>
          </a:p>
        </p:txBody>
      </p:sp>
      <p:sp>
        <p:nvSpPr>
          <p:cNvPr id="24" name="Shape 22"/>
          <p:cNvSpPr/>
          <p:nvPr/>
        </p:nvSpPr>
        <p:spPr>
          <a:xfrm>
            <a:off x="6309360" y="3383280"/>
            <a:ext cx="5422392" cy="457200"/>
          </a:xfrm>
          <a:prstGeom prst="rect">
            <a:avLst/>
          </a:prstGeom>
          <a:solidFill>
            <a:srgbClr val="4F6238"/>
          </a:solidFill>
          <a:ln/>
        </p:spPr>
      </p:sp>
      <p:sp>
        <p:nvSpPr>
          <p:cNvPr id="25" name="Text 23"/>
          <p:cNvSpPr/>
          <p:nvPr/>
        </p:nvSpPr>
        <p:spPr>
          <a:xfrm>
            <a:off x="6492240" y="3383280"/>
            <a:ext cx="5029200" cy="457200"/>
          </a:xfrm>
          <a:prstGeom prst="rect">
            <a:avLst/>
          </a:prstGeom>
          <a:noFill/>
          <a:ln/>
        </p:spPr>
        <p:txBody>
          <a:bodyPr wrap="square" lIns="0" tIns="0" rIns="0" bIns="0" rtlCol="0" anchor="ctr"/>
          <a:lstStyle/>
          <a:p>
            <a:pPr indent="0" marL="0">
              <a:buNone/>
            </a:pPr>
            <a:r>
              <a:rPr lang="en-US" sz="1200" b="1" dirty="0">
                <a:solidFill>
                  <a:srgbClr val="FFFFFF"/>
                </a:solidFill>
                <a:latin typeface="Yu Gothic" pitchFamily="34" charset="0"/>
                <a:ea typeface="Yu Gothic" pitchFamily="34" charset="-122"/>
                <a:cs typeface="Yu Gothic" pitchFamily="34" charset="-120"/>
              </a:rPr>
              <a:t>結果</a:t>
            </a:r>
            <a:endParaRPr lang="en-US" sz="1200" dirty="0"/>
          </a:p>
        </p:txBody>
      </p:sp>
      <p:sp>
        <p:nvSpPr>
          <p:cNvPr id="26" name="Shape 24"/>
          <p:cNvSpPr/>
          <p:nvPr/>
        </p:nvSpPr>
        <p:spPr>
          <a:xfrm>
            <a:off x="6309360" y="3840480"/>
            <a:ext cx="5422392" cy="2286000"/>
          </a:xfrm>
          <a:prstGeom prst="rect">
            <a:avLst/>
          </a:prstGeom>
          <a:solidFill>
            <a:srgbClr val="FFFFFF"/>
          </a:solidFill>
          <a:ln w="9525">
            <a:solidFill>
              <a:srgbClr val="C8C8C8"/>
            </a:solidFill>
            <a:prstDash val="solid"/>
          </a:ln>
        </p:spPr>
      </p:sp>
      <p:sp>
        <p:nvSpPr>
          <p:cNvPr id="27" name="Text 25"/>
          <p:cNvSpPr/>
          <p:nvPr/>
        </p:nvSpPr>
        <p:spPr>
          <a:xfrm>
            <a:off x="6629400" y="4023360"/>
            <a:ext cx="4800600" cy="19202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1A1A1A"/>
                </a:solidFill>
                <a:latin typeface="Yu Gothic" pitchFamily="34" charset="0"/>
                <a:ea typeface="Yu Gothic" pitchFamily="34" charset="-122"/>
                <a:cs typeface="Yu Gothic" pitchFamily="34" charset="-120"/>
              </a:rPr>
              <a:t>発火:0件 · 爆発:0件 · 煙 / ガス:0</a:t>
            </a:r>
            <a:endParaRPr lang="en-US" sz="1050" dirty="0"/>
          </a:p>
          <a:p>
            <a:pPr marL="342900" indent="-342900">
              <a:spcAft>
                <a:spcPts val="600"/>
              </a:spcAft>
              <a:buSzPct val="100000"/>
              <a:buChar char="•"/>
            </a:pPr>
            <a:r>
              <a:rPr lang="en-US" sz="1050" dirty="0">
                <a:solidFill>
                  <a:srgbClr val="1A1A1A"/>
                </a:solidFill>
                <a:latin typeface="Yu Gothic" pitchFamily="34" charset="0"/>
                <a:ea typeface="Yu Gothic" pitchFamily="34" charset="-122"/>
                <a:cs typeface="Yu Gothic" pitchFamily="34" charset="-120"/>
              </a:rPr>
              <a:t>電圧維持率 70% · セル形状を維持</a:t>
            </a:r>
            <a:endParaRPr lang="en-US" sz="1050" dirty="0"/>
          </a:p>
          <a:p>
            <a:pPr marL="342900" indent="-342900">
              <a:spcAft>
                <a:spcPts val="600"/>
              </a:spcAft>
              <a:buSzPct val="100000"/>
              <a:buChar char="•"/>
            </a:pPr>
            <a:r>
              <a:rPr lang="en-US" sz="1050" dirty="0">
                <a:solidFill>
                  <a:srgbClr val="1A1A1A"/>
                </a:solidFill>
                <a:latin typeface="Yu Gothic" pitchFamily="34" charset="0"/>
                <a:ea typeface="Yu Gothic" pitchFamily="34" charset="-122"/>
                <a:cs typeface="Yu Gothic" pitchFamily="34" charset="-120"/>
              </a:rPr>
              <a:t>→ NATOノルウェーでの実戦配備へ</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4.4  北極圏 -28°C 32分飛行の実証</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27/55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実地検証 — 北極圏 -28°C 32分飛行</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Field Validation — Arctic -28°C 32-min Flight</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645920"/>
            <a:ext cx="5394960" cy="4480560"/>
          </a:xfrm>
          <a:prstGeom prst="rect">
            <a:avLst/>
          </a:prstGeom>
          <a:solidFill>
            <a:srgbClr val="24466B"/>
          </a:solidFill>
          <a:ln/>
        </p:spPr>
      </p:sp>
      <p:sp>
        <p:nvSpPr>
          <p:cNvPr id="13" name="Shape 11"/>
          <p:cNvSpPr/>
          <p:nvPr/>
        </p:nvSpPr>
        <p:spPr>
          <a:xfrm>
            <a:off x="457200" y="1645920"/>
            <a:ext cx="5394960" cy="82296"/>
          </a:xfrm>
          <a:prstGeom prst="rect">
            <a:avLst/>
          </a:prstGeom>
          <a:solidFill>
            <a:srgbClr val="C9A227"/>
          </a:solidFill>
          <a:ln/>
        </p:spPr>
      </p:sp>
      <p:sp>
        <p:nvSpPr>
          <p:cNvPr id="14" name="Text 12"/>
          <p:cNvSpPr/>
          <p:nvPr/>
        </p:nvSpPr>
        <p:spPr>
          <a:xfrm>
            <a:off x="457200" y="2743200"/>
            <a:ext cx="5394960" cy="100584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-28°C</a:t>
            </a:r>
            <a:endParaRPr lang="en-US" sz="5400" dirty="0"/>
          </a:p>
        </p:txBody>
      </p:sp>
      <p:sp>
        <p:nvSpPr>
          <p:cNvPr id="15" name="Text 13"/>
          <p:cNvSpPr/>
          <p:nvPr/>
        </p:nvSpPr>
        <p:spPr>
          <a:xfrm>
            <a:off x="457200" y="3931920"/>
            <a:ext cx="5394960" cy="822960"/>
          </a:xfrm>
          <a:prstGeom prst="rect">
            <a:avLst/>
          </a:prstGeom>
          <a:noFill/>
          <a:ln/>
        </p:spPr>
        <p:txBody>
          <a:bodyPr wrap="square" lIns="0" tIns="0" rIns="0" bIns="0" rtlCol="0" anchor="ctr"/>
          <a:lstStyle/>
          <a:p>
            <a:pPr algn="ctr" indent="0" marL="0">
              <a:buNone/>
            </a:pPr>
            <a:r>
              <a:rPr lang="en-US" sz="1300" b="1" dirty="0">
                <a:solidFill>
                  <a:srgbClr val="C9A227"/>
                </a:solidFill>
                <a:latin typeface="Yu Gothic" pitchFamily="34" charset="0"/>
                <a:ea typeface="Yu Gothic" pitchFamily="34" charset="-122"/>
                <a:cs typeface="Yu Gothic" pitchFamily="34" charset="-120"/>
              </a:rPr>
              <a:t>32分間 連続飛行</a:t>
            </a:r>
            <a:endParaRPr lang="en-US" sz="1300" dirty="0"/>
          </a:p>
          <a:p>
            <a:pPr algn="ctr" indent="0" marL="0">
              <a:buNone/>
            </a:pPr>
            <a:r>
              <a:rPr lang="en-US" sz="1300" b="1" dirty="0">
                <a:solidFill>
                  <a:srgbClr val="C9A227"/>
                </a:solidFill>
                <a:latin typeface="Yu Gothic" pitchFamily="34" charset="0"/>
                <a:ea typeface="Yu Gothic" pitchFamily="34" charset="-122"/>
                <a:cs typeface="Yu Gothic" pitchFamily="34" charset="-120"/>
              </a:rPr>
              <a:t>TNO-S 86 Whパウチ · 北極圏ノルウェー</a:t>
            </a:r>
            <a:endParaRPr lang="en-US" sz="1300" dirty="0"/>
          </a:p>
        </p:txBody>
      </p:sp>
      <p:sp>
        <p:nvSpPr>
          <p:cNvPr id="16" name="Shape 14"/>
          <p:cNvSpPr/>
          <p:nvPr/>
        </p:nvSpPr>
        <p:spPr>
          <a:xfrm>
            <a:off x="6309360" y="1645920"/>
            <a:ext cx="5422392" cy="502920"/>
          </a:xfrm>
          <a:prstGeom prst="rect">
            <a:avLst/>
          </a:prstGeom>
          <a:solidFill>
            <a:srgbClr val="16324F"/>
          </a:solidFill>
          <a:ln/>
        </p:spPr>
      </p:sp>
      <p:sp>
        <p:nvSpPr>
          <p:cNvPr id="17" name="Text 15"/>
          <p:cNvSpPr/>
          <p:nvPr/>
        </p:nvSpPr>
        <p:spPr>
          <a:xfrm>
            <a:off x="6309360" y="1645920"/>
            <a:ext cx="5422392" cy="502920"/>
          </a:xfrm>
          <a:prstGeom prst="rect">
            <a:avLst/>
          </a:prstGeom>
          <a:noFill/>
          <a:ln/>
        </p:spPr>
        <p:txBody>
          <a:bodyPr wrap="square" lIns="0" tIns="0" rIns="0" bIns="0" rtlCol="0" anchor="ctr"/>
          <a:lstStyle/>
          <a:p>
            <a:pPr algn="ctr" indent="0" marL="0">
              <a:buNone/>
            </a:pPr>
            <a:r>
              <a:rPr lang="en-US" sz="1200" b="1" dirty="0">
                <a:solidFill>
                  <a:srgbClr val="C9A227"/>
                </a:solidFill>
                <a:latin typeface="Yu Gothic" pitchFamily="34" charset="0"/>
                <a:ea typeface="Yu Gothic" pitchFamily="34" charset="-122"/>
                <a:cs typeface="Yu Gothic" pitchFamily="34" charset="-120"/>
              </a:rPr>
              <a:t>NATOノルウェー フィールドテスト</a:t>
            </a:r>
            <a:endParaRPr lang="en-US" sz="1200" dirty="0"/>
          </a:p>
        </p:txBody>
      </p:sp>
      <p:sp>
        <p:nvSpPr>
          <p:cNvPr id="18" name="Shape 16"/>
          <p:cNvSpPr/>
          <p:nvPr/>
        </p:nvSpPr>
        <p:spPr>
          <a:xfrm>
            <a:off x="6309360" y="2148840"/>
            <a:ext cx="5422392" cy="3977640"/>
          </a:xfrm>
          <a:prstGeom prst="rect">
            <a:avLst/>
          </a:prstGeom>
          <a:solidFill>
            <a:srgbClr val="FFFFFF"/>
          </a:solidFill>
          <a:ln w="9525">
            <a:solidFill>
              <a:srgbClr val="C8C8C8"/>
            </a:solidFill>
            <a:prstDash val="solid"/>
          </a:ln>
        </p:spPr>
      </p:sp>
      <p:sp>
        <p:nvSpPr>
          <p:cNvPr id="19" name="Text 17"/>
          <p:cNvSpPr/>
          <p:nvPr/>
        </p:nvSpPr>
        <p:spPr>
          <a:xfrm>
            <a:off x="6537960" y="2286000"/>
            <a:ext cx="5029200" cy="292608"/>
          </a:xfrm>
          <a:prstGeom prst="rect">
            <a:avLst/>
          </a:prstGeom>
          <a:noFill/>
          <a:ln/>
        </p:spPr>
        <p:txBody>
          <a:bodyPr wrap="square" lIns="0" tIns="0" rIns="0" bIns="0" rtlCol="0" anchor="ctr"/>
          <a:lstStyle/>
          <a:p>
            <a:pPr indent="0" marL="0">
              <a:buNone/>
            </a:pPr>
            <a:r>
              <a:rPr lang="en-US" sz="1100" b="1" dirty="0">
                <a:solidFill>
                  <a:srgbClr val="16324F"/>
                </a:solidFill>
                <a:latin typeface="Yu Gothic" pitchFamily="34" charset="0"/>
                <a:ea typeface="Yu Gothic" pitchFamily="34" charset="-122"/>
                <a:cs typeface="Yu Gothic" pitchFamily="34" charset="-120"/>
              </a:rPr>
              <a:t>試験データ(実地)</a:t>
            </a:r>
            <a:endParaRPr lang="en-US" sz="1100" dirty="0"/>
          </a:p>
        </p:txBody>
      </p:sp>
      <p:sp>
        <p:nvSpPr>
          <p:cNvPr id="20" name="Text 18"/>
          <p:cNvSpPr/>
          <p:nvPr/>
        </p:nvSpPr>
        <p:spPr>
          <a:xfrm>
            <a:off x="6675120" y="2606040"/>
            <a:ext cx="4846320" cy="777240"/>
          </a:xfrm>
          <a:prstGeom prst="rect">
            <a:avLst/>
          </a:prstGeom>
          <a:noFill/>
          <a:ln/>
        </p:spPr>
        <p:txBody>
          <a:bodyPr wrap="square" lIns="0" tIns="0" rIns="0" bIns="0" rtlCol="0" anchor="t"/>
          <a:lstStyle/>
          <a:p>
            <a:pPr marL="342900" indent="-342900">
              <a:spcAft>
                <a:spcPts val="600"/>
              </a:spcAft>
              <a:buSzPct val="100000"/>
              <a:buChar char="•"/>
            </a:pPr>
            <a:r>
              <a:rPr lang="en-US" sz="950" dirty="0">
                <a:solidFill>
                  <a:srgbClr val="1A1A1A"/>
                </a:solidFill>
                <a:latin typeface="Yu Gothic" pitchFamily="34" charset="0"/>
                <a:ea typeface="Yu Gothic" pitchFamily="34" charset="-122"/>
                <a:cs typeface="Yu Gothic" pitchFamily="34" charset="-120"/>
              </a:rPr>
              <a:t>気温:-28°C · 飛行時間:32分連続</a:t>
            </a:r>
            <a:endParaRPr lang="en-US" sz="950" dirty="0"/>
          </a:p>
          <a:p>
            <a:pPr marL="342900" indent="-342900">
              <a:spcAft>
                <a:spcPts val="600"/>
              </a:spcAft>
              <a:buSzPct val="100000"/>
              <a:buChar char="•"/>
            </a:pPr>
            <a:r>
              <a:rPr lang="en-US" sz="950" dirty="0">
                <a:solidFill>
                  <a:srgbClr val="1A1A1A"/>
                </a:solidFill>
                <a:latin typeface="Yu Gothic" pitchFamily="34" charset="0"/>
                <a:ea typeface="Yu Gothic" pitchFamily="34" charset="-122"/>
                <a:cs typeface="Yu Gothic" pitchFamily="34" charset="-120"/>
              </a:rPr>
              <a:t>セルモデル:TNO-S 86 Whパウチ · 環境:北極圏ノルウェー</a:t>
            </a:r>
            <a:endParaRPr lang="en-US" sz="950" dirty="0"/>
          </a:p>
        </p:txBody>
      </p:sp>
      <p:sp>
        <p:nvSpPr>
          <p:cNvPr id="21" name="Text 19"/>
          <p:cNvSpPr/>
          <p:nvPr/>
        </p:nvSpPr>
        <p:spPr>
          <a:xfrm>
            <a:off x="6537960" y="3520440"/>
            <a:ext cx="5029200" cy="292608"/>
          </a:xfrm>
          <a:prstGeom prst="rect">
            <a:avLst/>
          </a:prstGeom>
          <a:noFill/>
          <a:ln/>
        </p:spPr>
        <p:txBody>
          <a:bodyPr wrap="square" lIns="0" tIns="0" rIns="0" bIns="0" rtlCol="0" anchor="ctr"/>
          <a:lstStyle/>
          <a:p>
            <a:pPr indent="0" marL="0">
              <a:buNone/>
            </a:pPr>
            <a:r>
              <a:rPr lang="en-US" sz="1100" b="1" dirty="0">
                <a:solidFill>
                  <a:srgbClr val="B03A2E"/>
                </a:solidFill>
                <a:latin typeface="Yu Gothic" pitchFamily="34" charset="0"/>
                <a:ea typeface="Yu Gothic" pitchFamily="34" charset="-122"/>
                <a:cs typeface="Yu Gothic" pitchFamily="34" charset="-120"/>
              </a:rPr>
              <a:t>比較(一般的なLIB)</a:t>
            </a:r>
            <a:endParaRPr lang="en-US" sz="1100" dirty="0"/>
          </a:p>
        </p:txBody>
      </p:sp>
      <p:sp>
        <p:nvSpPr>
          <p:cNvPr id="22" name="Text 20"/>
          <p:cNvSpPr/>
          <p:nvPr/>
        </p:nvSpPr>
        <p:spPr>
          <a:xfrm>
            <a:off x="6675120" y="3840480"/>
            <a:ext cx="4846320" cy="731520"/>
          </a:xfrm>
          <a:prstGeom prst="rect">
            <a:avLst/>
          </a:prstGeom>
          <a:noFill/>
          <a:ln/>
        </p:spPr>
        <p:txBody>
          <a:bodyPr wrap="square" lIns="0" tIns="0" rIns="0" bIns="0" rtlCol="0" anchor="t"/>
          <a:lstStyle/>
          <a:p>
            <a:pPr marL="342900" indent="-342900">
              <a:spcAft>
                <a:spcPts val="600"/>
              </a:spcAft>
              <a:buSzPct val="100000"/>
              <a:buChar char="•"/>
            </a:pPr>
            <a:r>
              <a:rPr lang="en-US" sz="950" dirty="0">
                <a:solidFill>
                  <a:srgbClr val="1A1A1A"/>
                </a:solidFill>
                <a:latin typeface="Yu Gothic" pitchFamily="34" charset="0"/>
                <a:ea typeface="Yu Gothic" pitchFamily="34" charset="-122"/>
                <a:cs typeface="Yu Gothic" pitchFamily="34" charset="-120"/>
              </a:rPr>
              <a:t>-20°C以下では飛行不可</a:t>
            </a:r>
            <a:endParaRPr lang="en-US" sz="950" dirty="0"/>
          </a:p>
          <a:p>
            <a:pPr marL="342900" indent="-342900">
              <a:spcAft>
                <a:spcPts val="600"/>
              </a:spcAft>
              <a:buSzPct val="100000"/>
              <a:buChar char="•"/>
            </a:pPr>
            <a:r>
              <a:rPr lang="en-US" sz="950" dirty="0">
                <a:solidFill>
                  <a:srgbClr val="1A1A1A"/>
                </a:solidFill>
                <a:latin typeface="Yu Gothic" pitchFamily="34" charset="0"/>
                <a:ea typeface="Yu Gothic" pitchFamily="34" charset="-122"/>
                <a:cs typeface="Yu Gothic" pitchFamily="34" charset="-120"/>
              </a:rPr>
              <a:t>容量が30%以下に崩壊 · 充電不可</a:t>
            </a:r>
            <a:endParaRPr lang="en-US" sz="950" dirty="0"/>
          </a:p>
        </p:txBody>
      </p:sp>
      <p:sp>
        <p:nvSpPr>
          <p:cNvPr id="23" name="Text 21"/>
          <p:cNvSpPr/>
          <p:nvPr/>
        </p:nvSpPr>
        <p:spPr>
          <a:xfrm>
            <a:off x="6537960" y="4709160"/>
            <a:ext cx="5029200" cy="292608"/>
          </a:xfrm>
          <a:prstGeom prst="rect">
            <a:avLst/>
          </a:prstGeom>
          <a:noFill/>
          <a:ln/>
        </p:spPr>
        <p:txBody>
          <a:bodyPr wrap="square" lIns="0" tIns="0" rIns="0" bIns="0" rtlCol="0" anchor="ctr"/>
          <a:lstStyle/>
          <a:p>
            <a:pPr indent="0" marL="0">
              <a:buNone/>
            </a:pPr>
            <a:r>
              <a:rPr lang="en-US" sz="1100" b="1" dirty="0">
                <a:solidFill>
                  <a:srgbClr val="4F6238"/>
                </a:solidFill>
                <a:latin typeface="Yu Gothic" pitchFamily="34" charset="0"/>
                <a:ea typeface="Yu Gothic" pitchFamily="34" charset="-122"/>
                <a:cs typeface="Yu Gothic" pitchFamily="34" charset="-120"/>
              </a:rPr>
              <a:t>TNO-Sの意義</a:t>
            </a:r>
            <a:endParaRPr lang="en-US" sz="1100" dirty="0"/>
          </a:p>
        </p:txBody>
      </p:sp>
      <p:sp>
        <p:nvSpPr>
          <p:cNvPr id="24" name="Text 22"/>
          <p:cNvSpPr/>
          <p:nvPr/>
        </p:nvSpPr>
        <p:spPr>
          <a:xfrm>
            <a:off x="6675120" y="5029200"/>
            <a:ext cx="4846320" cy="822960"/>
          </a:xfrm>
          <a:prstGeom prst="rect">
            <a:avLst/>
          </a:prstGeom>
          <a:noFill/>
          <a:ln/>
        </p:spPr>
        <p:txBody>
          <a:bodyPr wrap="square" lIns="0" tIns="0" rIns="0" bIns="0" rtlCol="0" anchor="t"/>
          <a:lstStyle/>
          <a:p>
            <a:pPr marL="342900" indent="-342900">
              <a:spcAft>
                <a:spcPts val="600"/>
              </a:spcAft>
              <a:buSzPct val="100000"/>
              <a:buChar char="•"/>
            </a:pPr>
            <a:r>
              <a:rPr lang="en-US" sz="950" dirty="0">
                <a:solidFill>
                  <a:srgbClr val="1A1A1A"/>
                </a:solidFill>
                <a:latin typeface="Yu Gothic" pitchFamily="34" charset="0"/>
                <a:ea typeface="Yu Gothic" pitchFamily="34" charset="-122"/>
                <a:cs typeface="Yu Gothic" pitchFamily="34" charset="-120"/>
              </a:rPr>
              <a:t>北極圏作戦で唯一運用可能な電池</a:t>
            </a:r>
            <a:endParaRPr lang="en-US" sz="950" dirty="0"/>
          </a:p>
          <a:p>
            <a:pPr marL="342900" indent="-342900">
              <a:spcAft>
                <a:spcPts val="600"/>
              </a:spcAft>
              <a:buSzPct val="100000"/>
              <a:buChar char="•"/>
            </a:pPr>
            <a:r>
              <a:rPr lang="en-US" sz="950" dirty="0">
                <a:solidFill>
                  <a:srgbClr val="1A1A1A"/>
                </a:solidFill>
                <a:latin typeface="Yu Gothic" pitchFamily="34" charset="0"/>
                <a:ea typeface="Yu Gothic" pitchFamily="34" charset="-122"/>
                <a:cs typeface="Yu Gothic" pitchFamily="34" charset="-120"/>
              </a:rPr>
              <a:t>ETRIによる -40°C安定性を確認</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4.5  公認認証 — 23件の試験報告書</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28/55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認証 — 23件の試験報告書を保有</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Certifications — 23 Test Reports</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645920"/>
            <a:ext cx="2651760" cy="438912"/>
          </a:xfrm>
          <a:prstGeom prst="rect">
            <a:avLst/>
          </a:prstGeom>
          <a:solidFill>
            <a:srgbClr val="16324F"/>
          </a:solidFill>
          <a:ln/>
        </p:spPr>
      </p:sp>
      <p:sp>
        <p:nvSpPr>
          <p:cNvPr id="13" name="Text 11"/>
          <p:cNvSpPr/>
          <p:nvPr/>
        </p:nvSpPr>
        <p:spPr>
          <a:xfrm>
            <a:off x="457200" y="1645920"/>
            <a:ext cx="2651760" cy="438912"/>
          </a:xfrm>
          <a:prstGeom prst="rect">
            <a:avLst/>
          </a:prstGeom>
          <a:noFill/>
          <a:ln/>
        </p:spPr>
        <p:txBody>
          <a:bodyPr wrap="square" lIns="0" tIns="0" rIns="0" bIns="0" rtlCol="0" anchor="ctr"/>
          <a:lstStyle/>
          <a:p>
            <a:pPr algn="ctr" indent="0" marL="0">
              <a:buNone/>
            </a:pPr>
            <a:r>
              <a:rPr lang="en-US" sz="1200" b="1" dirty="0">
                <a:solidFill>
                  <a:srgbClr val="C9A227"/>
                </a:solidFill>
                <a:latin typeface="Arial" pitchFamily="34" charset="0"/>
                <a:ea typeface="Arial" pitchFamily="34" charset="-122"/>
                <a:cs typeface="Arial" pitchFamily="34" charset="-120"/>
              </a:rPr>
              <a:t>KBIA</a:t>
            </a:r>
            <a:endParaRPr lang="en-US" sz="1200" dirty="0"/>
          </a:p>
        </p:txBody>
      </p:sp>
      <p:sp>
        <p:nvSpPr>
          <p:cNvPr id="14" name="Shape 12"/>
          <p:cNvSpPr/>
          <p:nvPr/>
        </p:nvSpPr>
        <p:spPr>
          <a:xfrm>
            <a:off x="457200" y="2084832"/>
            <a:ext cx="2651760" cy="932688"/>
          </a:xfrm>
          <a:prstGeom prst="rect">
            <a:avLst/>
          </a:prstGeom>
          <a:solidFill>
            <a:srgbClr val="FFFFFF"/>
          </a:solidFill>
          <a:ln w="9525">
            <a:solidFill>
              <a:srgbClr val="C8C8C8"/>
            </a:solidFill>
            <a:prstDash val="solid"/>
          </a:ln>
        </p:spPr>
      </p:sp>
      <p:sp>
        <p:nvSpPr>
          <p:cNvPr id="15" name="Text 13"/>
          <p:cNvSpPr/>
          <p:nvPr/>
        </p:nvSpPr>
        <p:spPr>
          <a:xfrm>
            <a:off x="548640" y="2157984"/>
            <a:ext cx="2468880" cy="384048"/>
          </a:xfrm>
          <a:prstGeom prst="rect">
            <a:avLst/>
          </a:prstGeom>
          <a:noFill/>
          <a:ln/>
        </p:spPr>
        <p:txBody>
          <a:bodyPr wrap="square" lIns="0" tIns="0" rIns="0" bIns="0" rtlCol="0" anchor="ctr"/>
          <a:lstStyle/>
          <a:p>
            <a:pPr algn="ctr" indent="0" marL="0">
              <a:buNone/>
            </a:pPr>
            <a:r>
              <a:rPr lang="en-US" sz="950" b="1" dirty="0">
                <a:solidFill>
                  <a:srgbClr val="1A1A1A"/>
                </a:solidFill>
                <a:latin typeface="Yu Gothic" pitchFamily="34" charset="0"/>
                <a:ea typeface="Yu Gothic" pitchFamily="34" charset="-122"/>
                <a:cs typeface="Yu Gothic" pitchFamily="34" charset="-120"/>
              </a:rPr>
              <a:t>SPS-C KBIA-10104-03</a:t>
            </a:r>
            <a:endParaRPr lang="en-US" sz="950" dirty="0"/>
          </a:p>
        </p:txBody>
      </p:sp>
      <p:sp>
        <p:nvSpPr>
          <p:cNvPr id="16" name="Text 14"/>
          <p:cNvSpPr/>
          <p:nvPr/>
        </p:nvSpPr>
        <p:spPr>
          <a:xfrm>
            <a:off x="548640" y="2560320"/>
            <a:ext cx="2468880" cy="365760"/>
          </a:xfrm>
          <a:prstGeom prst="rect">
            <a:avLst/>
          </a:prstGeom>
          <a:noFill/>
          <a:ln/>
        </p:spPr>
        <p:txBody>
          <a:bodyPr wrap="square" lIns="0" tIns="0" rIns="0" bIns="0" rtlCol="0" anchor="ctr"/>
          <a:lstStyle/>
          <a:p>
            <a:pPr algn="ctr" indent="0" marL="0">
              <a:buNone/>
            </a:pPr>
            <a:r>
              <a:rPr lang="en-US" sz="900" dirty="0">
                <a:solidFill>
                  <a:srgbClr val="5A5A5A"/>
                </a:solidFill>
                <a:latin typeface="Yu Gothic" pitchFamily="34" charset="0"/>
                <a:ea typeface="Yu Gothic" pitchFamily="34" charset="-122"/>
                <a:cs typeface="Yu Gothic" pitchFamily="34" charset="-120"/>
              </a:rPr>
              <a:t>革新電池認証</a:t>
            </a:r>
            <a:endParaRPr lang="en-US" sz="900" dirty="0"/>
          </a:p>
        </p:txBody>
      </p:sp>
      <p:sp>
        <p:nvSpPr>
          <p:cNvPr id="17" name="Shape 15"/>
          <p:cNvSpPr/>
          <p:nvPr/>
        </p:nvSpPr>
        <p:spPr>
          <a:xfrm>
            <a:off x="3337560" y="1645920"/>
            <a:ext cx="2651760" cy="438912"/>
          </a:xfrm>
          <a:prstGeom prst="rect">
            <a:avLst/>
          </a:prstGeom>
          <a:solidFill>
            <a:srgbClr val="16324F"/>
          </a:solidFill>
          <a:ln/>
        </p:spPr>
      </p:sp>
      <p:sp>
        <p:nvSpPr>
          <p:cNvPr id="18" name="Text 16"/>
          <p:cNvSpPr/>
          <p:nvPr/>
        </p:nvSpPr>
        <p:spPr>
          <a:xfrm>
            <a:off x="3337560" y="1645920"/>
            <a:ext cx="2651760" cy="438912"/>
          </a:xfrm>
          <a:prstGeom prst="rect">
            <a:avLst/>
          </a:prstGeom>
          <a:noFill/>
          <a:ln/>
        </p:spPr>
        <p:txBody>
          <a:bodyPr wrap="square" lIns="0" tIns="0" rIns="0" bIns="0" rtlCol="0" anchor="ctr"/>
          <a:lstStyle/>
          <a:p>
            <a:pPr algn="ctr" indent="0" marL="0">
              <a:buNone/>
            </a:pPr>
            <a:r>
              <a:rPr lang="en-US" sz="1200" b="1" dirty="0">
                <a:solidFill>
                  <a:srgbClr val="C9A227"/>
                </a:solidFill>
                <a:latin typeface="Arial" pitchFamily="34" charset="0"/>
                <a:ea typeface="Arial" pitchFamily="34" charset="-122"/>
                <a:cs typeface="Arial" pitchFamily="34" charset="-120"/>
              </a:rPr>
              <a:t>KC</a:t>
            </a:r>
            <a:endParaRPr lang="en-US" sz="1200" dirty="0"/>
          </a:p>
        </p:txBody>
      </p:sp>
      <p:sp>
        <p:nvSpPr>
          <p:cNvPr id="19" name="Shape 17"/>
          <p:cNvSpPr/>
          <p:nvPr/>
        </p:nvSpPr>
        <p:spPr>
          <a:xfrm>
            <a:off x="3337560" y="2084832"/>
            <a:ext cx="2651760" cy="932688"/>
          </a:xfrm>
          <a:prstGeom prst="rect">
            <a:avLst/>
          </a:prstGeom>
          <a:solidFill>
            <a:srgbClr val="FFFFFF"/>
          </a:solidFill>
          <a:ln w="9525">
            <a:solidFill>
              <a:srgbClr val="C8C8C8"/>
            </a:solidFill>
            <a:prstDash val="solid"/>
          </a:ln>
        </p:spPr>
      </p:sp>
      <p:sp>
        <p:nvSpPr>
          <p:cNvPr id="20" name="Text 18"/>
          <p:cNvSpPr/>
          <p:nvPr/>
        </p:nvSpPr>
        <p:spPr>
          <a:xfrm>
            <a:off x="3429000" y="2157984"/>
            <a:ext cx="2468880" cy="384048"/>
          </a:xfrm>
          <a:prstGeom prst="rect">
            <a:avLst/>
          </a:prstGeom>
          <a:noFill/>
          <a:ln/>
        </p:spPr>
        <p:txBody>
          <a:bodyPr wrap="square" lIns="0" tIns="0" rIns="0" bIns="0" rtlCol="0" anchor="ctr"/>
          <a:lstStyle/>
          <a:p>
            <a:pPr algn="ctr" indent="0" marL="0">
              <a:buNone/>
            </a:pPr>
            <a:r>
              <a:rPr lang="en-US" sz="950" b="1" dirty="0">
                <a:solidFill>
                  <a:srgbClr val="1A1A1A"/>
                </a:solidFill>
                <a:latin typeface="Yu Gothic" pitchFamily="34" charset="0"/>
                <a:ea typeface="Yu Gothic" pitchFamily="34" charset="-122"/>
                <a:cs typeface="Yu Gothic" pitchFamily="34" charset="-120"/>
              </a:rPr>
              <a:t>KCC GT2025-14014~19</a:t>
            </a:r>
            <a:endParaRPr lang="en-US" sz="950" dirty="0"/>
          </a:p>
        </p:txBody>
      </p:sp>
      <p:sp>
        <p:nvSpPr>
          <p:cNvPr id="21" name="Text 19"/>
          <p:cNvSpPr/>
          <p:nvPr/>
        </p:nvSpPr>
        <p:spPr>
          <a:xfrm>
            <a:off x="3429000" y="2560320"/>
            <a:ext cx="2468880" cy="365760"/>
          </a:xfrm>
          <a:prstGeom prst="rect">
            <a:avLst/>
          </a:prstGeom>
          <a:noFill/>
          <a:ln/>
        </p:spPr>
        <p:txBody>
          <a:bodyPr wrap="square" lIns="0" tIns="0" rIns="0" bIns="0" rtlCol="0" anchor="ctr"/>
          <a:lstStyle/>
          <a:p>
            <a:pPr algn="ctr" indent="0" marL="0">
              <a:buNone/>
            </a:pPr>
            <a:r>
              <a:rPr lang="en-US" sz="900" dirty="0">
                <a:solidFill>
                  <a:srgbClr val="5A5A5A"/>
                </a:solidFill>
                <a:latin typeface="Yu Gothic" pitchFamily="34" charset="0"/>
                <a:ea typeface="Yu Gothic" pitchFamily="34" charset="-122"/>
                <a:cs typeface="Yu Gothic" pitchFamily="34" charset="-120"/>
              </a:rPr>
              <a:t>全モデルKC安全認証</a:t>
            </a:r>
            <a:endParaRPr lang="en-US" sz="900" dirty="0"/>
          </a:p>
        </p:txBody>
      </p:sp>
      <p:sp>
        <p:nvSpPr>
          <p:cNvPr id="22" name="Shape 20"/>
          <p:cNvSpPr/>
          <p:nvPr/>
        </p:nvSpPr>
        <p:spPr>
          <a:xfrm>
            <a:off x="6217920" y="1645920"/>
            <a:ext cx="2651760" cy="438912"/>
          </a:xfrm>
          <a:prstGeom prst="rect">
            <a:avLst/>
          </a:prstGeom>
          <a:solidFill>
            <a:srgbClr val="16324F"/>
          </a:solidFill>
          <a:ln/>
        </p:spPr>
      </p:sp>
      <p:sp>
        <p:nvSpPr>
          <p:cNvPr id="23" name="Text 21"/>
          <p:cNvSpPr/>
          <p:nvPr/>
        </p:nvSpPr>
        <p:spPr>
          <a:xfrm>
            <a:off x="6217920" y="1645920"/>
            <a:ext cx="2651760" cy="438912"/>
          </a:xfrm>
          <a:prstGeom prst="rect">
            <a:avLst/>
          </a:prstGeom>
          <a:noFill/>
          <a:ln/>
        </p:spPr>
        <p:txBody>
          <a:bodyPr wrap="square" lIns="0" tIns="0" rIns="0" bIns="0" rtlCol="0" anchor="ctr"/>
          <a:lstStyle/>
          <a:p>
            <a:pPr algn="ctr" indent="0" marL="0">
              <a:buNone/>
            </a:pPr>
            <a:r>
              <a:rPr lang="en-US" sz="1200" b="1" dirty="0">
                <a:solidFill>
                  <a:srgbClr val="C9A227"/>
                </a:solidFill>
                <a:latin typeface="Arial" pitchFamily="34" charset="0"/>
                <a:ea typeface="Arial" pitchFamily="34" charset="-122"/>
                <a:cs typeface="Arial" pitchFamily="34" charset="-120"/>
              </a:rPr>
              <a:t>UL TR</a:t>
            </a:r>
            <a:endParaRPr lang="en-US" sz="1200" dirty="0"/>
          </a:p>
        </p:txBody>
      </p:sp>
      <p:sp>
        <p:nvSpPr>
          <p:cNvPr id="24" name="Shape 22"/>
          <p:cNvSpPr/>
          <p:nvPr/>
        </p:nvSpPr>
        <p:spPr>
          <a:xfrm>
            <a:off x="6217920" y="2084832"/>
            <a:ext cx="2651760" cy="932688"/>
          </a:xfrm>
          <a:prstGeom prst="rect">
            <a:avLst/>
          </a:prstGeom>
          <a:solidFill>
            <a:srgbClr val="FFFFFF"/>
          </a:solidFill>
          <a:ln w="9525">
            <a:solidFill>
              <a:srgbClr val="C8C8C8"/>
            </a:solidFill>
            <a:prstDash val="solid"/>
          </a:ln>
        </p:spPr>
      </p:sp>
      <p:sp>
        <p:nvSpPr>
          <p:cNvPr id="25" name="Text 23"/>
          <p:cNvSpPr/>
          <p:nvPr/>
        </p:nvSpPr>
        <p:spPr>
          <a:xfrm>
            <a:off x="6309360" y="2157984"/>
            <a:ext cx="2468880" cy="384048"/>
          </a:xfrm>
          <a:prstGeom prst="rect">
            <a:avLst/>
          </a:prstGeom>
          <a:noFill/>
          <a:ln/>
        </p:spPr>
        <p:txBody>
          <a:bodyPr wrap="square" lIns="0" tIns="0" rIns="0" bIns="0" rtlCol="0" anchor="ctr"/>
          <a:lstStyle/>
          <a:p>
            <a:pPr algn="ctr" indent="0" marL="0">
              <a:buNone/>
            </a:pPr>
            <a:r>
              <a:rPr lang="en-US" sz="950" b="1" dirty="0">
                <a:solidFill>
                  <a:srgbClr val="1A1A1A"/>
                </a:solidFill>
                <a:latin typeface="Yu Gothic" pitchFamily="34" charset="0"/>
                <a:ea typeface="Yu Gothic" pitchFamily="34" charset="-122"/>
                <a:cs typeface="Yu Gothic" pitchFamily="34" charset="-120"/>
              </a:rPr>
              <a:t>ULTR-2025-14014~19</a:t>
            </a:r>
            <a:endParaRPr lang="en-US" sz="950" dirty="0"/>
          </a:p>
        </p:txBody>
      </p:sp>
      <p:sp>
        <p:nvSpPr>
          <p:cNvPr id="26" name="Text 24"/>
          <p:cNvSpPr/>
          <p:nvPr/>
        </p:nvSpPr>
        <p:spPr>
          <a:xfrm>
            <a:off x="6309360" y="2560320"/>
            <a:ext cx="2468880" cy="365760"/>
          </a:xfrm>
          <a:prstGeom prst="rect">
            <a:avLst/>
          </a:prstGeom>
          <a:noFill/>
          <a:ln/>
        </p:spPr>
        <p:txBody>
          <a:bodyPr wrap="square" lIns="0" tIns="0" rIns="0" bIns="0" rtlCol="0" anchor="ctr"/>
          <a:lstStyle/>
          <a:p>
            <a:pPr algn="ctr" indent="0" marL="0">
              <a:buNone/>
            </a:pPr>
            <a:r>
              <a:rPr lang="en-US" sz="900" dirty="0">
                <a:solidFill>
                  <a:srgbClr val="5A5A5A"/>
                </a:solidFill>
                <a:latin typeface="Yu Gothic" pitchFamily="34" charset="0"/>
                <a:ea typeface="Yu Gothic" pitchFamily="34" charset="-122"/>
                <a:cs typeface="Yu Gothic" pitchFamily="34" charset="-120"/>
              </a:rPr>
              <a:t>UL熱暴走試験</a:t>
            </a:r>
            <a:endParaRPr lang="en-US" sz="900" dirty="0"/>
          </a:p>
        </p:txBody>
      </p:sp>
      <p:sp>
        <p:nvSpPr>
          <p:cNvPr id="27" name="Shape 25"/>
          <p:cNvSpPr/>
          <p:nvPr/>
        </p:nvSpPr>
        <p:spPr>
          <a:xfrm>
            <a:off x="9098280" y="1645920"/>
            <a:ext cx="2651760" cy="438912"/>
          </a:xfrm>
          <a:prstGeom prst="rect">
            <a:avLst/>
          </a:prstGeom>
          <a:solidFill>
            <a:srgbClr val="16324F"/>
          </a:solidFill>
          <a:ln/>
        </p:spPr>
      </p:sp>
      <p:sp>
        <p:nvSpPr>
          <p:cNvPr id="28" name="Text 26"/>
          <p:cNvSpPr/>
          <p:nvPr/>
        </p:nvSpPr>
        <p:spPr>
          <a:xfrm>
            <a:off x="9098280" y="1645920"/>
            <a:ext cx="2651760" cy="438912"/>
          </a:xfrm>
          <a:prstGeom prst="rect">
            <a:avLst/>
          </a:prstGeom>
          <a:noFill/>
          <a:ln/>
        </p:spPr>
        <p:txBody>
          <a:bodyPr wrap="square" lIns="0" tIns="0" rIns="0" bIns="0" rtlCol="0" anchor="ctr"/>
          <a:lstStyle/>
          <a:p>
            <a:pPr algn="ctr" indent="0" marL="0">
              <a:buNone/>
            </a:pPr>
            <a:r>
              <a:rPr lang="en-US" sz="1200" b="1" dirty="0">
                <a:solidFill>
                  <a:srgbClr val="C9A227"/>
                </a:solidFill>
                <a:latin typeface="Arial" pitchFamily="34" charset="0"/>
                <a:ea typeface="Arial" pitchFamily="34" charset="-122"/>
                <a:cs typeface="Arial" pitchFamily="34" charset="-120"/>
              </a:rPr>
              <a:t>UL LC</a:t>
            </a:r>
            <a:endParaRPr lang="en-US" sz="1200" dirty="0"/>
          </a:p>
        </p:txBody>
      </p:sp>
      <p:sp>
        <p:nvSpPr>
          <p:cNvPr id="29" name="Shape 27"/>
          <p:cNvSpPr/>
          <p:nvPr/>
        </p:nvSpPr>
        <p:spPr>
          <a:xfrm>
            <a:off x="9098280" y="2084832"/>
            <a:ext cx="2651760" cy="932688"/>
          </a:xfrm>
          <a:prstGeom prst="rect">
            <a:avLst/>
          </a:prstGeom>
          <a:solidFill>
            <a:srgbClr val="FFFFFF"/>
          </a:solidFill>
          <a:ln w="9525">
            <a:solidFill>
              <a:srgbClr val="C8C8C8"/>
            </a:solidFill>
            <a:prstDash val="solid"/>
          </a:ln>
        </p:spPr>
      </p:sp>
      <p:sp>
        <p:nvSpPr>
          <p:cNvPr id="30" name="Text 28"/>
          <p:cNvSpPr/>
          <p:nvPr/>
        </p:nvSpPr>
        <p:spPr>
          <a:xfrm>
            <a:off x="9189720" y="2157984"/>
            <a:ext cx="2468880" cy="384048"/>
          </a:xfrm>
          <a:prstGeom prst="rect">
            <a:avLst/>
          </a:prstGeom>
          <a:noFill/>
          <a:ln/>
        </p:spPr>
        <p:txBody>
          <a:bodyPr wrap="square" lIns="0" tIns="0" rIns="0" bIns="0" rtlCol="0" anchor="ctr"/>
          <a:lstStyle/>
          <a:p>
            <a:pPr algn="ctr" indent="0" marL="0">
              <a:buNone/>
            </a:pPr>
            <a:r>
              <a:rPr lang="en-US" sz="950" b="1" dirty="0">
                <a:solidFill>
                  <a:srgbClr val="1A1A1A"/>
                </a:solidFill>
                <a:latin typeface="Yu Gothic" pitchFamily="34" charset="0"/>
                <a:ea typeface="Yu Gothic" pitchFamily="34" charset="-122"/>
                <a:cs typeface="Yu Gothic" pitchFamily="34" charset="-120"/>
              </a:rPr>
              <a:t>ULLC-2025-14014~19</a:t>
            </a:r>
            <a:endParaRPr lang="en-US" sz="950" dirty="0"/>
          </a:p>
        </p:txBody>
      </p:sp>
      <p:sp>
        <p:nvSpPr>
          <p:cNvPr id="31" name="Text 29"/>
          <p:cNvSpPr/>
          <p:nvPr/>
        </p:nvSpPr>
        <p:spPr>
          <a:xfrm>
            <a:off x="9189720" y="2560320"/>
            <a:ext cx="2468880" cy="365760"/>
          </a:xfrm>
          <a:prstGeom prst="rect">
            <a:avLst/>
          </a:prstGeom>
          <a:noFill/>
          <a:ln/>
        </p:spPr>
        <p:txBody>
          <a:bodyPr wrap="square" lIns="0" tIns="0" rIns="0" bIns="0" rtlCol="0" anchor="ctr"/>
          <a:lstStyle/>
          <a:p>
            <a:pPr algn="ctr" indent="0" marL="0">
              <a:buNone/>
            </a:pPr>
            <a:r>
              <a:rPr lang="en-US" sz="900" dirty="0">
                <a:solidFill>
                  <a:srgbClr val="5A5A5A"/>
                </a:solidFill>
                <a:latin typeface="Yu Gothic" pitchFamily="34" charset="0"/>
                <a:ea typeface="Yu Gothic" pitchFamily="34" charset="-122"/>
                <a:cs typeface="Yu Gothic" pitchFamily="34" charset="-120"/>
              </a:rPr>
              <a:t>UL寿命 10年</a:t>
            </a:r>
            <a:endParaRPr lang="en-US" sz="900" dirty="0"/>
          </a:p>
        </p:txBody>
      </p:sp>
      <p:sp>
        <p:nvSpPr>
          <p:cNvPr id="32" name="Shape 30"/>
          <p:cNvSpPr/>
          <p:nvPr/>
        </p:nvSpPr>
        <p:spPr>
          <a:xfrm>
            <a:off x="457200" y="3182112"/>
            <a:ext cx="2651760" cy="438912"/>
          </a:xfrm>
          <a:prstGeom prst="rect">
            <a:avLst/>
          </a:prstGeom>
          <a:solidFill>
            <a:srgbClr val="16324F"/>
          </a:solidFill>
          <a:ln/>
        </p:spPr>
      </p:sp>
      <p:sp>
        <p:nvSpPr>
          <p:cNvPr id="33" name="Text 31"/>
          <p:cNvSpPr/>
          <p:nvPr/>
        </p:nvSpPr>
        <p:spPr>
          <a:xfrm>
            <a:off x="457200" y="3182112"/>
            <a:ext cx="2651760" cy="438912"/>
          </a:xfrm>
          <a:prstGeom prst="rect">
            <a:avLst/>
          </a:prstGeom>
          <a:noFill/>
          <a:ln/>
        </p:spPr>
        <p:txBody>
          <a:bodyPr wrap="square" lIns="0" tIns="0" rIns="0" bIns="0" rtlCol="0" anchor="ctr"/>
          <a:lstStyle/>
          <a:p>
            <a:pPr algn="ctr" indent="0" marL="0">
              <a:buNone/>
            </a:pPr>
            <a:r>
              <a:rPr lang="en-US" sz="1200" b="1" dirty="0">
                <a:solidFill>
                  <a:srgbClr val="C9A227"/>
                </a:solidFill>
                <a:latin typeface="Arial" pitchFamily="34" charset="0"/>
                <a:ea typeface="Arial" pitchFamily="34" charset="-122"/>
                <a:cs typeface="Arial" pitchFamily="34" charset="-120"/>
              </a:rPr>
              <a:t>IATF</a:t>
            </a:r>
            <a:endParaRPr lang="en-US" sz="1200" dirty="0"/>
          </a:p>
        </p:txBody>
      </p:sp>
      <p:sp>
        <p:nvSpPr>
          <p:cNvPr id="34" name="Shape 32"/>
          <p:cNvSpPr/>
          <p:nvPr/>
        </p:nvSpPr>
        <p:spPr>
          <a:xfrm>
            <a:off x="457200" y="3621024"/>
            <a:ext cx="2651760" cy="932688"/>
          </a:xfrm>
          <a:prstGeom prst="rect">
            <a:avLst/>
          </a:prstGeom>
          <a:solidFill>
            <a:srgbClr val="FFFFFF"/>
          </a:solidFill>
          <a:ln w="9525">
            <a:solidFill>
              <a:srgbClr val="C8C8C8"/>
            </a:solidFill>
            <a:prstDash val="solid"/>
          </a:ln>
        </p:spPr>
      </p:sp>
      <p:sp>
        <p:nvSpPr>
          <p:cNvPr id="35" name="Text 33"/>
          <p:cNvSpPr/>
          <p:nvPr/>
        </p:nvSpPr>
        <p:spPr>
          <a:xfrm>
            <a:off x="548640" y="3694176"/>
            <a:ext cx="2468880" cy="384048"/>
          </a:xfrm>
          <a:prstGeom prst="rect">
            <a:avLst/>
          </a:prstGeom>
          <a:noFill/>
          <a:ln/>
        </p:spPr>
        <p:txBody>
          <a:bodyPr wrap="square" lIns="0" tIns="0" rIns="0" bIns="0" rtlCol="0" anchor="ctr"/>
          <a:lstStyle/>
          <a:p>
            <a:pPr algn="ctr" indent="0" marL="0">
              <a:buNone/>
            </a:pPr>
            <a:r>
              <a:rPr lang="en-US" sz="950" b="1" dirty="0">
                <a:solidFill>
                  <a:srgbClr val="1A1A1A"/>
                </a:solidFill>
                <a:latin typeface="Yu Gothic" pitchFamily="34" charset="0"/>
                <a:ea typeface="Yu Gothic" pitchFamily="34" charset="-122"/>
                <a:cs typeface="Yu Gothic" pitchFamily="34" charset="-120"/>
              </a:rPr>
              <a:t>16949 自動車品質</a:t>
            </a:r>
            <a:endParaRPr lang="en-US" sz="950" dirty="0"/>
          </a:p>
        </p:txBody>
      </p:sp>
      <p:sp>
        <p:nvSpPr>
          <p:cNvPr id="36" name="Text 34"/>
          <p:cNvSpPr/>
          <p:nvPr/>
        </p:nvSpPr>
        <p:spPr>
          <a:xfrm>
            <a:off x="548640" y="4096512"/>
            <a:ext cx="2468880" cy="365760"/>
          </a:xfrm>
          <a:prstGeom prst="rect">
            <a:avLst/>
          </a:prstGeom>
          <a:noFill/>
          <a:ln/>
        </p:spPr>
        <p:txBody>
          <a:bodyPr wrap="square" lIns="0" tIns="0" rIns="0" bIns="0" rtlCol="0" anchor="ctr"/>
          <a:lstStyle/>
          <a:p>
            <a:pPr algn="ctr" indent="0" marL="0">
              <a:buNone/>
            </a:pPr>
            <a:r>
              <a:rPr lang="en-US" sz="900" dirty="0">
                <a:solidFill>
                  <a:srgbClr val="5A5A5A"/>
                </a:solidFill>
                <a:latin typeface="Yu Gothic" pitchFamily="34" charset="0"/>
                <a:ea typeface="Yu Gothic" pitchFamily="34" charset="-122"/>
                <a:cs typeface="Yu Gothic" pitchFamily="34" charset="-120"/>
              </a:rPr>
              <a:t>量産ライン認証</a:t>
            </a:r>
            <a:endParaRPr lang="en-US" sz="900" dirty="0"/>
          </a:p>
        </p:txBody>
      </p:sp>
      <p:sp>
        <p:nvSpPr>
          <p:cNvPr id="37" name="Shape 35"/>
          <p:cNvSpPr/>
          <p:nvPr/>
        </p:nvSpPr>
        <p:spPr>
          <a:xfrm>
            <a:off x="3337560" y="3182112"/>
            <a:ext cx="2651760" cy="438912"/>
          </a:xfrm>
          <a:prstGeom prst="rect">
            <a:avLst/>
          </a:prstGeom>
          <a:solidFill>
            <a:srgbClr val="16324F"/>
          </a:solidFill>
          <a:ln/>
        </p:spPr>
      </p:sp>
      <p:sp>
        <p:nvSpPr>
          <p:cNvPr id="38" name="Text 36"/>
          <p:cNvSpPr/>
          <p:nvPr/>
        </p:nvSpPr>
        <p:spPr>
          <a:xfrm>
            <a:off x="3337560" y="3182112"/>
            <a:ext cx="2651760" cy="438912"/>
          </a:xfrm>
          <a:prstGeom prst="rect">
            <a:avLst/>
          </a:prstGeom>
          <a:noFill/>
          <a:ln/>
        </p:spPr>
        <p:txBody>
          <a:bodyPr wrap="square" lIns="0" tIns="0" rIns="0" bIns="0" rtlCol="0" anchor="ctr"/>
          <a:lstStyle/>
          <a:p>
            <a:pPr algn="ctr" indent="0" marL="0">
              <a:buNone/>
            </a:pPr>
            <a:r>
              <a:rPr lang="en-US" sz="1200" b="1" dirty="0">
                <a:solidFill>
                  <a:srgbClr val="C9A227"/>
                </a:solidFill>
                <a:latin typeface="Arial" pitchFamily="34" charset="0"/>
                <a:ea typeface="Arial" pitchFamily="34" charset="-122"/>
                <a:cs typeface="Arial" pitchFamily="34" charset="-120"/>
              </a:rPr>
              <a:t>CE</a:t>
            </a:r>
            <a:endParaRPr lang="en-US" sz="1200" dirty="0"/>
          </a:p>
        </p:txBody>
      </p:sp>
      <p:sp>
        <p:nvSpPr>
          <p:cNvPr id="39" name="Shape 37"/>
          <p:cNvSpPr/>
          <p:nvPr/>
        </p:nvSpPr>
        <p:spPr>
          <a:xfrm>
            <a:off x="3337560" y="3621024"/>
            <a:ext cx="2651760" cy="932688"/>
          </a:xfrm>
          <a:prstGeom prst="rect">
            <a:avLst/>
          </a:prstGeom>
          <a:solidFill>
            <a:srgbClr val="FFFFFF"/>
          </a:solidFill>
          <a:ln w="9525">
            <a:solidFill>
              <a:srgbClr val="C8C8C8"/>
            </a:solidFill>
            <a:prstDash val="solid"/>
          </a:ln>
        </p:spPr>
      </p:sp>
      <p:sp>
        <p:nvSpPr>
          <p:cNvPr id="40" name="Text 38"/>
          <p:cNvSpPr/>
          <p:nvPr/>
        </p:nvSpPr>
        <p:spPr>
          <a:xfrm>
            <a:off x="3429000" y="3694176"/>
            <a:ext cx="2468880" cy="384048"/>
          </a:xfrm>
          <a:prstGeom prst="rect">
            <a:avLst/>
          </a:prstGeom>
          <a:noFill/>
          <a:ln/>
        </p:spPr>
        <p:txBody>
          <a:bodyPr wrap="square" lIns="0" tIns="0" rIns="0" bIns="0" rtlCol="0" anchor="ctr"/>
          <a:lstStyle/>
          <a:p>
            <a:pPr algn="ctr" indent="0" marL="0">
              <a:buNone/>
            </a:pPr>
            <a:r>
              <a:rPr lang="en-US" sz="950" b="1" dirty="0">
                <a:solidFill>
                  <a:srgbClr val="1A1A1A"/>
                </a:solidFill>
                <a:latin typeface="Yu Gothic" pitchFamily="34" charset="0"/>
                <a:ea typeface="Yu Gothic" pitchFamily="34" charset="-122"/>
                <a:cs typeface="Yu Gothic" pitchFamily="34" charset="-120"/>
              </a:rPr>
              <a:t>EU安全適合</a:t>
            </a:r>
            <a:endParaRPr lang="en-US" sz="950" dirty="0"/>
          </a:p>
        </p:txBody>
      </p:sp>
      <p:sp>
        <p:nvSpPr>
          <p:cNvPr id="41" name="Text 39"/>
          <p:cNvSpPr/>
          <p:nvPr/>
        </p:nvSpPr>
        <p:spPr>
          <a:xfrm>
            <a:off x="3429000" y="4096512"/>
            <a:ext cx="2468880" cy="365760"/>
          </a:xfrm>
          <a:prstGeom prst="rect">
            <a:avLst/>
          </a:prstGeom>
          <a:noFill/>
          <a:ln/>
        </p:spPr>
        <p:txBody>
          <a:bodyPr wrap="square" lIns="0" tIns="0" rIns="0" bIns="0" rtlCol="0" anchor="ctr"/>
          <a:lstStyle/>
          <a:p>
            <a:pPr algn="ctr" indent="0" marL="0">
              <a:buNone/>
            </a:pPr>
            <a:r>
              <a:rPr lang="en-US" sz="900" dirty="0">
                <a:solidFill>
                  <a:srgbClr val="5A5A5A"/>
                </a:solidFill>
                <a:latin typeface="Yu Gothic" pitchFamily="34" charset="0"/>
                <a:ea typeface="Yu Gothic" pitchFamily="34" charset="-122"/>
                <a:cs typeface="Yu Gothic" pitchFamily="34" charset="-120"/>
              </a:rPr>
              <a:t>EU市場適合</a:t>
            </a:r>
            <a:endParaRPr lang="en-US" sz="900" dirty="0"/>
          </a:p>
        </p:txBody>
      </p:sp>
      <p:sp>
        <p:nvSpPr>
          <p:cNvPr id="42" name="Shape 40"/>
          <p:cNvSpPr/>
          <p:nvPr/>
        </p:nvSpPr>
        <p:spPr>
          <a:xfrm>
            <a:off x="6217920" y="3182112"/>
            <a:ext cx="2651760" cy="438912"/>
          </a:xfrm>
          <a:prstGeom prst="rect">
            <a:avLst/>
          </a:prstGeom>
          <a:solidFill>
            <a:srgbClr val="16324F"/>
          </a:solidFill>
          <a:ln/>
        </p:spPr>
      </p:sp>
      <p:sp>
        <p:nvSpPr>
          <p:cNvPr id="43" name="Text 41"/>
          <p:cNvSpPr/>
          <p:nvPr/>
        </p:nvSpPr>
        <p:spPr>
          <a:xfrm>
            <a:off x="6217920" y="3182112"/>
            <a:ext cx="2651760" cy="438912"/>
          </a:xfrm>
          <a:prstGeom prst="rect">
            <a:avLst/>
          </a:prstGeom>
          <a:noFill/>
          <a:ln/>
        </p:spPr>
        <p:txBody>
          <a:bodyPr wrap="square" lIns="0" tIns="0" rIns="0" bIns="0" rtlCol="0" anchor="ctr"/>
          <a:lstStyle/>
          <a:p>
            <a:pPr algn="ctr" indent="0" marL="0">
              <a:buNone/>
            </a:pPr>
            <a:r>
              <a:rPr lang="en-US" sz="1200" b="1" dirty="0">
                <a:solidFill>
                  <a:srgbClr val="C9A227"/>
                </a:solidFill>
                <a:latin typeface="Arial" pitchFamily="34" charset="0"/>
                <a:ea typeface="Arial" pitchFamily="34" charset="-122"/>
                <a:cs typeface="Arial" pitchFamily="34" charset="-120"/>
              </a:rPr>
              <a:t>FCC</a:t>
            </a:r>
            <a:endParaRPr lang="en-US" sz="1200" dirty="0"/>
          </a:p>
        </p:txBody>
      </p:sp>
      <p:sp>
        <p:nvSpPr>
          <p:cNvPr id="44" name="Shape 42"/>
          <p:cNvSpPr/>
          <p:nvPr/>
        </p:nvSpPr>
        <p:spPr>
          <a:xfrm>
            <a:off x="6217920" y="3621024"/>
            <a:ext cx="2651760" cy="932688"/>
          </a:xfrm>
          <a:prstGeom prst="rect">
            <a:avLst/>
          </a:prstGeom>
          <a:solidFill>
            <a:srgbClr val="FFFFFF"/>
          </a:solidFill>
          <a:ln w="9525">
            <a:solidFill>
              <a:srgbClr val="C8C8C8"/>
            </a:solidFill>
            <a:prstDash val="solid"/>
          </a:ln>
        </p:spPr>
      </p:sp>
      <p:sp>
        <p:nvSpPr>
          <p:cNvPr id="45" name="Text 43"/>
          <p:cNvSpPr/>
          <p:nvPr/>
        </p:nvSpPr>
        <p:spPr>
          <a:xfrm>
            <a:off x="6309360" y="3694176"/>
            <a:ext cx="2468880" cy="384048"/>
          </a:xfrm>
          <a:prstGeom prst="rect">
            <a:avLst/>
          </a:prstGeom>
          <a:noFill/>
          <a:ln/>
        </p:spPr>
        <p:txBody>
          <a:bodyPr wrap="square" lIns="0" tIns="0" rIns="0" bIns="0" rtlCol="0" anchor="ctr"/>
          <a:lstStyle/>
          <a:p>
            <a:pPr algn="ctr" indent="0" marL="0">
              <a:buNone/>
            </a:pPr>
            <a:r>
              <a:rPr lang="en-US" sz="950" b="1" dirty="0">
                <a:solidFill>
                  <a:srgbClr val="1A1A1A"/>
                </a:solidFill>
                <a:latin typeface="Yu Gothic" pitchFamily="34" charset="0"/>
                <a:ea typeface="Yu Gothic" pitchFamily="34" charset="-122"/>
                <a:cs typeface="Yu Gothic" pitchFamily="34" charset="-120"/>
              </a:rPr>
              <a:t>米国EMC適合</a:t>
            </a:r>
            <a:endParaRPr lang="en-US" sz="950" dirty="0"/>
          </a:p>
        </p:txBody>
      </p:sp>
      <p:sp>
        <p:nvSpPr>
          <p:cNvPr id="46" name="Text 44"/>
          <p:cNvSpPr/>
          <p:nvPr/>
        </p:nvSpPr>
        <p:spPr>
          <a:xfrm>
            <a:off x="6309360" y="4096512"/>
            <a:ext cx="2468880" cy="365760"/>
          </a:xfrm>
          <a:prstGeom prst="rect">
            <a:avLst/>
          </a:prstGeom>
          <a:noFill/>
          <a:ln/>
        </p:spPr>
        <p:txBody>
          <a:bodyPr wrap="square" lIns="0" tIns="0" rIns="0" bIns="0" rtlCol="0" anchor="ctr"/>
          <a:lstStyle/>
          <a:p>
            <a:pPr algn="ctr" indent="0" marL="0">
              <a:buNone/>
            </a:pPr>
            <a:r>
              <a:rPr lang="en-US" sz="900" dirty="0">
                <a:solidFill>
                  <a:srgbClr val="5A5A5A"/>
                </a:solidFill>
                <a:latin typeface="Yu Gothic" pitchFamily="34" charset="0"/>
                <a:ea typeface="Yu Gothic" pitchFamily="34" charset="-122"/>
                <a:cs typeface="Yu Gothic" pitchFamily="34" charset="-120"/>
              </a:rPr>
              <a:t>米州市場適合</a:t>
            </a:r>
            <a:endParaRPr lang="en-US" sz="900" dirty="0"/>
          </a:p>
        </p:txBody>
      </p:sp>
      <p:sp>
        <p:nvSpPr>
          <p:cNvPr id="47" name="Shape 45"/>
          <p:cNvSpPr/>
          <p:nvPr/>
        </p:nvSpPr>
        <p:spPr>
          <a:xfrm>
            <a:off x="9098280" y="3182112"/>
            <a:ext cx="2651760" cy="438912"/>
          </a:xfrm>
          <a:prstGeom prst="rect">
            <a:avLst/>
          </a:prstGeom>
          <a:solidFill>
            <a:srgbClr val="16324F"/>
          </a:solidFill>
          <a:ln/>
        </p:spPr>
      </p:sp>
      <p:sp>
        <p:nvSpPr>
          <p:cNvPr id="48" name="Text 46"/>
          <p:cNvSpPr/>
          <p:nvPr/>
        </p:nvSpPr>
        <p:spPr>
          <a:xfrm>
            <a:off x="9098280" y="3182112"/>
            <a:ext cx="2651760" cy="438912"/>
          </a:xfrm>
          <a:prstGeom prst="rect">
            <a:avLst/>
          </a:prstGeom>
          <a:noFill/>
          <a:ln/>
        </p:spPr>
        <p:txBody>
          <a:bodyPr wrap="square" lIns="0" tIns="0" rIns="0" bIns="0" rtlCol="0" anchor="ctr"/>
          <a:lstStyle/>
          <a:p>
            <a:pPr algn="ctr" indent="0" marL="0">
              <a:buNone/>
            </a:pPr>
            <a:r>
              <a:rPr lang="en-US" sz="1200" b="1" dirty="0">
                <a:solidFill>
                  <a:srgbClr val="C9A227"/>
                </a:solidFill>
                <a:latin typeface="Arial" pitchFamily="34" charset="0"/>
                <a:ea typeface="Arial" pitchFamily="34" charset="-122"/>
                <a:cs typeface="Arial" pitchFamily="34" charset="-120"/>
              </a:rPr>
              <a:t>NASA</a:t>
            </a:r>
            <a:endParaRPr lang="en-US" sz="1200" dirty="0"/>
          </a:p>
        </p:txBody>
      </p:sp>
      <p:sp>
        <p:nvSpPr>
          <p:cNvPr id="49" name="Shape 47"/>
          <p:cNvSpPr/>
          <p:nvPr/>
        </p:nvSpPr>
        <p:spPr>
          <a:xfrm>
            <a:off x="9098280" y="3621024"/>
            <a:ext cx="2651760" cy="932688"/>
          </a:xfrm>
          <a:prstGeom prst="rect">
            <a:avLst/>
          </a:prstGeom>
          <a:solidFill>
            <a:srgbClr val="FFFFFF"/>
          </a:solidFill>
          <a:ln w="9525">
            <a:solidFill>
              <a:srgbClr val="C8C8C8"/>
            </a:solidFill>
            <a:prstDash val="solid"/>
          </a:ln>
        </p:spPr>
      </p:sp>
      <p:sp>
        <p:nvSpPr>
          <p:cNvPr id="50" name="Text 48"/>
          <p:cNvSpPr/>
          <p:nvPr/>
        </p:nvSpPr>
        <p:spPr>
          <a:xfrm>
            <a:off x="9189720" y="3694176"/>
            <a:ext cx="2468880" cy="384048"/>
          </a:xfrm>
          <a:prstGeom prst="rect">
            <a:avLst/>
          </a:prstGeom>
          <a:noFill/>
          <a:ln/>
        </p:spPr>
        <p:txBody>
          <a:bodyPr wrap="square" lIns="0" tIns="0" rIns="0" bIns="0" rtlCol="0" anchor="ctr"/>
          <a:lstStyle/>
          <a:p>
            <a:pPr algn="ctr" indent="0" marL="0">
              <a:buNone/>
            </a:pPr>
            <a:r>
              <a:rPr lang="en-US" sz="950" b="1" dirty="0">
                <a:solidFill>
                  <a:srgbClr val="1A1A1A"/>
                </a:solidFill>
                <a:latin typeface="Yu Gothic" pitchFamily="34" charset="0"/>
                <a:ea typeface="Yu Gothic" pitchFamily="34" charset="-122"/>
                <a:cs typeface="Yu Gothic" pitchFamily="34" charset="-120"/>
              </a:rPr>
              <a:t>ADCI 正式合格</a:t>
            </a:r>
            <a:endParaRPr lang="en-US" sz="950" dirty="0"/>
          </a:p>
        </p:txBody>
      </p:sp>
      <p:sp>
        <p:nvSpPr>
          <p:cNvPr id="51" name="Text 49"/>
          <p:cNvSpPr/>
          <p:nvPr/>
        </p:nvSpPr>
        <p:spPr>
          <a:xfrm>
            <a:off x="9189720" y="4096512"/>
            <a:ext cx="2468880" cy="365760"/>
          </a:xfrm>
          <a:prstGeom prst="rect">
            <a:avLst/>
          </a:prstGeom>
          <a:noFill/>
          <a:ln/>
        </p:spPr>
        <p:txBody>
          <a:bodyPr wrap="square" lIns="0" tIns="0" rIns="0" bIns="0" rtlCol="0" anchor="ctr"/>
          <a:lstStyle/>
          <a:p>
            <a:pPr algn="ctr" indent="0" marL="0">
              <a:buNone/>
            </a:pPr>
            <a:r>
              <a:rPr lang="en-US" sz="900" dirty="0">
                <a:solidFill>
                  <a:srgbClr val="5A5A5A"/>
                </a:solidFill>
                <a:latin typeface="Yu Gothic" pitchFamily="34" charset="0"/>
                <a:ea typeface="Yu Gothic" pitchFamily="34" charset="-122"/>
                <a:cs typeface="Yu Gothic" pitchFamily="34" charset="-120"/>
              </a:rPr>
              <a:t>航空宇宙標準</a:t>
            </a:r>
            <a:endParaRPr lang="en-US" sz="900" dirty="0"/>
          </a:p>
        </p:txBody>
      </p:sp>
      <p:sp>
        <p:nvSpPr>
          <p:cNvPr id="52" name="Shape 50"/>
          <p:cNvSpPr/>
          <p:nvPr/>
        </p:nvSpPr>
        <p:spPr>
          <a:xfrm>
            <a:off x="457200" y="4718304"/>
            <a:ext cx="2651760" cy="438912"/>
          </a:xfrm>
          <a:prstGeom prst="rect">
            <a:avLst/>
          </a:prstGeom>
          <a:solidFill>
            <a:srgbClr val="16324F"/>
          </a:solidFill>
          <a:ln/>
        </p:spPr>
      </p:sp>
      <p:sp>
        <p:nvSpPr>
          <p:cNvPr id="53" name="Text 51"/>
          <p:cNvSpPr/>
          <p:nvPr/>
        </p:nvSpPr>
        <p:spPr>
          <a:xfrm>
            <a:off x="457200" y="4718304"/>
            <a:ext cx="2651760" cy="438912"/>
          </a:xfrm>
          <a:prstGeom prst="rect">
            <a:avLst/>
          </a:prstGeom>
          <a:noFill/>
          <a:ln/>
        </p:spPr>
        <p:txBody>
          <a:bodyPr wrap="square" lIns="0" tIns="0" rIns="0" bIns="0" rtlCol="0" anchor="ctr"/>
          <a:lstStyle/>
          <a:p>
            <a:pPr algn="ctr" indent="0" marL="0">
              <a:buNone/>
            </a:pPr>
            <a:r>
              <a:rPr lang="en-US" sz="1200" b="1" dirty="0">
                <a:solidFill>
                  <a:srgbClr val="C9A227"/>
                </a:solidFill>
                <a:latin typeface="Arial" pitchFamily="34" charset="0"/>
                <a:ea typeface="Arial" pitchFamily="34" charset="-122"/>
                <a:cs typeface="Arial" pitchFamily="34" charset="-120"/>
              </a:rPr>
              <a:t>NATO</a:t>
            </a:r>
            <a:endParaRPr lang="en-US" sz="1200" dirty="0"/>
          </a:p>
        </p:txBody>
      </p:sp>
      <p:sp>
        <p:nvSpPr>
          <p:cNvPr id="54" name="Shape 52"/>
          <p:cNvSpPr/>
          <p:nvPr/>
        </p:nvSpPr>
        <p:spPr>
          <a:xfrm>
            <a:off x="457200" y="5157216"/>
            <a:ext cx="2651760" cy="932688"/>
          </a:xfrm>
          <a:prstGeom prst="rect">
            <a:avLst/>
          </a:prstGeom>
          <a:solidFill>
            <a:srgbClr val="FFFFFF"/>
          </a:solidFill>
          <a:ln w="9525">
            <a:solidFill>
              <a:srgbClr val="C8C8C8"/>
            </a:solidFill>
            <a:prstDash val="solid"/>
          </a:ln>
        </p:spPr>
      </p:sp>
      <p:sp>
        <p:nvSpPr>
          <p:cNvPr id="55" name="Text 53"/>
          <p:cNvSpPr/>
          <p:nvPr/>
        </p:nvSpPr>
        <p:spPr>
          <a:xfrm>
            <a:off x="548640" y="5230368"/>
            <a:ext cx="2468880" cy="384048"/>
          </a:xfrm>
          <a:prstGeom prst="rect">
            <a:avLst/>
          </a:prstGeom>
          <a:noFill/>
          <a:ln/>
        </p:spPr>
        <p:txBody>
          <a:bodyPr wrap="square" lIns="0" tIns="0" rIns="0" bIns="0" rtlCol="0" anchor="ctr"/>
          <a:lstStyle/>
          <a:p>
            <a:pPr algn="ctr" indent="0" marL="0">
              <a:buNone/>
            </a:pPr>
            <a:r>
              <a:rPr lang="en-US" sz="950" b="1" dirty="0">
                <a:solidFill>
                  <a:srgbClr val="1A1A1A"/>
                </a:solidFill>
                <a:latin typeface="Yu Gothic" pitchFamily="34" charset="0"/>
                <a:ea typeface="Yu Gothic" pitchFamily="34" charset="-122"/>
                <a:cs typeface="Yu Gothic" pitchFamily="34" charset="-120"/>
              </a:rPr>
              <a:t>7.62 mm 貫通合格</a:t>
            </a:r>
            <a:endParaRPr lang="en-US" sz="950" dirty="0"/>
          </a:p>
        </p:txBody>
      </p:sp>
      <p:sp>
        <p:nvSpPr>
          <p:cNvPr id="56" name="Text 54"/>
          <p:cNvSpPr/>
          <p:nvPr/>
        </p:nvSpPr>
        <p:spPr>
          <a:xfrm>
            <a:off x="548640" y="5632704"/>
            <a:ext cx="2468880" cy="365760"/>
          </a:xfrm>
          <a:prstGeom prst="rect">
            <a:avLst/>
          </a:prstGeom>
          <a:noFill/>
          <a:ln/>
        </p:spPr>
        <p:txBody>
          <a:bodyPr wrap="square" lIns="0" tIns="0" rIns="0" bIns="0" rtlCol="0" anchor="ctr"/>
          <a:lstStyle/>
          <a:p>
            <a:pPr algn="ctr" indent="0" marL="0">
              <a:buNone/>
            </a:pPr>
            <a:r>
              <a:rPr lang="en-US" sz="900" dirty="0">
                <a:solidFill>
                  <a:srgbClr val="5A5A5A"/>
                </a:solidFill>
                <a:latin typeface="Yu Gothic" pitchFamily="34" charset="0"/>
                <a:ea typeface="Yu Gothic" pitchFamily="34" charset="-122"/>
                <a:cs typeface="Yu Gothic" pitchFamily="34" charset="-120"/>
              </a:rPr>
              <a:t>実戦配備適格</a:t>
            </a:r>
            <a:endParaRPr lang="en-US" sz="900" dirty="0"/>
          </a:p>
        </p:txBody>
      </p:sp>
      <p:sp>
        <p:nvSpPr>
          <p:cNvPr id="57" name="Shape 55"/>
          <p:cNvSpPr/>
          <p:nvPr/>
        </p:nvSpPr>
        <p:spPr>
          <a:xfrm>
            <a:off x="3337560" y="4718304"/>
            <a:ext cx="2651760" cy="438912"/>
          </a:xfrm>
          <a:prstGeom prst="rect">
            <a:avLst/>
          </a:prstGeom>
          <a:solidFill>
            <a:srgbClr val="16324F"/>
          </a:solidFill>
          <a:ln/>
        </p:spPr>
      </p:sp>
      <p:sp>
        <p:nvSpPr>
          <p:cNvPr id="58" name="Text 56"/>
          <p:cNvSpPr/>
          <p:nvPr/>
        </p:nvSpPr>
        <p:spPr>
          <a:xfrm>
            <a:off x="3337560" y="4718304"/>
            <a:ext cx="2651760" cy="438912"/>
          </a:xfrm>
          <a:prstGeom prst="rect">
            <a:avLst/>
          </a:prstGeom>
          <a:noFill/>
          <a:ln/>
        </p:spPr>
        <p:txBody>
          <a:bodyPr wrap="square" lIns="0" tIns="0" rIns="0" bIns="0" rtlCol="0" anchor="ctr"/>
          <a:lstStyle/>
          <a:p>
            <a:pPr algn="ctr" indent="0" marL="0">
              <a:buNone/>
            </a:pPr>
            <a:r>
              <a:rPr lang="en-US" sz="1200" b="1" dirty="0">
                <a:solidFill>
                  <a:srgbClr val="C9A227"/>
                </a:solidFill>
                <a:latin typeface="Arial" pitchFamily="34" charset="0"/>
                <a:ea typeface="Arial" pitchFamily="34" charset="-122"/>
                <a:cs typeface="Arial" pitchFamily="34" charset="-120"/>
              </a:rPr>
              <a:t>ETRI</a:t>
            </a:r>
            <a:endParaRPr lang="en-US" sz="1200" dirty="0"/>
          </a:p>
        </p:txBody>
      </p:sp>
      <p:sp>
        <p:nvSpPr>
          <p:cNvPr id="59" name="Shape 57"/>
          <p:cNvSpPr/>
          <p:nvPr/>
        </p:nvSpPr>
        <p:spPr>
          <a:xfrm>
            <a:off x="3337560" y="5157216"/>
            <a:ext cx="2651760" cy="932688"/>
          </a:xfrm>
          <a:prstGeom prst="rect">
            <a:avLst/>
          </a:prstGeom>
          <a:solidFill>
            <a:srgbClr val="FFFFFF"/>
          </a:solidFill>
          <a:ln w="9525">
            <a:solidFill>
              <a:srgbClr val="C8C8C8"/>
            </a:solidFill>
            <a:prstDash val="solid"/>
          </a:ln>
        </p:spPr>
      </p:sp>
      <p:sp>
        <p:nvSpPr>
          <p:cNvPr id="60" name="Text 58"/>
          <p:cNvSpPr/>
          <p:nvPr/>
        </p:nvSpPr>
        <p:spPr>
          <a:xfrm>
            <a:off x="3429000" y="5230368"/>
            <a:ext cx="2468880" cy="384048"/>
          </a:xfrm>
          <a:prstGeom prst="rect">
            <a:avLst/>
          </a:prstGeom>
          <a:noFill/>
          <a:ln/>
        </p:spPr>
        <p:txBody>
          <a:bodyPr wrap="square" lIns="0" tIns="0" rIns="0" bIns="0" rtlCol="0" anchor="ctr"/>
          <a:lstStyle/>
          <a:p>
            <a:pPr algn="ctr" indent="0" marL="0">
              <a:buNone/>
            </a:pPr>
            <a:r>
              <a:rPr lang="en-US" sz="950" b="1" dirty="0">
                <a:solidFill>
                  <a:srgbClr val="1A1A1A"/>
                </a:solidFill>
                <a:latin typeface="Yu Gothic" pitchFamily="34" charset="0"/>
                <a:ea typeface="Yu Gothic" pitchFamily="34" charset="-122"/>
                <a:cs typeface="Yu Gothic" pitchFamily="34" charset="-120"/>
              </a:rPr>
              <a:t>エネルギー密度検証</a:t>
            </a:r>
            <a:endParaRPr lang="en-US" sz="950" dirty="0"/>
          </a:p>
        </p:txBody>
      </p:sp>
      <p:sp>
        <p:nvSpPr>
          <p:cNvPr id="61" name="Text 59"/>
          <p:cNvSpPr/>
          <p:nvPr/>
        </p:nvSpPr>
        <p:spPr>
          <a:xfrm>
            <a:off x="3429000" y="5632704"/>
            <a:ext cx="2468880" cy="365760"/>
          </a:xfrm>
          <a:prstGeom prst="rect">
            <a:avLst/>
          </a:prstGeom>
          <a:noFill/>
          <a:ln/>
        </p:spPr>
        <p:txBody>
          <a:bodyPr wrap="square" lIns="0" tIns="0" rIns="0" bIns="0" rtlCol="0" anchor="ctr"/>
          <a:lstStyle/>
          <a:p>
            <a:pPr algn="ctr" indent="0" marL="0">
              <a:buNone/>
            </a:pPr>
            <a:r>
              <a:rPr lang="en-US" sz="900" dirty="0">
                <a:solidFill>
                  <a:srgbClr val="5A5A5A"/>
                </a:solidFill>
                <a:latin typeface="Yu Gothic" pitchFamily="34" charset="0"/>
                <a:ea typeface="Yu Gothic" pitchFamily="34" charset="-122"/>
                <a:cs typeface="Yu Gothic" pitchFamily="34" charset="-120"/>
              </a:rPr>
              <a:t>Wh/kg 実測</a:t>
            </a:r>
            <a:endParaRPr lang="en-US" sz="900" dirty="0"/>
          </a:p>
        </p:txBody>
      </p:sp>
      <p:sp>
        <p:nvSpPr>
          <p:cNvPr id="62" name="Shape 60"/>
          <p:cNvSpPr/>
          <p:nvPr/>
        </p:nvSpPr>
        <p:spPr>
          <a:xfrm>
            <a:off x="6217920" y="4718304"/>
            <a:ext cx="2651760" cy="438912"/>
          </a:xfrm>
          <a:prstGeom prst="rect">
            <a:avLst/>
          </a:prstGeom>
          <a:solidFill>
            <a:srgbClr val="16324F"/>
          </a:solidFill>
          <a:ln/>
        </p:spPr>
      </p:sp>
      <p:sp>
        <p:nvSpPr>
          <p:cNvPr id="63" name="Text 61"/>
          <p:cNvSpPr/>
          <p:nvPr/>
        </p:nvSpPr>
        <p:spPr>
          <a:xfrm>
            <a:off x="6217920" y="4718304"/>
            <a:ext cx="2651760" cy="438912"/>
          </a:xfrm>
          <a:prstGeom prst="rect">
            <a:avLst/>
          </a:prstGeom>
          <a:noFill/>
          <a:ln/>
        </p:spPr>
        <p:txBody>
          <a:bodyPr wrap="square" lIns="0" tIns="0" rIns="0" bIns="0" rtlCol="0" anchor="ctr"/>
          <a:lstStyle/>
          <a:p>
            <a:pPr algn="ctr" indent="0" marL="0">
              <a:buNone/>
            </a:pPr>
            <a:r>
              <a:rPr lang="en-US" sz="1200" b="1" dirty="0">
                <a:solidFill>
                  <a:srgbClr val="C9A227"/>
                </a:solidFill>
                <a:latin typeface="Arial" pitchFamily="34" charset="0"/>
                <a:ea typeface="Arial" pitchFamily="34" charset="-122"/>
                <a:cs typeface="Arial" pitchFamily="34" charset="-120"/>
              </a:rPr>
              <a:t>KTC</a:t>
            </a:r>
            <a:endParaRPr lang="en-US" sz="1200" dirty="0"/>
          </a:p>
        </p:txBody>
      </p:sp>
      <p:sp>
        <p:nvSpPr>
          <p:cNvPr id="64" name="Shape 62"/>
          <p:cNvSpPr/>
          <p:nvPr/>
        </p:nvSpPr>
        <p:spPr>
          <a:xfrm>
            <a:off x="6217920" y="5157216"/>
            <a:ext cx="2651760" cy="932688"/>
          </a:xfrm>
          <a:prstGeom prst="rect">
            <a:avLst/>
          </a:prstGeom>
          <a:solidFill>
            <a:srgbClr val="FFFFFF"/>
          </a:solidFill>
          <a:ln w="9525">
            <a:solidFill>
              <a:srgbClr val="C8C8C8"/>
            </a:solidFill>
            <a:prstDash val="solid"/>
          </a:ln>
        </p:spPr>
      </p:sp>
      <p:sp>
        <p:nvSpPr>
          <p:cNvPr id="65" name="Text 63"/>
          <p:cNvSpPr/>
          <p:nvPr/>
        </p:nvSpPr>
        <p:spPr>
          <a:xfrm>
            <a:off x="6309360" y="5230368"/>
            <a:ext cx="2468880" cy="384048"/>
          </a:xfrm>
          <a:prstGeom prst="rect">
            <a:avLst/>
          </a:prstGeom>
          <a:noFill/>
          <a:ln/>
        </p:spPr>
        <p:txBody>
          <a:bodyPr wrap="square" lIns="0" tIns="0" rIns="0" bIns="0" rtlCol="0" anchor="ctr"/>
          <a:lstStyle/>
          <a:p>
            <a:pPr algn="ctr" indent="0" marL="0">
              <a:buNone/>
            </a:pPr>
            <a:r>
              <a:rPr lang="en-US" sz="950" b="1" dirty="0">
                <a:solidFill>
                  <a:srgbClr val="1A1A1A"/>
                </a:solidFill>
                <a:latin typeface="Yu Gothic" pitchFamily="34" charset="0"/>
                <a:ea typeface="Yu Gothic" pitchFamily="34" charset="-122"/>
                <a:cs typeface="Yu Gothic" pitchFamily="34" charset="-120"/>
              </a:rPr>
              <a:t>GT2025-14016 インピーダンス</a:t>
            </a:r>
            <a:endParaRPr lang="en-US" sz="950" dirty="0"/>
          </a:p>
        </p:txBody>
      </p:sp>
      <p:sp>
        <p:nvSpPr>
          <p:cNvPr id="66" name="Text 64"/>
          <p:cNvSpPr/>
          <p:nvPr/>
        </p:nvSpPr>
        <p:spPr>
          <a:xfrm>
            <a:off x="6309360" y="5632704"/>
            <a:ext cx="2468880" cy="365760"/>
          </a:xfrm>
          <a:prstGeom prst="rect">
            <a:avLst/>
          </a:prstGeom>
          <a:noFill/>
          <a:ln/>
        </p:spPr>
        <p:txBody>
          <a:bodyPr wrap="square" lIns="0" tIns="0" rIns="0" bIns="0" rtlCol="0" anchor="ctr"/>
          <a:lstStyle/>
          <a:p>
            <a:pPr algn="ctr" indent="0" marL="0">
              <a:buNone/>
            </a:pPr>
            <a:r>
              <a:rPr lang="en-US" sz="900" dirty="0">
                <a:solidFill>
                  <a:srgbClr val="5A5A5A"/>
                </a:solidFill>
                <a:latin typeface="Yu Gothic" pitchFamily="34" charset="0"/>
                <a:ea typeface="Yu Gothic" pitchFamily="34" charset="-122"/>
                <a:cs typeface="Yu Gothic" pitchFamily="34" charset="-120"/>
              </a:rPr>
              <a:t>14.17 mΩ検証</a:t>
            </a:r>
            <a:endParaRPr lang="en-US" sz="900" dirty="0"/>
          </a:p>
        </p:txBody>
      </p:sp>
      <p:sp>
        <p:nvSpPr>
          <p:cNvPr id="67" name="Shape 65"/>
          <p:cNvSpPr/>
          <p:nvPr/>
        </p:nvSpPr>
        <p:spPr>
          <a:xfrm>
            <a:off x="9098280" y="4718304"/>
            <a:ext cx="2651760" cy="438912"/>
          </a:xfrm>
          <a:prstGeom prst="rect">
            <a:avLst/>
          </a:prstGeom>
          <a:solidFill>
            <a:srgbClr val="16324F"/>
          </a:solidFill>
          <a:ln/>
        </p:spPr>
      </p:sp>
      <p:sp>
        <p:nvSpPr>
          <p:cNvPr id="68" name="Text 66"/>
          <p:cNvSpPr/>
          <p:nvPr/>
        </p:nvSpPr>
        <p:spPr>
          <a:xfrm>
            <a:off x="9098280" y="4718304"/>
            <a:ext cx="2651760" cy="438912"/>
          </a:xfrm>
          <a:prstGeom prst="rect">
            <a:avLst/>
          </a:prstGeom>
          <a:noFill/>
          <a:ln/>
        </p:spPr>
        <p:txBody>
          <a:bodyPr wrap="square" lIns="0" tIns="0" rIns="0" bIns="0" rtlCol="0" anchor="ctr"/>
          <a:lstStyle/>
          <a:p>
            <a:pPr algn="ctr" indent="0" marL="0">
              <a:buNone/>
            </a:pPr>
            <a:r>
              <a:rPr lang="en-US" sz="1200" b="1" dirty="0">
                <a:solidFill>
                  <a:srgbClr val="C9A227"/>
                </a:solidFill>
                <a:latin typeface="Arial" pitchFamily="34" charset="0"/>
                <a:ea typeface="Arial" pitchFamily="34" charset="-122"/>
                <a:cs typeface="Arial" pitchFamily="34" charset="-120"/>
              </a:rPr>
              <a:t>FAA</a:t>
            </a:r>
            <a:endParaRPr lang="en-US" sz="1200" dirty="0"/>
          </a:p>
        </p:txBody>
      </p:sp>
      <p:sp>
        <p:nvSpPr>
          <p:cNvPr id="69" name="Shape 67"/>
          <p:cNvSpPr/>
          <p:nvPr/>
        </p:nvSpPr>
        <p:spPr>
          <a:xfrm>
            <a:off x="9098280" y="5157216"/>
            <a:ext cx="2651760" cy="932688"/>
          </a:xfrm>
          <a:prstGeom prst="rect">
            <a:avLst/>
          </a:prstGeom>
          <a:solidFill>
            <a:srgbClr val="FFFFFF"/>
          </a:solidFill>
          <a:ln w="9525">
            <a:solidFill>
              <a:srgbClr val="C8C8C8"/>
            </a:solidFill>
            <a:prstDash val="solid"/>
          </a:ln>
        </p:spPr>
      </p:sp>
      <p:sp>
        <p:nvSpPr>
          <p:cNvPr id="70" name="Text 68"/>
          <p:cNvSpPr/>
          <p:nvPr/>
        </p:nvSpPr>
        <p:spPr>
          <a:xfrm>
            <a:off x="9189720" y="5230368"/>
            <a:ext cx="2468880" cy="384048"/>
          </a:xfrm>
          <a:prstGeom prst="rect">
            <a:avLst/>
          </a:prstGeom>
          <a:noFill/>
          <a:ln/>
        </p:spPr>
        <p:txBody>
          <a:bodyPr wrap="square" lIns="0" tIns="0" rIns="0" bIns="0" rtlCol="0" anchor="ctr"/>
          <a:lstStyle/>
          <a:p>
            <a:pPr algn="ctr" indent="0" marL="0">
              <a:buNone/>
            </a:pPr>
            <a:r>
              <a:rPr lang="en-US" sz="950" b="1" dirty="0">
                <a:solidFill>
                  <a:srgbClr val="1A1A1A"/>
                </a:solidFill>
                <a:latin typeface="Yu Gothic" pitchFamily="34" charset="0"/>
                <a:ea typeface="Yu Gothic" pitchFamily="34" charset="-122"/>
                <a:cs typeface="Yu Gothic" pitchFamily="34" charset="-120"/>
              </a:rPr>
              <a:t>TSO-C179b 進行中</a:t>
            </a:r>
            <a:endParaRPr lang="en-US" sz="950" dirty="0"/>
          </a:p>
        </p:txBody>
      </p:sp>
      <p:sp>
        <p:nvSpPr>
          <p:cNvPr id="71" name="Text 69"/>
          <p:cNvSpPr/>
          <p:nvPr/>
        </p:nvSpPr>
        <p:spPr>
          <a:xfrm>
            <a:off x="9189720" y="5632704"/>
            <a:ext cx="2468880" cy="365760"/>
          </a:xfrm>
          <a:prstGeom prst="rect">
            <a:avLst/>
          </a:prstGeom>
          <a:noFill/>
          <a:ln/>
        </p:spPr>
        <p:txBody>
          <a:bodyPr wrap="square" lIns="0" tIns="0" rIns="0" bIns="0" rtlCol="0" anchor="ctr"/>
          <a:lstStyle/>
          <a:p>
            <a:pPr algn="ctr" indent="0" marL="0">
              <a:buNone/>
            </a:pPr>
            <a:r>
              <a:rPr lang="en-US" sz="900" dirty="0">
                <a:solidFill>
                  <a:srgbClr val="5A5A5A"/>
                </a:solidFill>
                <a:latin typeface="Yu Gothic" pitchFamily="34" charset="0"/>
                <a:ea typeface="Yu Gothic" pitchFamily="34" charset="-122"/>
                <a:cs typeface="Yu Gothic" pitchFamily="34" charset="-120"/>
              </a:rPr>
              <a:t>2026年 航空認証</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6324F"/>
        </a:solidFill>
      </p:bgPr>
    </p:bg>
    <p:spTree>
      <p:nvGrpSpPr>
        <p:cNvPr id="1" name=""/>
        <p:cNvGrpSpPr/>
        <p:nvPr/>
      </p:nvGrpSpPr>
      <p:grpSpPr>
        <a:xfrm>
          <a:off x="0" y="0"/>
          <a:ext cx="0" cy="0"/>
          <a:chOff x="0" y="0"/>
          <a:chExt cx="0" cy="0"/>
        </a:xfrm>
      </p:grpSpPr>
      <p:sp>
        <p:nvSpPr>
          <p:cNvPr id="2" name="Text 0"/>
          <p:cNvSpPr/>
          <p:nvPr/>
        </p:nvSpPr>
        <p:spPr>
          <a:xfrm>
            <a:off x="457200" y="411480"/>
            <a:ext cx="274320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BK DONGYEOUNG TECH</a:t>
            </a:r>
            <a:endParaRPr lang="en-US" sz="900" dirty="0"/>
          </a:p>
        </p:txBody>
      </p:sp>
      <p:sp>
        <p:nvSpPr>
          <p:cNvPr id="3" name="Text 1"/>
          <p:cNvSpPr/>
          <p:nvPr/>
        </p:nvSpPr>
        <p:spPr>
          <a:xfrm>
            <a:off x="502920" y="1417320"/>
            <a:ext cx="4572000" cy="411480"/>
          </a:xfrm>
          <a:prstGeom prst="rect">
            <a:avLst/>
          </a:prstGeom>
          <a:noFill/>
          <a:ln/>
        </p:spPr>
        <p:txBody>
          <a:bodyPr wrap="square" lIns="0" tIns="0" rIns="0" bIns="0" rtlCol="0" anchor="ctr"/>
          <a:lstStyle/>
          <a:p>
            <a:pPr indent="0" marL="0">
              <a:buNone/>
            </a:pPr>
            <a:r>
              <a:rPr lang="en-US" sz="1800" b="1" dirty="0">
                <a:solidFill>
                  <a:srgbClr val="C9A227"/>
                </a:solidFill>
                <a:latin typeface="Arial" pitchFamily="34" charset="0"/>
                <a:ea typeface="Arial" pitchFamily="34" charset="-122"/>
                <a:cs typeface="Arial" pitchFamily="34" charset="-120"/>
              </a:rPr>
              <a:t>CHAPTER 05</a:t>
            </a:r>
            <a:endParaRPr lang="en-US" sz="1800" dirty="0"/>
          </a:p>
        </p:txBody>
      </p:sp>
      <p:sp>
        <p:nvSpPr>
          <p:cNvPr id="4" name="Shape 2"/>
          <p:cNvSpPr/>
          <p:nvPr/>
        </p:nvSpPr>
        <p:spPr>
          <a:xfrm>
            <a:off x="530352" y="1965960"/>
            <a:ext cx="502920" cy="64008"/>
          </a:xfrm>
          <a:prstGeom prst="rect">
            <a:avLst/>
          </a:prstGeom>
          <a:solidFill>
            <a:srgbClr val="C9A227"/>
          </a:solidFill>
          <a:ln/>
        </p:spPr>
      </p:sp>
      <p:sp>
        <p:nvSpPr>
          <p:cNvPr id="5" name="Text 3"/>
          <p:cNvSpPr/>
          <p:nvPr/>
        </p:nvSpPr>
        <p:spPr>
          <a:xfrm>
            <a:off x="457200" y="2148840"/>
            <a:ext cx="5852160" cy="2011680"/>
          </a:xfrm>
          <a:prstGeom prst="rect">
            <a:avLst/>
          </a:prstGeom>
          <a:noFill/>
          <a:ln/>
        </p:spPr>
        <p:txBody>
          <a:bodyPr wrap="square" lIns="0" tIns="0" rIns="0" bIns="0" rtlCol="0" anchor="t"/>
          <a:lstStyle/>
          <a:p>
            <a:pPr indent="0" marL="0">
              <a:buNone/>
            </a:pPr>
            <a:r>
              <a:rPr lang="en-US" sz="3400" b="1" dirty="0">
                <a:solidFill>
                  <a:srgbClr val="FFFFFF"/>
                </a:solidFill>
                <a:latin typeface="Yu Gothic" pitchFamily="34" charset="0"/>
                <a:ea typeface="Yu Gothic" pitchFamily="34" charset="-122"/>
                <a:cs typeface="Yu Gothic" pitchFamily="34" charset="-120"/>
              </a:rPr>
              <a:t>防衛製品</a:t>
            </a:r>
            <a:endParaRPr lang="en-US" sz="3400" dirty="0"/>
          </a:p>
          <a:p>
            <a:pPr indent="0" marL="0">
              <a:buNone/>
            </a:pPr>
            <a:r>
              <a:rPr lang="en-US" sz="3400" b="1" dirty="0">
                <a:solidFill>
                  <a:srgbClr val="FFFFFF"/>
                </a:solidFill>
                <a:latin typeface="Yu Gothic" pitchFamily="34" charset="0"/>
                <a:ea typeface="Yu Gothic" pitchFamily="34" charset="-122"/>
                <a:cs typeface="Yu Gothic" pitchFamily="34" charset="-120"/>
              </a:rPr>
              <a:t>ラインナップ</a:t>
            </a:r>
            <a:endParaRPr lang="en-US" sz="3400" dirty="0"/>
          </a:p>
        </p:txBody>
      </p:sp>
      <p:sp>
        <p:nvSpPr>
          <p:cNvPr id="6" name="Text 4"/>
          <p:cNvSpPr/>
          <p:nvPr/>
        </p:nvSpPr>
        <p:spPr>
          <a:xfrm>
            <a:off x="502920" y="4434840"/>
            <a:ext cx="5394960" cy="1920240"/>
          </a:xfrm>
          <a:prstGeom prst="rect">
            <a:avLst/>
          </a:prstGeom>
          <a:noFill/>
          <a:ln/>
        </p:spPr>
        <p:txBody>
          <a:bodyPr wrap="square" lIns="0" tIns="0" rIns="0" bIns="0" rtlCol="0" anchor="t"/>
          <a:lstStyle/>
          <a:p>
            <a:pPr indent="0" marL="0">
              <a:buNone/>
            </a:pPr>
            <a:r>
              <a:rPr lang="en-US" sz="1150" dirty="0">
                <a:solidFill>
                  <a:srgbClr val="D8DEE8"/>
                </a:solidFill>
                <a:latin typeface="Yu Gothic" pitchFamily="34" charset="0"/>
                <a:ea typeface="Yu Gothic" pitchFamily="34" charset="-122"/>
                <a:cs typeface="Yu Gothic" pitchFamily="34" charset="-120"/>
              </a:rPr>
              <a:t>5つのフォームファクタ — 14500 · 18650 · 21700 · 84 Wh · 86 Whパウチ。</a:t>
            </a:r>
            <a:endParaRPr lang="en-US" sz="1150" dirty="0"/>
          </a:p>
          <a:p>
            <a:pPr indent="0" marL="0">
              <a:buNone/>
            </a:pPr>
            <a:endParaRPr lang="en-US" sz="1150" dirty="0"/>
          </a:p>
          <a:p>
            <a:pPr indent="0" marL="0">
              <a:buNone/>
            </a:pPr>
            <a:r>
              <a:rPr lang="en-US" sz="1150" dirty="0">
                <a:solidFill>
                  <a:srgbClr val="D8DEE8"/>
                </a:solidFill>
                <a:latin typeface="Yu Gothic" pitchFamily="34" charset="0"/>
                <a:ea typeface="Yu Gothic" pitchFamily="34" charset="-122"/>
                <a:cs typeface="Yu Gothic" pitchFamily="34" charset="-120"/>
              </a:rPr>
              <a:t>同一のTNO-S化学で携帯装備・UAV・UGV・ミサイル・ESSまで防衛全領域をカバー。全モデルが KC / UL / NATO 認証済み。</a:t>
            </a:r>
            <a:endParaRPr lang="en-US" sz="1150" dirty="0"/>
          </a:p>
        </p:txBody>
      </p:sp>
      <p:sp>
        <p:nvSpPr>
          <p:cNvPr id="7" name="Shape 5"/>
          <p:cNvSpPr/>
          <p:nvPr/>
        </p:nvSpPr>
        <p:spPr>
          <a:xfrm>
            <a:off x="6400800" y="914400"/>
            <a:ext cx="5330952" cy="5029200"/>
          </a:xfrm>
          <a:prstGeom prst="rect">
            <a:avLst/>
          </a:prstGeom>
          <a:solidFill>
            <a:srgbClr val="24466B"/>
          </a:solidFill>
          <a:ln/>
        </p:spPr>
      </p:sp>
      <p:sp>
        <p:nvSpPr>
          <p:cNvPr id="8" name="Shape 6"/>
          <p:cNvSpPr/>
          <p:nvPr/>
        </p:nvSpPr>
        <p:spPr>
          <a:xfrm>
            <a:off x="6400800" y="914400"/>
            <a:ext cx="5330952" cy="82296"/>
          </a:xfrm>
          <a:prstGeom prst="rect">
            <a:avLst/>
          </a:prstGeom>
          <a:solidFill>
            <a:srgbClr val="C9A227"/>
          </a:solidFill>
          <a:ln/>
        </p:spPr>
      </p:sp>
      <p:sp>
        <p:nvSpPr>
          <p:cNvPr id="9" name="Text 7"/>
          <p:cNvSpPr/>
          <p:nvPr/>
        </p:nvSpPr>
        <p:spPr>
          <a:xfrm>
            <a:off x="6400800" y="2743200"/>
            <a:ext cx="5330952"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TNO-S</a:t>
            </a:r>
            <a:endParaRPr lang="en-US" sz="4400" dirty="0"/>
          </a:p>
        </p:txBody>
      </p:sp>
      <p:sp>
        <p:nvSpPr>
          <p:cNvPr id="10" name="Text 8"/>
          <p:cNvSpPr/>
          <p:nvPr/>
        </p:nvSpPr>
        <p:spPr>
          <a:xfrm>
            <a:off x="6400800" y="3657600"/>
            <a:ext cx="5330952" cy="365760"/>
          </a:xfrm>
          <a:prstGeom prst="rect">
            <a:avLst/>
          </a:prstGeom>
          <a:noFill/>
          <a:ln/>
        </p:spPr>
        <p:txBody>
          <a:bodyPr wrap="square" lIns="0" tIns="0" rIns="0" bIns="0" rtlCol="0" anchor="ctr"/>
          <a:lstStyle/>
          <a:p>
            <a:pPr algn="ctr" indent="0" marL="0">
              <a:buNone/>
            </a:pPr>
            <a:r>
              <a:rPr lang="en-US" sz="1200" dirty="0">
                <a:solidFill>
                  <a:srgbClr val="C9A227"/>
                </a:solidFill>
                <a:latin typeface="Arial" pitchFamily="34" charset="0"/>
                <a:ea typeface="Arial" pitchFamily="34" charset="-122"/>
                <a:cs typeface="Arial" pitchFamily="34" charset="-120"/>
              </a:rPr>
              <a:t>Lithium-Free All-Solid-State Battery</a:t>
            </a:r>
            <a:endParaRPr lang="en-US" sz="1200" dirty="0"/>
          </a:p>
        </p:txBody>
      </p:sp>
      <p:sp>
        <p:nvSpPr>
          <p:cNvPr id="11" name="Text 9"/>
          <p:cNvSpPr/>
          <p:nvPr/>
        </p:nvSpPr>
        <p:spPr>
          <a:xfrm>
            <a:off x="10725912" y="6355080"/>
            <a:ext cx="1097280" cy="274320"/>
          </a:xfrm>
          <a:prstGeom prst="rect">
            <a:avLst/>
          </a:prstGeom>
          <a:noFill/>
          <a:ln/>
        </p:spPr>
        <p:txBody>
          <a:bodyPr wrap="square" lIns="0" tIns="0" rIns="0" bIns="0" rtlCol="0" anchor="ctr"/>
          <a:lstStyle/>
          <a:p>
            <a:pPr algn="r" indent="0" marL="0">
              <a:buNone/>
            </a:pPr>
            <a:r>
              <a:rPr lang="en-US" sz="1000" b="1" dirty="0">
                <a:solidFill>
                  <a:srgbClr val="C9A227"/>
                </a:solidFill>
                <a:latin typeface="Arial" pitchFamily="34" charset="0"/>
                <a:ea typeface="Arial" pitchFamily="34" charset="-122"/>
                <a:cs typeface="Arial" pitchFamily="34" charset="-120"/>
              </a:rPr>
              <a:t>p.29/55</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5.1  防衛製品ファミリー</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30/55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5フォームファクタ — 単一化学 · 防衛全域カバー</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Five Form-Factors · One Chemistry · Full Defense Coverage</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737360"/>
            <a:ext cx="2121408" cy="2377440"/>
          </a:xfrm>
          <a:prstGeom prst="rect">
            <a:avLst/>
          </a:prstGeom>
          <a:solidFill>
            <a:srgbClr val="24466B"/>
          </a:solidFill>
          <a:ln/>
        </p:spPr>
      </p:sp>
      <p:sp>
        <p:nvSpPr>
          <p:cNvPr id="13" name="Shape 11"/>
          <p:cNvSpPr/>
          <p:nvPr/>
        </p:nvSpPr>
        <p:spPr>
          <a:xfrm>
            <a:off x="457200" y="1737360"/>
            <a:ext cx="2121408" cy="73152"/>
          </a:xfrm>
          <a:prstGeom prst="rect">
            <a:avLst/>
          </a:prstGeom>
          <a:solidFill>
            <a:srgbClr val="C9A227"/>
          </a:solidFill>
          <a:ln/>
        </p:spPr>
      </p:sp>
      <p:sp>
        <p:nvSpPr>
          <p:cNvPr id="14" name="Text 12"/>
          <p:cNvSpPr/>
          <p:nvPr/>
        </p:nvSpPr>
        <p:spPr>
          <a:xfrm>
            <a:off x="457200" y="2148840"/>
            <a:ext cx="212140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TNO-S</a:t>
            </a:r>
            <a:endParaRPr lang="en-US" sz="1600" dirty="0"/>
          </a:p>
        </p:txBody>
      </p:sp>
      <p:sp>
        <p:nvSpPr>
          <p:cNvPr id="15" name="Text 13"/>
          <p:cNvSpPr/>
          <p:nvPr/>
        </p:nvSpPr>
        <p:spPr>
          <a:xfrm>
            <a:off x="457200" y="2606040"/>
            <a:ext cx="2121408" cy="411480"/>
          </a:xfrm>
          <a:prstGeom prst="rect">
            <a:avLst/>
          </a:prstGeom>
          <a:noFill/>
          <a:ln/>
        </p:spPr>
        <p:txBody>
          <a:bodyPr wrap="square" lIns="0" tIns="0" rIns="0" bIns="0" rtlCol="0" anchor="ctr"/>
          <a:lstStyle/>
          <a:p>
            <a:pPr algn="ctr" indent="0" marL="0">
              <a:buNone/>
            </a:pPr>
            <a:r>
              <a:rPr lang="en-US" sz="1400" b="1" dirty="0">
                <a:solidFill>
                  <a:srgbClr val="C9A227"/>
                </a:solidFill>
                <a:latin typeface="Yu Gothic" pitchFamily="34" charset="0"/>
                <a:ea typeface="Yu Gothic" pitchFamily="34" charset="-122"/>
                <a:cs typeface="Yu Gothic" pitchFamily="34" charset="-120"/>
              </a:rPr>
              <a:t>14500</a:t>
            </a:r>
            <a:endParaRPr lang="en-US" sz="1400" dirty="0"/>
          </a:p>
        </p:txBody>
      </p:sp>
      <p:sp>
        <p:nvSpPr>
          <p:cNvPr id="16" name="Text 14"/>
          <p:cNvSpPr/>
          <p:nvPr/>
        </p:nvSpPr>
        <p:spPr>
          <a:xfrm>
            <a:off x="457200" y="3108960"/>
            <a:ext cx="2121408" cy="365760"/>
          </a:xfrm>
          <a:prstGeom prst="rect">
            <a:avLst/>
          </a:prstGeom>
          <a:noFill/>
          <a:ln/>
        </p:spPr>
        <p:txBody>
          <a:bodyPr wrap="square" lIns="0" tIns="0" rIns="0" bIns="0" rtlCol="0" anchor="ctr"/>
          <a:lstStyle/>
          <a:p>
            <a:pPr algn="ctr" indent="0" marL="0">
              <a:buNone/>
            </a:pPr>
            <a:r>
              <a:rPr lang="en-US" sz="1050" dirty="0">
                <a:solidFill>
                  <a:srgbClr val="FFFFFF"/>
                </a:solidFill>
                <a:latin typeface="Yu Gothic" pitchFamily="34" charset="0"/>
                <a:ea typeface="Yu Gothic" pitchFamily="34" charset="-122"/>
                <a:cs typeface="Yu Gothic" pitchFamily="34" charset="-120"/>
              </a:rPr>
              <a:t>10 Wh</a:t>
            </a:r>
            <a:endParaRPr lang="en-US" sz="1050" dirty="0"/>
          </a:p>
        </p:txBody>
      </p:sp>
      <p:sp>
        <p:nvSpPr>
          <p:cNvPr id="17" name="Shape 15"/>
          <p:cNvSpPr/>
          <p:nvPr/>
        </p:nvSpPr>
        <p:spPr>
          <a:xfrm>
            <a:off x="457200" y="4114800"/>
            <a:ext cx="2121408" cy="731520"/>
          </a:xfrm>
          <a:prstGeom prst="rect">
            <a:avLst/>
          </a:prstGeom>
          <a:solidFill>
            <a:srgbClr val="FFFFFF"/>
          </a:solidFill>
          <a:ln w="9525">
            <a:solidFill>
              <a:srgbClr val="C8C8C8"/>
            </a:solidFill>
            <a:prstDash val="solid"/>
          </a:ln>
        </p:spPr>
      </p:sp>
      <p:sp>
        <p:nvSpPr>
          <p:cNvPr id="18" name="Text 16"/>
          <p:cNvSpPr/>
          <p:nvPr/>
        </p:nvSpPr>
        <p:spPr>
          <a:xfrm>
            <a:off x="530352" y="4114800"/>
            <a:ext cx="1975104" cy="731520"/>
          </a:xfrm>
          <a:prstGeom prst="rect">
            <a:avLst/>
          </a:prstGeom>
          <a:noFill/>
          <a:ln/>
        </p:spPr>
        <p:txBody>
          <a:bodyPr wrap="square" lIns="0" tIns="0" rIns="0" bIns="0" rtlCol="0" anchor="ctr"/>
          <a:lstStyle/>
          <a:p>
            <a:pPr algn="ctr" indent="0" marL="0">
              <a:buNone/>
            </a:pPr>
            <a:r>
              <a:rPr lang="en-US" sz="950" b="1" dirty="0">
                <a:solidFill>
                  <a:srgbClr val="16324F"/>
                </a:solidFill>
                <a:latin typeface="Yu Gothic" pitchFamily="34" charset="0"/>
                <a:ea typeface="Yu Gothic" pitchFamily="34" charset="-122"/>
                <a:cs typeface="Yu Gothic" pitchFamily="34" charset="-120"/>
              </a:rPr>
              <a:t>携帯装備 / IoT</a:t>
            </a:r>
            <a:endParaRPr lang="en-US" sz="950" dirty="0"/>
          </a:p>
        </p:txBody>
      </p:sp>
      <p:sp>
        <p:nvSpPr>
          <p:cNvPr id="19" name="Shape 17"/>
          <p:cNvSpPr/>
          <p:nvPr/>
        </p:nvSpPr>
        <p:spPr>
          <a:xfrm>
            <a:off x="2761488" y="1737360"/>
            <a:ext cx="2121408" cy="2377440"/>
          </a:xfrm>
          <a:prstGeom prst="rect">
            <a:avLst/>
          </a:prstGeom>
          <a:solidFill>
            <a:srgbClr val="24466B"/>
          </a:solidFill>
          <a:ln/>
        </p:spPr>
      </p:sp>
      <p:sp>
        <p:nvSpPr>
          <p:cNvPr id="20" name="Shape 18"/>
          <p:cNvSpPr/>
          <p:nvPr/>
        </p:nvSpPr>
        <p:spPr>
          <a:xfrm>
            <a:off x="2761488" y="1737360"/>
            <a:ext cx="2121408" cy="73152"/>
          </a:xfrm>
          <a:prstGeom prst="rect">
            <a:avLst/>
          </a:prstGeom>
          <a:solidFill>
            <a:srgbClr val="C9A227"/>
          </a:solidFill>
          <a:ln/>
        </p:spPr>
      </p:sp>
      <p:sp>
        <p:nvSpPr>
          <p:cNvPr id="21" name="Text 19"/>
          <p:cNvSpPr/>
          <p:nvPr/>
        </p:nvSpPr>
        <p:spPr>
          <a:xfrm>
            <a:off x="2761488" y="2148840"/>
            <a:ext cx="212140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TNO-S</a:t>
            </a:r>
            <a:endParaRPr lang="en-US" sz="1600" dirty="0"/>
          </a:p>
        </p:txBody>
      </p:sp>
      <p:sp>
        <p:nvSpPr>
          <p:cNvPr id="22" name="Text 20"/>
          <p:cNvSpPr/>
          <p:nvPr/>
        </p:nvSpPr>
        <p:spPr>
          <a:xfrm>
            <a:off x="2761488" y="2606040"/>
            <a:ext cx="2121408" cy="411480"/>
          </a:xfrm>
          <a:prstGeom prst="rect">
            <a:avLst/>
          </a:prstGeom>
          <a:noFill/>
          <a:ln/>
        </p:spPr>
        <p:txBody>
          <a:bodyPr wrap="square" lIns="0" tIns="0" rIns="0" bIns="0" rtlCol="0" anchor="ctr"/>
          <a:lstStyle/>
          <a:p>
            <a:pPr algn="ctr" indent="0" marL="0">
              <a:buNone/>
            </a:pPr>
            <a:r>
              <a:rPr lang="en-US" sz="1400" b="1" dirty="0">
                <a:solidFill>
                  <a:srgbClr val="C9A227"/>
                </a:solidFill>
                <a:latin typeface="Yu Gothic" pitchFamily="34" charset="0"/>
                <a:ea typeface="Yu Gothic" pitchFamily="34" charset="-122"/>
                <a:cs typeface="Yu Gothic" pitchFamily="34" charset="-120"/>
              </a:rPr>
              <a:t>18650</a:t>
            </a:r>
            <a:endParaRPr lang="en-US" sz="1400" dirty="0"/>
          </a:p>
        </p:txBody>
      </p:sp>
      <p:sp>
        <p:nvSpPr>
          <p:cNvPr id="23" name="Text 21"/>
          <p:cNvSpPr/>
          <p:nvPr/>
        </p:nvSpPr>
        <p:spPr>
          <a:xfrm>
            <a:off x="2761488" y="3108960"/>
            <a:ext cx="2121408" cy="365760"/>
          </a:xfrm>
          <a:prstGeom prst="rect">
            <a:avLst/>
          </a:prstGeom>
          <a:noFill/>
          <a:ln/>
        </p:spPr>
        <p:txBody>
          <a:bodyPr wrap="square" lIns="0" tIns="0" rIns="0" bIns="0" rtlCol="0" anchor="ctr"/>
          <a:lstStyle/>
          <a:p>
            <a:pPr algn="ctr" indent="0" marL="0">
              <a:buNone/>
            </a:pPr>
            <a:r>
              <a:rPr lang="en-US" sz="1050" dirty="0">
                <a:solidFill>
                  <a:srgbClr val="FFFFFF"/>
                </a:solidFill>
                <a:latin typeface="Yu Gothic" pitchFamily="34" charset="0"/>
                <a:ea typeface="Yu Gothic" pitchFamily="34" charset="-122"/>
                <a:cs typeface="Yu Gothic" pitchFamily="34" charset="-120"/>
              </a:rPr>
              <a:t>16.5 Wh</a:t>
            </a:r>
            <a:endParaRPr lang="en-US" sz="1050" dirty="0"/>
          </a:p>
        </p:txBody>
      </p:sp>
      <p:sp>
        <p:nvSpPr>
          <p:cNvPr id="24" name="Shape 22"/>
          <p:cNvSpPr/>
          <p:nvPr/>
        </p:nvSpPr>
        <p:spPr>
          <a:xfrm>
            <a:off x="2761488" y="4114800"/>
            <a:ext cx="2121408" cy="731520"/>
          </a:xfrm>
          <a:prstGeom prst="rect">
            <a:avLst/>
          </a:prstGeom>
          <a:solidFill>
            <a:srgbClr val="FFFFFF"/>
          </a:solidFill>
          <a:ln w="9525">
            <a:solidFill>
              <a:srgbClr val="C8C8C8"/>
            </a:solidFill>
            <a:prstDash val="solid"/>
          </a:ln>
        </p:spPr>
      </p:sp>
      <p:sp>
        <p:nvSpPr>
          <p:cNvPr id="25" name="Text 23"/>
          <p:cNvSpPr/>
          <p:nvPr/>
        </p:nvSpPr>
        <p:spPr>
          <a:xfrm>
            <a:off x="2834640" y="4114800"/>
            <a:ext cx="1975104" cy="731520"/>
          </a:xfrm>
          <a:prstGeom prst="rect">
            <a:avLst/>
          </a:prstGeom>
          <a:noFill/>
          <a:ln/>
        </p:spPr>
        <p:txBody>
          <a:bodyPr wrap="square" lIns="0" tIns="0" rIns="0" bIns="0" rtlCol="0" anchor="ctr"/>
          <a:lstStyle/>
          <a:p>
            <a:pPr algn="ctr" indent="0" marL="0">
              <a:buNone/>
            </a:pPr>
            <a:r>
              <a:rPr lang="en-US" sz="950" b="1" dirty="0">
                <a:solidFill>
                  <a:srgbClr val="16324F"/>
                </a:solidFill>
                <a:latin typeface="Yu Gothic" pitchFamily="34" charset="0"/>
                <a:ea typeface="Yu Gothic" pitchFamily="34" charset="-122"/>
                <a:cs typeface="Yu Gothic" pitchFamily="34" charset="-120"/>
              </a:rPr>
              <a:t>小型UAV</a:t>
            </a:r>
            <a:endParaRPr lang="en-US" sz="950" dirty="0"/>
          </a:p>
        </p:txBody>
      </p:sp>
      <p:sp>
        <p:nvSpPr>
          <p:cNvPr id="26" name="Shape 24"/>
          <p:cNvSpPr/>
          <p:nvPr/>
        </p:nvSpPr>
        <p:spPr>
          <a:xfrm>
            <a:off x="5065776" y="1737360"/>
            <a:ext cx="2121408" cy="2377440"/>
          </a:xfrm>
          <a:prstGeom prst="rect">
            <a:avLst/>
          </a:prstGeom>
          <a:solidFill>
            <a:srgbClr val="24466B"/>
          </a:solidFill>
          <a:ln/>
        </p:spPr>
      </p:sp>
      <p:sp>
        <p:nvSpPr>
          <p:cNvPr id="27" name="Shape 25"/>
          <p:cNvSpPr/>
          <p:nvPr/>
        </p:nvSpPr>
        <p:spPr>
          <a:xfrm>
            <a:off x="5065776" y="1737360"/>
            <a:ext cx="2121408" cy="73152"/>
          </a:xfrm>
          <a:prstGeom prst="rect">
            <a:avLst/>
          </a:prstGeom>
          <a:solidFill>
            <a:srgbClr val="C9A227"/>
          </a:solidFill>
          <a:ln/>
        </p:spPr>
      </p:sp>
      <p:sp>
        <p:nvSpPr>
          <p:cNvPr id="28" name="Text 26"/>
          <p:cNvSpPr/>
          <p:nvPr/>
        </p:nvSpPr>
        <p:spPr>
          <a:xfrm>
            <a:off x="5065776" y="2148840"/>
            <a:ext cx="212140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TNO-S</a:t>
            </a:r>
            <a:endParaRPr lang="en-US" sz="1600" dirty="0"/>
          </a:p>
        </p:txBody>
      </p:sp>
      <p:sp>
        <p:nvSpPr>
          <p:cNvPr id="29" name="Text 27"/>
          <p:cNvSpPr/>
          <p:nvPr/>
        </p:nvSpPr>
        <p:spPr>
          <a:xfrm>
            <a:off x="5065776" y="2606040"/>
            <a:ext cx="2121408" cy="411480"/>
          </a:xfrm>
          <a:prstGeom prst="rect">
            <a:avLst/>
          </a:prstGeom>
          <a:noFill/>
          <a:ln/>
        </p:spPr>
        <p:txBody>
          <a:bodyPr wrap="square" lIns="0" tIns="0" rIns="0" bIns="0" rtlCol="0" anchor="ctr"/>
          <a:lstStyle/>
          <a:p>
            <a:pPr algn="ctr" indent="0" marL="0">
              <a:buNone/>
            </a:pPr>
            <a:r>
              <a:rPr lang="en-US" sz="1400" b="1" dirty="0">
                <a:solidFill>
                  <a:srgbClr val="C9A227"/>
                </a:solidFill>
                <a:latin typeface="Yu Gothic" pitchFamily="34" charset="0"/>
                <a:ea typeface="Yu Gothic" pitchFamily="34" charset="-122"/>
                <a:cs typeface="Yu Gothic" pitchFamily="34" charset="-120"/>
              </a:rPr>
              <a:t>21700</a:t>
            </a:r>
            <a:endParaRPr lang="en-US" sz="1400" dirty="0"/>
          </a:p>
        </p:txBody>
      </p:sp>
      <p:sp>
        <p:nvSpPr>
          <p:cNvPr id="30" name="Text 28"/>
          <p:cNvSpPr/>
          <p:nvPr/>
        </p:nvSpPr>
        <p:spPr>
          <a:xfrm>
            <a:off x="5065776" y="3108960"/>
            <a:ext cx="2121408" cy="365760"/>
          </a:xfrm>
          <a:prstGeom prst="rect">
            <a:avLst/>
          </a:prstGeom>
          <a:noFill/>
          <a:ln/>
        </p:spPr>
        <p:txBody>
          <a:bodyPr wrap="square" lIns="0" tIns="0" rIns="0" bIns="0" rtlCol="0" anchor="ctr"/>
          <a:lstStyle/>
          <a:p>
            <a:pPr algn="ctr" indent="0" marL="0">
              <a:buNone/>
            </a:pPr>
            <a:r>
              <a:rPr lang="en-US" sz="1050" dirty="0">
                <a:solidFill>
                  <a:srgbClr val="FFFFFF"/>
                </a:solidFill>
                <a:latin typeface="Yu Gothic" pitchFamily="34" charset="0"/>
                <a:ea typeface="Yu Gothic" pitchFamily="34" charset="-122"/>
                <a:cs typeface="Yu Gothic" pitchFamily="34" charset="-120"/>
              </a:rPr>
              <a:t>21 Wh</a:t>
            </a:r>
            <a:endParaRPr lang="en-US" sz="1050" dirty="0"/>
          </a:p>
        </p:txBody>
      </p:sp>
      <p:sp>
        <p:nvSpPr>
          <p:cNvPr id="31" name="Shape 29"/>
          <p:cNvSpPr/>
          <p:nvPr/>
        </p:nvSpPr>
        <p:spPr>
          <a:xfrm>
            <a:off x="5065776" y="4114800"/>
            <a:ext cx="2121408" cy="731520"/>
          </a:xfrm>
          <a:prstGeom prst="rect">
            <a:avLst/>
          </a:prstGeom>
          <a:solidFill>
            <a:srgbClr val="FFFFFF"/>
          </a:solidFill>
          <a:ln w="9525">
            <a:solidFill>
              <a:srgbClr val="C8C8C8"/>
            </a:solidFill>
            <a:prstDash val="solid"/>
          </a:ln>
        </p:spPr>
      </p:sp>
      <p:sp>
        <p:nvSpPr>
          <p:cNvPr id="32" name="Text 30"/>
          <p:cNvSpPr/>
          <p:nvPr/>
        </p:nvSpPr>
        <p:spPr>
          <a:xfrm>
            <a:off x="5138928" y="4114800"/>
            <a:ext cx="1975104" cy="731520"/>
          </a:xfrm>
          <a:prstGeom prst="rect">
            <a:avLst/>
          </a:prstGeom>
          <a:noFill/>
          <a:ln/>
        </p:spPr>
        <p:txBody>
          <a:bodyPr wrap="square" lIns="0" tIns="0" rIns="0" bIns="0" rtlCol="0" anchor="ctr"/>
          <a:lstStyle/>
          <a:p>
            <a:pPr algn="ctr" indent="0" marL="0">
              <a:buNone/>
            </a:pPr>
            <a:r>
              <a:rPr lang="en-US" sz="950" b="1" dirty="0">
                <a:solidFill>
                  <a:srgbClr val="16324F"/>
                </a:solidFill>
                <a:latin typeface="Yu Gothic" pitchFamily="34" charset="0"/>
                <a:ea typeface="Yu Gothic" pitchFamily="34" charset="-122"/>
                <a:cs typeface="Yu Gothic" pitchFamily="34" charset="-120"/>
              </a:rPr>
              <a:t>中型UAV · UGV</a:t>
            </a:r>
            <a:endParaRPr lang="en-US" sz="950" dirty="0"/>
          </a:p>
        </p:txBody>
      </p:sp>
      <p:sp>
        <p:nvSpPr>
          <p:cNvPr id="33" name="Shape 31"/>
          <p:cNvSpPr/>
          <p:nvPr/>
        </p:nvSpPr>
        <p:spPr>
          <a:xfrm>
            <a:off x="7370064" y="1737360"/>
            <a:ext cx="2121408" cy="2377440"/>
          </a:xfrm>
          <a:prstGeom prst="rect">
            <a:avLst/>
          </a:prstGeom>
          <a:solidFill>
            <a:srgbClr val="24466B"/>
          </a:solidFill>
          <a:ln/>
        </p:spPr>
      </p:sp>
      <p:sp>
        <p:nvSpPr>
          <p:cNvPr id="34" name="Shape 32"/>
          <p:cNvSpPr/>
          <p:nvPr/>
        </p:nvSpPr>
        <p:spPr>
          <a:xfrm>
            <a:off x="7370064" y="1737360"/>
            <a:ext cx="2121408" cy="73152"/>
          </a:xfrm>
          <a:prstGeom prst="rect">
            <a:avLst/>
          </a:prstGeom>
          <a:solidFill>
            <a:srgbClr val="C9A227"/>
          </a:solidFill>
          <a:ln/>
        </p:spPr>
      </p:sp>
      <p:sp>
        <p:nvSpPr>
          <p:cNvPr id="35" name="Text 33"/>
          <p:cNvSpPr/>
          <p:nvPr/>
        </p:nvSpPr>
        <p:spPr>
          <a:xfrm>
            <a:off x="7370064" y="2148840"/>
            <a:ext cx="212140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TNO-S</a:t>
            </a:r>
            <a:endParaRPr lang="en-US" sz="1600" dirty="0"/>
          </a:p>
        </p:txBody>
      </p:sp>
      <p:sp>
        <p:nvSpPr>
          <p:cNvPr id="36" name="Text 34"/>
          <p:cNvSpPr/>
          <p:nvPr/>
        </p:nvSpPr>
        <p:spPr>
          <a:xfrm>
            <a:off x="7370064" y="2606040"/>
            <a:ext cx="2121408" cy="411480"/>
          </a:xfrm>
          <a:prstGeom prst="rect">
            <a:avLst/>
          </a:prstGeom>
          <a:noFill/>
          <a:ln/>
        </p:spPr>
        <p:txBody>
          <a:bodyPr wrap="square" lIns="0" tIns="0" rIns="0" bIns="0" rtlCol="0" anchor="ctr"/>
          <a:lstStyle/>
          <a:p>
            <a:pPr algn="ctr" indent="0" marL="0">
              <a:buNone/>
            </a:pPr>
            <a:r>
              <a:rPr lang="en-US" sz="1400" b="1" dirty="0">
                <a:solidFill>
                  <a:srgbClr val="C9A227"/>
                </a:solidFill>
                <a:latin typeface="Yu Gothic" pitchFamily="34" charset="0"/>
                <a:ea typeface="Yu Gothic" pitchFamily="34" charset="-122"/>
                <a:cs typeface="Yu Gothic" pitchFamily="34" charset="-120"/>
              </a:rPr>
              <a:t>84 Wh パウチ</a:t>
            </a:r>
            <a:endParaRPr lang="en-US" sz="1400" dirty="0"/>
          </a:p>
        </p:txBody>
      </p:sp>
      <p:sp>
        <p:nvSpPr>
          <p:cNvPr id="37" name="Text 35"/>
          <p:cNvSpPr/>
          <p:nvPr/>
        </p:nvSpPr>
        <p:spPr>
          <a:xfrm>
            <a:off x="7370064" y="3108960"/>
            <a:ext cx="2121408" cy="365760"/>
          </a:xfrm>
          <a:prstGeom prst="rect">
            <a:avLst/>
          </a:prstGeom>
          <a:noFill/>
          <a:ln/>
        </p:spPr>
        <p:txBody>
          <a:bodyPr wrap="square" lIns="0" tIns="0" rIns="0" bIns="0" rtlCol="0" anchor="ctr"/>
          <a:lstStyle/>
          <a:p>
            <a:pPr algn="ctr" indent="0" marL="0">
              <a:buNone/>
            </a:pPr>
            <a:r>
              <a:rPr lang="en-US" sz="1050" dirty="0">
                <a:solidFill>
                  <a:srgbClr val="FFFFFF"/>
                </a:solidFill>
                <a:latin typeface="Yu Gothic" pitchFamily="34" charset="0"/>
                <a:ea typeface="Yu Gothic" pitchFamily="34" charset="-122"/>
                <a:cs typeface="Yu Gothic" pitchFamily="34" charset="-120"/>
              </a:rPr>
              <a:t>84 Wh</a:t>
            </a:r>
            <a:endParaRPr lang="en-US" sz="1050" dirty="0"/>
          </a:p>
        </p:txBody>
      </p:sp>
      <p:sp>
        <p:nvSpPr>
          <p:cNvPr id="38" name="Shape 36"/>
          <p:cNvSpPr/>
          <p:nvPr/>
        </p:nvSpPr>
        <p:spPr>
          <a:xfrm>
            <a:off x="7370064" y="4114800"/>
            <a:ext cx="2121408" cy="731520"/>
          </a:xfrm>
          <a:prstGeom prst="rect">
            <a:avLst/>
          </a:prstGeom>
          <a:solidFill>
            <a:srgbClr val="FFFFFF"/>
          </a:solidFill>
          <a:ln w="9525">
            <a:solidFill>
              <a:srgbClr val="C8C8C8"/>
            </a:solidFill>
            <a:prstDash val="solid"/>
          </a:ln>
        </p:spPr>
      </p:sp>
      <p:sp>
        <p:nvSpPr>
          <p:cNvPr id="39" name="Text 37"/>
          <p:cNvSpPr/>
          <p:nvPr/>
        </p:nvSpPr>
        <p:spPr>
          <a:xfrm>
            <a:off x="7443216" y="4114800"/>
            <a:ext cx="1975104" cy="731520"/>
          </a:xfrm>
          <a:prstGeom prst="rect">
            <a:avLst/>
          </a:prstGeom>
          <a:noFill/>
          <a:ln/>
        </p:spPr>
        <p:txBody>
          <a:bodyPr wrap="square" lIns="0" tIns="0" rIns="0" bIns="0" rtlCol="0" anchor="ctr"/>
          <a:lstStyle/>
          <a:p>
            <a:pPr algn="ctr" indent="0" marL="0">
              <a:buNone/>
            </a:pPr>
            <a:r>
              <a:rPr lang="en-US" sz="950" b="1" dirty="0">
                <a:solidFill>
                  <a:srgbClr val="16324F"/>
                </a:solidFill>
                <a:latin typeface="Yu Gothic" pitchFamily="34" charset="0"/>
                <a:ea typeface="Yu Gothic" pitchFamily="34" charset="-122"/>
                <a:cs typeface="Yu Gothic" pitchFamily="34" charset="-120"/>
              </a:rPr>
              <a:t>ESS · UPS</a:t>
            </a:r>
            <a:endParaRPr lang="en-US" sz="950" dirty="0"/>
          </a:p>
        </p:txBody>
      </p:sp>
      <p:sp>
        <p:nvSpPr>
          <p:cNvPr id="40" name="Shape 38"/>
          <p:cNvSpPr/>
          <p:nvPr/>
        </p:nvSpPr>
        <p:spPr>
          <a:xfrm>
            <a:off x="9674352" y="1737360"/>
            <a:ext cx="2121408" cy="2377440"/>
          </a:xfrm>
          <a:prstGeom prst="rect">
            <a:avLst/>
          </a:prstGeom>
          <a:solidFill>
            <a:srgbClr val="24466B"/>
          </a:solidFill>
          <a:ln/>
        </p:spPr>
      </p:sp>
      <p:sp>
        <p:nvSpPr>
          <p:cNvPr id="41" name="Shape 39"/>
          <p:cNvSpPr/>
          <p:nvPr/>
        </p:nvSpPr>
        <p:spPr>
          <a:xfrm>
            <a:off x="9674352" y="1737360"/>
            <a:ext cx="2121408" cy="73152"/>
          </a:xfrm>
          <a:prstGeom prst="rect">
            <a:avLst/>
          </a:prstGeom>
          <a:solidFill>
            <a:srgbClr val="C9A227"/>
          </a:solidFill>
          <a:ln/>
        </p:spPr>
      </p:sp>
      <p:sp>
        <p:nvSpPr>
          <p:cNvPr id="42" name="Text 40"/>
          <p:cNvSpPr/>
          <p:nvPr/>
        </p:nvSpPr>
        <p:spPr>
          <a:xfrm>
            <a:off x="9674352" y="2148840"/>
            <a:ext cx="212140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TNO-S</a:t>
            </a:r>
            <a:endParaRPr lang="en-US" sz="1600" dirty="0"/>
          </a:p>
        </p:txBody>
      </p:sp>
      <p:sp>
        <p:nvSpPr>
          <p:cNvPr id="43" name="Text 41"/>
          <p:cNvSpPr/>
          <p:nvPr/>
        </p:nvSpPr>
        <p:spPr>
          <a:xfrm>
            <a:off x="9674352" y="2606040"/>
            <a:ext cx="2121408" cy="411480"/>
          </a:xfrm>
          <a:prstGeom prst="rect">
            <a:avLst/>
          </a:prstGeom>
          <a:noFill/>
          <a:ln/>
        </p:spPr>
        <p:txBody>
          <a:bodyPr wrap="square" lIns="0" tIns="0" rIns="0" bIns="0" rtlCol="0" anchor="ctr"/>
          <a:lstStyle/>
          <a:p>
            <a:pPr algn="ctr" indent="0" marL="0">
              <a:buNone/>
            </a:pPr>
            <a:r>
              <a:rPr lang="en-US" sz="1400" b="1" dirty="0">
                <a:solidFill>
                  <a:srgbClr val="C9A227"/>
                </a:solidFill>
                <a:latin typeface="Yu Gothic" pitchFamily="34" charset="0"/>
                <a:ea typeface="Yu Gothic" pitchFamily="34" charset="-122"/>
                <a:cs typeface="Yu Gothic" pitchFamily="34" charset="-120"/>
              </a:rPr>
              <a:t>86 Wh パウチ</a:t>
            </a:r>
            <a:endParaRPr lang="en-US" sz="1400" dirty="0"/>
          </a:p>
        </p:txBody>
      </p:sp>
      <p:sp>
        <p:nvSpPr>
          <p:cNvPr id="44" name="Text 42"/>
          <p:cNvSpPr/>
          <p:nvPr/>
        </p:nvSpPr>
        <p:spPr>
          <a:xfrm>
            <a:off x="9674352" y="3108960"/>
            <a:ext cx="2121408" cy="365760"/>
          </a:xfrm>
          <a:prstGeom prst="rect">
            <a:avLst/>
          </a:prstGeom>
          <a:noFill/>
          <a:ln/>
        </p:spPr>
        <p:txBody>
          <a:bodyPr wrap="square" lIns="0" tIns="0" rIns="0" bIns="0" rtlCol="0" anchor="ctr"/>
          <a:lstStyle/>
          <a:p>
            <a:pPr algn="ctr" indent="0" marL="0">
              <a:buNone/>
            </a:pPr>
            <a:r>
              <a:rPr lang="en-US" sz="1050" dirty="0">
                <a:solidFill>
                  <a:srgbClr val="FFFFFF"/>
                </a:solidFill>
                <a:latin typeface="Yu Gothic" pitchFamily="34" charset="0"/>
                <a:ea typeface="Yu Gothic" pitchFamily="34" charset="-122"/>
                <a:cs typeface="Yu Gothic" pitchFamily="34" charset="-120"/>
              </a:rPr>
              <a:t>86 Wh(防衛専用)</a:t>
            </a:r>
            <a:endParaRPr lang="en-US" sz="1050" dirty="0"/>
          </a:p>
        </p:txBody>
      </p:sp>
      <p:sp>
        <p:nvSpPr>
          <p:cNvPr id="45" name="Shape 43"/>
          <p:cNvSpPr/>
          <p:nvPr/>
        </p:nvSpPr>
        <p:spPr>
          <a:xfrm>
            <a:off x="9674352" y="4114800"/>
            <a:ext cx="2121408" cy="731520"/>
          </a:xfrm>
          <a:prstGeom prst="rect">
            <a:avLst/>
          </a:prstGeom>
          <a:solidFill>
            <a:srgbClr val="FFFFFF"/>
          </a:solidFill>
          <a:ln w="9525">
            <a:solidFill>
              <a:srgbClr val="C8C8C8"/>
            </a:solidFill>
            <a:prstDash val="solid"/>
          </a:ln>
        </p:spPr>
      </p:sp>
      <p:sp>
        <p:nvSpPr>
          <p:cNvPr id="46" name="Text 44"/>
          <p:cNvSpPr/>
          <p:nvPr/>
        </p:nvSpPr>
        <p:spPr>
          <a:xfrm>
            <a:off x="9747504" y="4114800"/>
            <a:ext cx="1975104" cy="731520"/>
          </a:xfrm>
          <a:prstGeom prst="rect">
            <a:avLst/>
          </a:prstGeom>
          <a:noFill/>
          <a:ln/>
        </p:spPr>
        <p:txBody>
          <a:bodyPr wrap="square" lIns="0" tIns="0" rIns="0" bIns="0" rtlCol="0" anchor="ctr"/>
          <a:lstStyle/>
          <a:p>
            <a:pPr algn="ctr" indent="0" marL="0">
              <a:buNone/>
            </a:pPr>
            <a:r>
              <a:rPr lang="en-US" sz="950" b="1" dirty="0">
                <a:solidFill>
                  <a:srgbClr val="16324F"/>
                </a:solidFill>
                <a:latin typeface="Yu Gothic" pitchFamily="34" charset="0"/>
                <a:ea typeface="Yu Gothic" pitchFamily="34" charset="-122"/>
                <a:cs typeface="Yu Gothic" pitchFamily="34" charset="-120"/>
              </a:rPr>
              <a:t>防衛ドローン / ミサイル</a:t>
            </a:r>
            <a:endParaRPr lang="en-US" sz="950" dirty="0"/>
          </a:p>
        </p:txBody>
      </p:sp>
      <p:sp>
        <p:nvSpPr>
          <p:cNvPr id="47" name="Shape 45"/>
          <p:cNvSpPr/>
          <p:nvPr/>
        </p:nvSpPr>
        <p:spPr>
          <a:xfrm>
            <a:off x="457200" y="5212080"/>
            <a:ext cx="11274552" cy="502920"/>
          </a:xfrm>
          <a:prstGeom prst="rect">
            <a:avLst/>
          </a:prstGeom>
          <a:solidFill>
            <a:srgbClr val="16324F"/>
          </a:solidFill>
          <a:ln/>
        </p:spPr>
      </p:sp>
      <p:sp>
        <p:nvSpPr>
          <p:cNvPr id="48" name="Text 46"/>
          <p:cNvSpPr/>
          <p:nvPr/>
        </p:nvSpPr>
        <p:spPr>
          <a:xfrm>
            <a:off x="685800" y="5212080"/>
            <a:ext cx="10881360" cy="502920"/>
          </a:xfrm>
          <a:prstGeom prst="rect">
            <a:avLst/>
          </a:prstGeom>
          <a:noFill/>
          <a:ln/>
        </p:spPr>
        <p:txBody>
          <a:bodyPr wrap="square" lIns="0" tIns="0" rIns="0" bIns="0" rtlCol="0" anchor="ctr"/>
          <a:lstStyle/>
          <a:p>
            <a:pPr indent="0" marL="0">
              <a:buNone/>
            </a:pPr>
            <a:r>
              <a:rPr lang="en-US" sz="1150" b="1" dirty="0">
                <a:solidFill>
                  <a:srgbClr val="C9A227"/>
                </a:solidFill>
                <a:latin typeface="Yu Gothic" pitchFamily="34" charset="0"/>
                <a:ea typeface="Yu Gothic" pitchFamily="34" charset="-122"/>
                <a:cs typeface="Yu Gothic" pitchFamily="34" charset="-120"/>
              </a:rPr>
              <a:t>全モデル同一のTNO-S化学 · 同一の安全性 / 寿命 / 温度範囲 · フォームファクタのみ差別化 → 生産と認証の効率を統一</a:t>
            </a:r>
            <a:endParaRPr lang="en-US" sz="1150" dirty="0"/>
          </a:p>
        </p:txBody>
      </p:sp>
      <p:sp>
        <p:nvSpPr>
          <p:cNvPr id="49" name="Text 47"/>
          <p:cNvSpPr/>
          <p:nvPr/>
        </p:nvSpPr>
        <p:spPr>
          <a:xfrm>
            <a:off x="457200" y="5852160"/>
            <a:ext cx="11274552" cy="320040"/>
          </a:xfrm>
          <a:prstGeom prst="rect">
            <a:avLst/>
          </a:prstGeom>
          <a:noFill/>
          <a:ln/>
        </p:spPr>
        <p:txBody>
          <a:bodyPr wrap="square" lIns="0" tIns="0" rIns="0" bIns="0" rtlCol="0" anchor="ctr"/>
          <a:lstStyle/>
          <a:p>
            <a:pPr algn="ctr" indent="0" marL="0">
              <a:buNone/>
            </a:pPr>
            <a:r>
              <a:rPr lang="en-US" sz="1050" b="1" dirty="0">
                <a:solidFill>
                  <a:srgbClr val="16324F"/>
                </a:solidFill>
                <a:latin typeface="Yu Gothic" pitchFamily="34" charset="0"/>
                <a:ea typeface="Yu Gothic" pitchFamily="34" charset="-122"/>
                <a:cs typeface="Yu Gothic" pitchFamily="34" charset="-120"/>
              </a:rPr>
              <a:t>携帯装備 / IoT → 小型UAV → 中型UAV · UGV → ESS · UPS → 防衛ドローン / ミサイル</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5.2  TNO-S 14500</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31/55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TNO-S 14500 — 携帯防衛装備向け</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TNO-S 14500 — Portable Defense Equipment</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74552" cy="914400"/>
        </p:xfrm>
        <a:graphic>
          <a:graphicData uri="http://schemas.openxmlformats.org/drawingml/2006/table">
            <a:tbl>
              <a:tblPr/>
              <a:tblGrid>
                <a:gridCol w="2377440"/>
                <a:gridCol w="5577840"/>
                <a:gridCol w="3319272"/>
              </a:tblGrid>
              <a:tr h="457200">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項目</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仕様</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防衛適用</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容量 / エネルギー</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2,410 mAh / 10.0 Wh</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暗視装備、携帯通信</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公称電圧</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3.6 V(充電 4.2 V / 放電 2.7 V)</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既存14500と互換</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充放電</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0.5C標準 / 1Cパルス(10秒)</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野戦充電に対応</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動作温度</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放電 -25~+80°C / 充電 -20~+60°C</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高緯度作戦</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エネルギー密度</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284~393 Wh/kg · 522 Wh/L</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同級LIBの1.5倍</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サイクル寿命</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6,000+ · UL 10年</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長期備蓄が可能</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認証</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KCC GT2025-14014、UL、NATO 7.62mm合格</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即時の防衛適用</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用途</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暗視装置、携帯通信、医療装備、IoTセンサー</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5.3  TNO-S 18650</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32/55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TNO-S 18650 — KC認証標準モデル</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TNO-S 18650 — KC Certified Standard</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74552" cy="914400"/>
        </p:xfrm>
        <a:graphic>
          <a:graphicData uri="http://schemas.openxmlformats.org/drawingml/2006/table">
            <a:tbl>
              <a:tblPr/>
              <a:tblGrid>
                <a:gridCol w="2377440"/>
                <a:gridCol w="5577840"/>
                <a:gridCol w="3319272"/>
              </a:tblGrid>
              <a:tr h="457200">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項目</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仕様</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防衛適用</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容量 / エネルギー</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3,940 mAh / 16.5 Wh</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小型UAV、携帯無線機</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インピーダンス(AC @30% SOC)</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14.17 mΩ(KCC GT2025-14016)</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既存18650と互換</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充電</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1.0C(3.94 A)/ 約1.0時間</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急速充電対応</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放電</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5C連続(19.7 A)· 8C/10秒 · 10C/5秒パルス</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回避機動 / 高出力</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動作温度</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放電 -25~+80°C / 充電 -20~+60°C</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砂漠 / 極地作戦</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サイクル寿命</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6,000+ @25°C · UL 10年(8年保証)</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BMS WiFi遠隔管理 · 毎日セル状態チェック</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認証</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KBIA、KC、KTC GT2025-14016、ULTR/ULLC、IATF 16949、CE、FCC、NATO合格</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用途</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小型UAV(偵察)、携帯無線機、医療装備、バックアップ電源</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5.4  TNO-S 21700</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33/55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TNO-S 21700 — 高出力防衛向け</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TNO-S 21700 — High Power Defense</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74552" cy="914400"/>
        </p:xfrm>
        <a:graphic>
          <a:graphicData uri="http://schemas.openxmlformats.org/drawingml/2006/table">
            <a:tbl>
              <a:tblPr/>
              <a:tblGrid>
                <a:gridCol w="2377440"/>
                <a:gridCol w="5577840"/>
                <a:gridCol w="3319272"/>
              </a:tblGrid>
              <a:tr h="457200">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項目</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仕様</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防衛適用</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容量 / エネルギー</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6,000 mAh / 21.0 Wh</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中型UAV、UGV</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公称電圧</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3.6 V(充電 4.2 V / 放電 2.7 V)</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充電</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1.0C(6.0 A)/ 約1.0時間</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急速充電対応</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放電</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5C連続(30 A)· 8C/10秒 · 10C/5秒パルス</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高出力作戦</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動作温度</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放電 -25~+80°C / 充電 -20~+60°C</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エネルギー密度</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284~393 Wh/kg · 522 Wh/L</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サイクル寿命</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6,000+ · UL 10年</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認証</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KBIA、KC、KTC GT2025-14017、ULTR/ULLC、IATF 16949、NATO合格</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用途</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中型UAV、UGV、電動モビリティ、医療車両</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5.5  TNO-S 84Whパウチ</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34/55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TNO-S 84 Whパウチ — 野戦ESS / UPS / ハイブリッドEV</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TNO-S 84Wh Pouch — ESS / UPS / Hybrid EV</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74552" cy="914400"/>
        </p:xfrm>
        <a:graphic>
          <a:graphicData uri="http://schemas.openxmlformats.org/drawingml/2006/table">
            <a:tbl>
              <a:tblPr/>
              <a:tblGrid>
                <a:gridCol w="2377440"/>
                <a:gridCol w="5577840"/>
                <a:gridCol w="3319272"/>
              </a:tblGrid>
              <a:tr h="457200">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項目</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仕様</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防衛適用</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容量 / エネルギー</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20,000 mAh(20 Ah)/ 84.0 Wh</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野戦ESS、UPS</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充電</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1.0C(20 A)/ 約1.0時間</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放電</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10C連続(200 A)· 15C/5秒パルス</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高出力ESS</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動作温度</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放電 -36.8~+80°C / 充電 -20~+60°C</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極低温ESS</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エネルギー密度</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284~393 Wh/kg · 522 Wh/L</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サイクル寿命</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6,000+ · UL 10年</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BMS WiFi遠隔管理 · 毎日セル状態チェック</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認証</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KBIA、KC、KTC GT2025-14018、ULTR/ULLC、IATF 16949、CE、FCC</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用途</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野戦ESS、産業用UPS、ハイブリッドEV、指揮車両ESS</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5.6  TNO-S 86Whパウチ(防衛専用)</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35/55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TNO-S 86 Whパウチ — 防衛グレード</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TNO-S 86Wh Pouch — Defense Grade</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74552" cy="914400"/>
        </p:xfrm>
        <a:graphic>
          <a:graphicData uri="http://schemas.openxmlformats.org/drawingml/2006/table">
            <a:tbl>
              <a:tblPr/>
              <a:tblGrid>
                <a:gridCol w="2377440"/>
                <a:gridCol w="5577840"/>
                <a:gridCol w="3319272"/>
              </a:tblGrid>
              <a:tr h="457200">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項目</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仕様</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防衛適用</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容量 / エネルギー</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20,200 mAh(20.2 Ah)/ 86.0 Wh</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充電</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1.0C(20 A)/ 約1.0時間 · 低温急速充電</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北極圏作戦</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放電</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8C連続(161 A)· 15C/10秒パルス(303 A)</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高出力回避機動</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動作温度</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放電 -36.8~+80°C / 充電 -20~+60°C</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北極圏・砂漠で実証済み</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エネルギー密度</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284~393 Wh/kg · 522 Wh/L</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最上位クラス</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サイクル寿命</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6,000+ · UL 10年</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認証</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KBIA、KC、KTC GT2025-14019、ULTR/ULLC、NATO 7.62mm合格、IATF 16949、NASA ADCI</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すべて検証済み</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用途</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NATO軍用ドローン、消防ESS、農業用UGV、衛星、ミサイル、装甲車補助電源</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bl>
          </a:graphicData>
        </a:graphic>
      </p:graphicFrame>
      <p:sp>
        <p:nvSpPr>
          <p:cNvPr id="13" name="Shape 10"/>
          <p:cNvSpPr/>
          <p:nvPr/>
        </p:nvSpPr>
        <p:spPr>
          <a:xfrm>
            <a:off x="457200" y="6172200"/>
            <a:ext cx="11274552" cy="384048"/>
          </a:xfrm>
          <a:prstGeom prst="rect">
            <a:avLst/>
          </a:prstGeom>
          <a:solidFill>
            <a:srgbClr val="16324F"/>
          </a:solidFill>
          <a:ln/>
        </p:spPr>
      </p:sp>
      <p:sp>
        <p:nvSpPr>
          <p:cNvPr id="14" name="Text 11"/>
          <p:cNvSpPr/>
          <p:nvPr/>
        </p:nvSpPr>
        <p:spPr>
          <a:xfrm>
            <a:off x="685800" y="6172200"/>
            <a:ext cx="10881360" cy="384048"/>
          </a:xfrm>
          <a:prstGeom prst="rect">
            <a:avLst/>
          </a:prstGeom>
          <a:noFill/>
          <a:ln/>
        </p:spPr>
        <p:txBody>
          <a:bodyPr wrap="square" lIns="0" tIns="0" rIns="0" bIns="0" rtlCol="0" anchor="ctr"/>
          <a:lstStyle/>
          <a:p>
            <a:pPr indent="0" marL="0">
              <a:buNone/>
            </a:pPr>
            <a:r>
              <a:rPr lang="en-US" sz="1150" b="1" dirty="0">
                <a:solidFill>
                  <a:srgbClr val="C9A227"/>
                </a:solidFill>
                <a:latin typeface="Yu Gothic" pitchFamily="34" charset="0"/>
                <a:ea typeface="Yu Gothic" pitchFamily="34" charset="-122"/>
                <a:cs typeface="Yu Gothic" pitchFamily="34" charset="-120"/>
              </a:rPr>
              <a:t>★ NATOノルウェー実戦配備モデル · 防衛グレード・リファレンス</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5.7  防衛適用マトリクス</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36/55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防衛システム × 推奨モデル・マトリクス</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Defense System × Recommended Model Matrix</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74552" cy="914400"/>
        </p:xfrm>
        <a:graphic>
          <a:graphicData uri="http://schemas.openxmlformats.org/drawingml/2006/table">
            <a:tbl>
              <a:tblPr/>
              <a:tblGrid>
                <a:gridCol w="3291840"/>
                <a:gridCol w="2011680"/>
                <a:gridCol w="3017520"/>
                <a:gridCol w="2953512"/>
              </a:tblGrid>
              <a:tr h="502920">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防衛システム</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推奨モデル</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主要仕様要件</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根拠</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r>
              <a:tr h="502920">
                <a:tc>
                  <a:txBody>
                    <a:bodyPr/>
                    <a:lstStyle/>
                    <a:p>
                      <a:pPr algn="l" indent="0" marL="0">
                        <a:buNone/>
                      </a:pPr>
                      <a:r>
                        <a:rPr lang="en-US" sz="1000" b="1" dirty="0">
                          <a:solidFill>
                            <a:srgbClr val="1A1A1A"/>
                          </a:solidFill>
                          <a:latin typeface="Yu Gothic" pitchFamily="34" charset="0"/>
                          <a:ea typeface="Yu Gothic" pitchFamily="34" charset="-122"/>
                          <a:cs typeface="Yu Gothic" pitchFamily="34" charset="-120"/>
                        </a:rPr>
                        <a:t>携帯通信 / 暗視</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14500</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Yu Gothic" pitchFamily="34" charset="0"/>
                          <a:ea typeface="Yu Gothic" pitchFamily="34" charset="-122"/>
                          <a:cs typeface="Yu Gothic" pitchFamily="34" charset="-120"/>
                        </a:rPr>
                        <a:t>軽量(&lt; 50 g)</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Yu Gothic" pitchFamily="34" charset="0"/>
                          <a:ea typeface="Yu Gothic" pitchFamily="34" charset="-122"/>
                          <a:cs typeface="Yu Gothic" pitchFamily="34" charset="-120"/>
                        </a:rPr>
                        <a:t>10 Wh / 4時間運用</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1A1A1A"/>
                          </a:solidFill>
                          <a:latin typeface="Yu Gothic" pitchFamily="34" charset="0"/>
                          <a:ea typeface="Yu Gothic" pitchFamily="34" charset="-122"/>
                          <a:cs typeface="Yu Gothic" pitchFamily="34" charset="-120"/>
                        </a:rPr>
                        <a:t>小型偵察UAV</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18650</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1000" dirty="0">
                          <a:solidFill>
                            <a:srgbClr val="1A1A1A"/>
                          </a:solidFill>
                          <a:latin typeface="Yu Gothic" pitchFamily="34" charset="0"/>
                          <a:ea typeface="Yu Gothic" pitchFamily="34" charset="-122"/>
                          <a:cs typeface="Yu Gothic" pitchFamily="34" charset="-120"/>
                        </a:rPr>
                        <a:t>約20 Whクラス、5Cパルス</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1000" dirty="0">
                          <a:solidFill>
                            <a:srgbClr val="1A1A1A"/>
                          </a:solidFill>
                          <a:latin typeface="Yu Gothic" pitchFamily="34" charset="0"/>
                          <a:ea typeface="Yu Gothic" pitchFamily="34" charset="-122"/>
                          <a:cs typeface="Yu Gothic" pitchFamily="34" charset="-120"/>
                        </a:rPr>
                        <a:t>16.5 Wh / 回避機動</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502920">
                <a:tc>
                  <a:txBody>
                    <a:bodyPr/>
                    <a:lstStyle/>
                    <a:p>
                      <a:pPr algn="l" indent="0" marL="0">
                        <a:buNone/>
                      </a:pPr>
                      <a:r>
                        <a:rPr lang="en-US" sz="1000" b="1" dirty="0">
                          <a:solidFill>
                            <a:srgbClr val="1A1A1A"/>
                          </a:solidFill>
                          <a:latin typeface="Yu Gothic" pitchFamily="34" charset="0"/>
                          <a:ea typeface="Yu Gothic" pitchFamily="34" charset="-122"/>
                          <a:cs typeface="Yu Gothic" pitchFamily="34" charset="-120"/>
                        </a:rPr>
                        <a:t>中型攻撃UAV</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21700</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Yu Gothic" pitchFamily="34" charset="0"/>
                          <a:ea typeface="Yu Gothic" pitchFamily="34" charset="-122"/>
                          <a:cs typeface="Yu Gothic" pitchFamily="34" charset="-120"/>
                        </a:rPr>
                        <a:t>50~150 Wh、7C</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Yu Gothic" pitchFamily="34" charset="0"/>
                          <a:ea typeface="Yu Gothic" pitchFamily="34" charset="-122"/>
                          <a:cs typeface="Yu Gothic" pitchFamily="34" charset="-120"/>
                        </a:rPr>
                        <a:t>高出力 + 長時間滞空</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1A1A1A"/>
                          </a:solidFill>
                          <a:latin typeface="Yu Gothic" pitchFamily="34" charset="0"/>
                          <a:ea typeface="Yu Gothic" pitchFamily="34" charset="-122"/>
                          <a:cs typeface="Yu Gothic" pitchFamily="34" charset="-120"/>
                        </a:rPr>
                        <a:t>UGV(不整地)</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84 Whパウチ</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1000" dirty="0">
                          <a:solidFill>
                            <a:srgbClr val="1A1A1A"/>
                          </a:solidFill>
                          <a:latin typeface="Yu Gothic" pitchFamily="34" charset="0"/>
                          <a:ea typeface="Yu Gothic" pitchFamily="34" charset="-122"/>
                          <a:cs typeface="Yu Gothic" pitchFamily="34" charset="-120"/>
                        </a:rPr>
                        <a:t>10C連続</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1000" dirty="0">
                          <a:solidFill>
                            <a:srgbClr val="1A1A1A"/>
                          </a:solidFill>
                          <a:latin typeface="Yu Gothic" pitchFamily="34" charset="0"/>
                          <a:ea typeface="Yu Gothic" pitchFamily="34" charset="-122"/>
                          <a:cs typeface="Yu Gothic" pitchFamily="34" charset="-120"/>
                        </a:rPr>
                        <a:t>オフロードトルク</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502920">
                <a:tc>
                  <a:txBody>
                    <a:bodyPr/>
                    <a:lstStyle/>
                    <a:p>
                      <a:pPr algn="l" indent="0" marL="0">
                        <a:buNone/>
                      </a:pPr>
                      <a:r>
                        <a:rPr lang="en-US" sz="1000" b="1" dirty="0">
                          <a:solidFill>
                            <a:srgbClr val="1A1A1A"/>
                          </a:solidFill>
                          <a:latin typeface="Yu Gothic" pitchFamily="34" charset="0"/>
                          <a:ea typeface="Yu Gothic" pitchFamily="34" charset="-122"/>
                          <a:cs typeface="Yu Gothic" pitchFamily="34" charset="-120"/>
                        </a:rPr>
                        <a:t>野戦ESS / UPS</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84 Whパウチ</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Yu Gothic" pitchFamily="34" charset="0"/>
                          <a:ea typeface="Yu Gothic" pitchFamily="34" charset="-122"/>
                          <a:cs typeface="Yu Gothic" pitchFamily="34" charset="-120"/>
                        </a:rPr>
                        <a:t>寿命 ≥ 10年</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Yu Gothic" pitchFamily="34" charset="0"/>
                          <a:ea typeface="Yu Gothic" pitchFamily="34" charset="-122"/>
                          <a:cs typeface="Yu Gothic" pitchFamily="34" charset="-120"/>
                        </a:rPr>
                        <a:t>交換コスト 1/4</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1A1A1A"/>
                          </a:solidFill>
                          <a:latin typeface="Yu Gothic" pitchFamily="34" charset="0"/>
                          <a:ea typeface="Yu Gothic" pitchFamily="34" charset="-122"/>
                          <a:cs typeface="Yu Gothic" pitchFamily="34" charset="-120"/>
                        </a:rPr>
                        <a:t>防衛専用ドローン(NATO)</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86 Whパウチ</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1000" dirty="0">
                          <a:solidFill>
                            <a:srgbClr val="1A1A1A"/>
                          </a:solidFill>
                          <a:latin typeface="Yu Gothic" pitchFamily="34" charset="0"/>
                          <a:ea typeface="Yu Gothic" pitchFamily="34" charset="-122"/>
                          <a:cs typeface="Yu Gothic" pitchFamily="34" charset="-120"/>
                        </a:rPr>
                        <a:t>-36°C、15C、7.62 mm</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1000" dirty="0">
                          <a:solidFill>
                            <a:srgbClr val="1A1A1A"/>
                          </a:solidFill>
                          <a:latin typeface="Yu Gothic" pitchFamily="34" charset="0"/>
                          <a:ea typeface="Yu Gothic" pitchFamily="34" charset="-122"/>
                          <a:cs typeface="Yu Gothic" pitchFamily="34" charset="-120"/>
                        </a:rPr>
                        <a:t>実戦配備で検証済み</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502920">
                <a:tc>
                  <a:txBody>
                    <a:bodyPr/>
                    <a:lstStyle/>
                    <a:p>
                      <a:pPr algn="l" indent="0" marL="0">
                        <a:buNone/>
                      </a:pPr>
                      <a:r>
                        <a:rPr lang="en-US" sz="1000" b="1" dirty="0">
                          <a:solidFill>
                            <a:srgbClr val="1A1A1A"/>
                          </a:solidFill>
                          <a:latin typeface="Yu Gothic" pitchFamily="34" charset="0"/>
                          <a:ea typeface="Yu Gothic" pitchFamily="34" charset="-122"/>
                          <a:cs typeface="Yu Gothic" pitchFamily="34" charset="-120"/>
                        </a:rPr>
                        <a:t>ミサイル / 誘導兵器</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21700 / 86 Wh</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Yu Gothic" pitchFamily="34" charset="0"/>
                          <a:ea typeface="Yu Gothic" pitchFamily="34" charset="-122"/>
                          <a:cs typeface="Yu Gothic" pitchFamily="34" charset="-120"/>
                        </a:rPr>
                        <a:t>20C+、-40°C</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Yu Gothic" pitchFamily="34" charset="0"/>
                          <a:ea typeface="Yu Gothic" pitchFamily="34" charset="-122"/>
                          <a:cs typeface="Yu Gothic" pitchFamily="34" charset="-120"/>
                        </a:rPr>
                        <a:t>超高出力 · 単発運用</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1A1A1A"/>
                          </a:solidFill>
                          <a:latin typeface="Yu Gothic" pitchFamily="34" charset="0"/>
                          <a:ea typeface="Yu Gothic" pitchFamily="34" charset="-122"/>
                          <a:cs typeface="Yu Gothic" pitchFamily="34" charset="-120"/>
                        </a:rPr>
                        <a:t>衛星 / 高高度</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84 Wh / 86 Wh</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1000" dirty="0">
                          <a:solidFill>
                            <a:srgbClr val="1A1A1A"/>
                          </a:solidFill>
                          <a:latin typeface="Yu Gothic" pitchFamily="34" charset="0"/>
                          <a:ea typeface="Yu Gothic" pitchFamily="34" charset="-122"/>
                          <a:cs typeface="Yu Gothic" pitchFamily="34" charset="-120"/>
                        </a:rPr>
                        <a:t>放射線 / 真空耐性</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1000" dirty="0">
                          <a:solidFill>
                            <a:srgbClr val="1A1A1A"/>
                          </a:solidFill>
                          <a:latin typeface="Yu Gothic" pitchFamily="34" charset="0"/>
                          <a:ea typeface="Yu Gothic" pitchFamily="34" charset="-122"/>
                          <a:cs typeface="Yu Gothic" pitchFamily="34" charset="-120"/>
                        </a:rPr>
                        <a:t>寿命 ≥ 15年</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6324F"/>
        </a:solidFill>
      </p:bgPr>
    </p:bg>
    <p:spTree>
      <p:nvGrpSpPr>
        <p:cNvPr id="1" name=""/>
        <p:cNvGrpSpPr/>
        <p:nvPr/>
      </p:nvGrpSpPr>
      <p:grpSpPr>
        <a:xfrm>
          <a:off x="0" y="0"/>
          <a:ext cx="0" cy="0"/>
          <a:chOff x="0" y="0"/>
          <a:chExt cx="0" cy="0"/>
        </a:xfrm>
      </p:grpSpPr>
      <p:sp>
        <p:nvSpPr>
          <p:cNvPr id="2" name="Text 0"/>
          <p:cNvSpPr/>
          <p:nvPr/>
        </p:nvSpPr>
        <p:spPr>
          <a:xfrm>
            <a:off x="457200" y="411480"/>
            <a:ext cx="274320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BK DONGYEOUNG TECH</a:t>
            </a:r>
            <a:endParaRPr lang="en-US" sz="900" dirty="0"/>
          </a:p>
        </p:txBody>
      </p:sp>
      <p:sp>
        <p:nvSpPr>
          <p:cNvPr id="3" name="Text 1"/>
          <p:cNvSpPr/>
          <p:nvPr/>
        </p:nvSpPr>
        <p:spPr>
          <a:xfrm>
            <a:off x="502920" y="1417320"/>
            <a:ext cx="4572000" cy="411480"/>
          </a:xfrm>
          <a:prstGeom prst="rect">
            <a:avLst/>
          </a:prstGeom>
          <a:noFill/>
          <a:ln/>
        </p:spPr>
        <p:txBody>
          <a:bodyPr wrap="square" lIns="0" tIns="0" rIns="0" bIns="0" rtlCol="0" anchor="ctr"/>
          <a:lstStyle/>
          <a:p>
            <a:pPr indent="0" marL="0">
              <a:buNone/>
            </a:pPr>
            <a:r>
              <a:rPr lang="en-US" sz="1800" b="1" dirty="0">
                <a:solidFill>
                  <a:srgbClr val="C9A227"/>
                </a:solidFill>
                <a:latin typeface="Arial" pitchFamily="34" charset="0"/>
                <a:ea typeface="Arial" pitchFamily="34" charset="-122"/>
                <a:cs typeface="Arial" pitchFamily="34" charset="-120"/>
              </a:rPr>
              <a:t>CHAPTER 06</a:t>
            </a:r>
            <a:endParaRPr lang="en-US" sz="1800" dirty="0"/>
          </a:p>
        </p:txBody>
      </p:sp>
      <p:sp>
        <p:nvSpPr>
          <p:cNvPr id="4" name="Shape 2"/>
          <p:cNvSpPr/>
          <p:nvPr/>
        </p:nvSpPr>
        <p:spPr>
          <a:xfrm>
            <a:off x="530352" y="1965960"/>
            <a:ext cx="502920" cy="64008"/>
          </a:xfrm>
          <a:prstGeom prst="rect">
            <a:avLst/>
          </a:prstGeom>
          <a:solidFill>
            <a:srgbClr val="C9A227"/>
          </a:solidFill>
          <a:ln/>
        </p:spPr>
      </p:sp>
      <p:sp>
        <p:nvSpPr>
          <p:cNvPr id="5" name="Text 3"/>
          <p:cNvSpPr/>
          <p:nvPr/>
        </p:nvSpPr>
        <p:spPr>
          <a:xfrm>
            <a:off x="457200" y="2148840"/>
            <a:ext cx="5852160" cy="2011680"/>
          </a:xfrm>
          <a:prstGeom prst="rect">
            <a:avLst/>
          </a:prstGeom>
          <a:noFill/>
          <a:ln/>
        </p:spPr>
        <p:txBody>
          <a:bodyPr wrap="square" lIns="0" tIns="0" rIns="0" bIns="0" rtlCol="0" anchor="t"/>
          <a:lstStyle/>
          <a:p>
            <a:pPr indent="0" marL="0">
              <a:buNone/>
            </a:pPr>
            <a:r>
              <a:rPr lang="en-US" sz="3400" b="1" dirty="0">
                <a:solidFill>
                  <a:srgbClr val="FFFFFF"/>
                </a:solidFill>
                <a:latin typeface="Yu Gothic" pitchFamily="34" charset="0"/>
                <a:ea typeface="Yu Gothic" pitchFamily="34" charset="-122"/>
                <a:cs typeface="Yu Gothic" pitchFamily="34" charset="-120"/>
              </a:rPr>
              <a:t>生産能力と</a:t>
            </a:r>
            <a:endParaRPr lang="en-US" sz="3400" dirty="0"/>
          </a:p>
          <a:p>
            <a:pPr indent="0" marL="0">
              <a:buNone/>
            </a:pPr>
            <a:r>
              <a:rPr lang="en-US" sz="3400" b="1" dirty="0">
                <a:solidFill>
                  <a:srgbClr val="FFFFFF"/>
                </a:solidFill>
                <a:latin typeface="Yu Gothic" pitchFamily="34" charset="0"/>
                <a:ea typeface="Yu Gothic" pitchFamily="34" charset="-122"/>
                <a:cs typeface="Yu Gothic" pitchFamily="34" charset="-120"/>
              </a:rPr>
              <a:t>サプライチェーン</a:t>
            </a:r>
            <a:endParaRPr lang="en-US" sz="3400" dirty="0"/>
          </a:p>
        </p:txBody>
      </p:sp>
      <p:sp>
        <p:nvSpPr>
          <p:cNvPr id="6" name="Text 4"/>
          <p:cNvSpPr/>
          <p:nvPr/>
        </p:nvSpPr>
        <p:spPr>
          <a:xfrm>
            <a:off x="502920" y="4434840"/>
            <a:ext cx="5394960" cy="1920240"/>
          </a:xfrm>
          <a:prstGeom prst="rect">
            <a:avLst/>
          </a:prstGeom>
          <a:noFill/>
          <a:ln/>
        </p:spPr>
        <p:txBody>
          <a:bodyPr wrap="square" lIns="0" tIns="0" rIns="0" bIns="0" rtlCol="0" anchor="t"/>
          <a:lstStyle/>
          <a:p>
            <a:pPr indent="0" marL="0">
              <a:buNone/>
            </a:pPr>
            <a:r>
              <a:rPr lang="en-US" sz="1150" dirty="0">
                <a:solidFill>
                  <a:srgbClr val="D8DEE8"/>
                </a:solidFill>
                <a:latin typeface="Yu Gothic" pitchFamily="34" charset="0"/>
                <a:ea typeface="Yu Gothic" pitchFamily="34" charset="-122"/>
                <a:cs typeface="Yu Gothic" pitchFamily="34" charset="-120"/>
              </a:rPr>
              <a:t>10工程の生産ライン、多段乾燥+NaClテンプレート特許プロセス、12時間高速化成、CAPEX 69~78%削減。</a:t>
            </a:r>
            <a:endParaRPr lang="en-US" sz="1150" dirty="0"/>
          </a:p>
          <a:p>
            <a:pPr indent="0" marL="0">
              <a:buNone/>
            </a:pPr>
            <a:endParaRPr lang="en-US" sz="1150" dirty="0"/>
          </a:p>
          <a:p>
            <a:pPr indent="0" marL="0">
              <a:buNone/>
            </a:pPr>
            <a:r>
              <a:rPr lang="en-US" sz="1150" dirty="0">
                <a:solidFill>
                  <a:srgbClr val="D8DEE8"/>
                </a:solidFill>
                <a:latin typeface="Yu Gothic" pitchFamily="34" charset="0"/>
                <a:ea typeface="Yu Gothic" pitchFamily="34" charset="-122"/>
                <a:cs typeface="Yu Gothic" pitchFamily="34" charset="-120"/>
              </a:rPr>
              <a:t>2026年 0.3 GWh → 2030年 1.3 GWhの生産ロードマップにより、防衛サプライチェーンの安定性を確保する。</a:t>
            </a:r>
            <a:endParaRPr lang="en-US" sz="1150" dirty="0"/>
          </a:p>
        </p:txBody>
      </p:sp>
      <p:sp>
        <p:nvSpPr>
          <p:cNvPr id="7" name="Shape 5"/>
          <p:cNvSpPr/>
          <p:nvPr/>
        </p:nvSpPr>
        <p:spPr>
          <a:xfrm>
            <a:off x="6400800" y="914400"/>
            <a:ext cx="5330952" cy="5029200"/>
          </a:xfrm>
          <a:prstGeom prst="rect">
            <a:avLst/>
          </a:prstGeom>
          <a:solidFill>
            <a:srgbClr val="24466B"/>
          </a:solidFill>
          <a:ln/>
        </p:spPr>
      </p:sp>
      <p:sp>
        <p:nvSpPr>
          <p:cNvPr id="8" name="Shape 6"/>
          <p:cNvSpPr/>
          <p:nvPr/>
        </p:nvSpPr>
        <p:spPr>
          <a:xfrm>
            <a:off x="6400800" y="914400"/>
            <a:ext cx="5330952" cy="82296"/>
          </a:xfrm>
          <a:prstGeom prst="rect">
            <a:avLst/>
          </a:prstGeom>
          <a:solidFill>
            <a:srgbClr val="C9A227"/>
          </a:solidFill>
          <a:ln/>
        </p:spPr>
      </p:sp>
      <p:sp>
        <p:nvSpPr>
          <p:cNvPr id="9" name="Text 7"/>
          <p:cNvSpPr/>
          <p:nvPr/>
        </p:nvSpPr>
        <p:spPr>
          <a:xfrm>
            <a:off x="6400800" y="2743200"/>
            <a:ext cx="5330952"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TNO-S</a:t>
            </a:r>
            <a:endParaRPr lang="en-US" sz="4400" dirty="0"/>
          </a:p>
        </p:txBody>
      </p:sp>
      <p:sp>
        <p:nvSpPr>
          <p:cNvPr id="10" name="Text 8"/>
          <p:cNvSpPr/>
          <p:nvPr/>
        </p:nvSpPr>
        <p:spPr>
          <a:xfrm>
            <a:off x="6400800" y="3657600"/>
            <a:ext cx="5330952" cy="365760"/>
          </a:xfrm>
          <a:prstGeom prst="rect">
            <a:avLst/>
          </a:prstGeom>
          <a:noFill/>
          <a:ln/>
        </p:spPr>
        <p:txBody>
          <a:bodyPr wrap="square" lIns="0" tIns="0" rIns="0" bIns="0" rtlCol="0" anchor="ctr"/>
          <a:lstStyle/>
          <a:p>
            <a:pPr algn="ctr" indent="0" marL="0">
              <a:buNone/>
            </a:pPr>
            <a:r>
              <a:rPr lang="en-US" sz="1200" dirty="0">
                <a:solidFill>
                  <a:srgbClr val="C9A227"/>
                </a:solidFill>
                <a:latin typeface="Arial" pitchFamily="34" charset="0"/>
                <a:ea typeface="Arial" pitchFamily="34" charset="-122"/>
                <a:cs typeface="Arial" pitchFamily="34" charset="-120"/>
              </a:rPr>
              <a:t>Lithium-Free All-Solid-State Battery</a:t>
            </a:r>
            <a:endParaRPr lang="en-US" sz="1200" dirty="0"/>
          </a:p>
        </p:txBody>
      </p:sp>
      <p:sp>
        <p:nvSpPr>
          <p:cNvPr id="11" name="Text 9"/>
          <p:cNvSpPr/>
          <p:nvPr/>
        </p:nvSpPr>
        <p:spPr>
          <a:xfrm>
            <a:off x="10725912" y="6355080"/>
            <a:ext cx="1097280" cy="274320"/>
          </a:xfrm>
          <a:prstGeom prst="rect">
            <a:avLst/>
          </a:prstGeom>
          <a:noFill/>
          <a:ln/>
        </p:spPr>
        <p:txBody>
          <a:bodyPr wrap="square" lIns="0" tIns="0" rIns="0" bIns="0" rtlCol="0" anchor="ctr"/>
          <a:lstStyle/>
          <a:p>
            <a:pPr algn="r" indent="0" marL="0">
              <a:buNone/>
            </a:pPr>
            <a:r>
              <a:rPr lang="en-US" sz="1000" b="1" dirty="0">
                <a:solidFill>
                  <a:srgbClr val="C9A227"/>
                </a:solidFill>
                <a:latin typeface="Arial" pitchFamily="34" charset="0"/>
                <a:ea typeface="Arial" pitchFamily="34" charset="-122"/>
                <a:cs typeface="Arial" pitchFamily="34" charset="-120"/>
              </a:rPr>
              <a:t>p.37/55</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6.1  10工程の生産プロセス</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38/55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10工程の生産プロセス</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10-Step Production Process</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737360"/>
            <a:ext cx="685800" cy="1920240"/>
          </a:xfrm>
          <a:prstGeom prst="rect">
            <a:avLst/>
          </a:prstGeom>
          <a:solidFill>
            <a:srgbClr val="16324F"/>
          </a:solidFill>
          <a:ln/>
        </p:spPr>
      </p:sp>
      <p:sp>
        <p:nvSpPr>
          <p:cNvPr id="13" name="Text 11"/>
          <p:cNvSpPr/>
          <p:nvPr/>
        </p:nvSpPr>
        <p:spPr>
          <a:xfrm>
            <a:off x="457200" y="1737360"/>
            <a:ext cx="685800" cy="1920240"/>
          </a:xfrm>
          <a:prstGeom prst="rect">
            <a:avLst/>
          </a:prstGeom>
          <a:noFill/>
          <a:ln/>
        </p:spPr>
        <p:txBody>
          <a:bodyPr wrap="square" lIns="0" tIns="0" rIns="0" bIns="0" rtlCol="0" anchor="ctr"/>
          <a:lstStyle/>
          <a:p>
            <a:pPr algn="ctr" indent="0" marL="0">
              <a:buNone/>
            </a:pPr>
            <a:r>
              <a:rPr lang="en-US" sz="1800" b="1" dirty="0">
                <a:solidFill>
                  <a:srgbClr val="C9A227"/>
                </a:solidFill>
                <a:latin typeface="Arial" pitchFamily="34" charset="0"/>
                <a:ea typeface="Arial" pitchFamily="34" charset="-122"/>
                <a:cs typeface="Arial" pitchFamily="34" charset="-120"/>
              </a:rPr>
              <a:t>01</a:t>
            </a:r>
            <a:endParaRPr lang="en-US" sz="1800" dirty="0"/>
          </a:p>
        </p:txBody>
      </p:sp>
      <p:sp>
        <p:nvSpPr>
          <p:cNvPr id="14" name="Shape 12"/>
          <p:cNvSpPr/>
          <p:nvPr/>
        </p:nvSpPr>
        <p:spPr>
          <a:xfrm>
            <a:off x="1143000" y="1737360"/>
            <a:ext cx="1435608" cy="1920240"/>
          </a:xfrm>
          <a:prstGeom prst="rect">
            <a:avLst/>
          </a:prstGeom>
          <a:solidFill>
            <a:srgbClr val="FFFFFF"/>
          </a:solidFill>
          <a:ln w="9525">
            <a:solidFill>
              <a:srgbClr val="C8C8C8"/>
            </a:solidFill>
            <a:prstDash val="solid"/>
          </a:ln>
        </p:spPr>
      </p:sp>
      <p:sp>
        <p:nvSpPr>
          <p:cNvPr id="15" name="Text 13"/>
          <p:cNvSpPr/>
          <p:nvPr/>
        </p:nvSpPr>
        <p:spPr>
          <a:xfrm>
            <a:off x="1216152" y="1920240"/>
            <a:ext cx="1298448" cy="868680"/>
          </a:xfrm>
          <a:prstGeom prst="rect">
            <a:avLst/>
          </a:prstGeom>
          <a:noFill/>
          <a:ln/>
        </p:spPr>
        <p:txBody>
          <a:bodyPr wrap="square" lIns="0" tIns="0" rIns="0" bIns="0" rtlCol="0" anchor="ctr"/>
          <a:lstStyle/>
          <a:p>
            <a:pPr indent="0" marL="0">
              <a:buNone/>
            </a:pPr>
            <a:r>
              <a:rPr lang="en-US" sz="1050" b="1" dirty="0">
                <a:solidFill>
                  <a:srgbClr val="16324F"/>
                </a:solidFill>
                <a:latin typeface="Yu Gothic" pitchFamily="34" charset="0"/>
                <a:ea typeface="Yu Gothic" pitchFamily="34" charset="-122"/>
                <a:cs typeface="Yu Gothic" pitchFamily="34" charset="-120"/>
              </a:rPr>
              <a:t>材料準備</a:t>
            </a:r>
            <a:endParaRPr lang="en-US" sz="1050" dirty="0"/>
          </a:p>
        </p:txBody>
      </p:sp>
      <p:sp>
        <p:nvSpPr>
          <p:cNvPr id="16" name="Text 14"/>
          <p:cNvSpPr/>
          <p:nvPr/>
        </p:nvSpPr>
        <p:spPr>
          <a:xfrm>
            <a:off x="1216152" y="2834640"/>
            <a:ext cx="1298448" cy="731520"/>
          </a:xfrm>
          <a:prstGeom prst="rect">
            <a:avLst/>
          </a:prstGeom>
          <a:noFill/>
          <a:ln/>
        </p:spPr>
        <p:txBody>
          <a:bodyPr wrap="square" lIns="0" tIns="0" rIns="0" bIns="0" rtlCol="0" anchor="ctr"/>
          <a:lstStyle/>
          <a:p>
            <a:pPr indent="0" marL="0">
              <a:buNone/>
            </a:pPr>
            <a:r>
              <a:rPr lang="en-US" sz="850" dirty="0">
                <a:solidFill>
                  <a:srgbClr val="5A5A5A"/>
                </a:solidFill>
                <a:latin typeface="Yu Gothic" pitchFamily="34" charset="0"/>
                <a:ea typeface="Yu Gothic" pitchFamily="34" charset="-122"/>
                <a:cs typeface="Yu Gothic" pitchFamily="34" charset="-120"/>
              </a:rPr>
              <a:t>正極 / 負極 / SE</a:t>
            </a:r>
            <a:endParaRPr lang="en-US" sz="850" dirty="0"/>
          </a:p>
        </p:txBody>
      </p:sp>
      <p:sp>
        <p:nvSpPr>
          <p:cNvPr id="17" name="Shape 15"/>
          <p:cNvSpPr/>
          <p:nvPr/>
        </p:nvSpPr>
        <p:spPr>
          <a:xfrm>
            <a:off x="2761488" y="1737360"/>
            <a:ext cx="685800" cy="1920240"/>
          </a:xfrm>
          <a:prstGeom prst="rect">
            <a:avLst/>
          </a:prstGeom>
          <a:solidFill>
            <a:srgbClr val="16324F"/>
          </a:solidFill>
          <a:ln/>
        </p:spPr>
      </p:sp>
      <p:sp>
        <p:nvSpPr>
          <p:cNvPr id="18" name="Text 16"/>
          <p:cNvSpPr/>
          <p:nvPr/>
        </p:nvSpPr>
        <p:spPr>
          <a:xfrm>
            <a:off x="2761488" y="1737360"/>
            <a:ext cx="685800" cy="1920240"/>
          </a:xfrm>
          <a:prstGeom prst="rect">
            <a:avLst/>
          </a:prstGeom>
          <a:noFill/>
          <a:ln/>
        </p:spPr>
        <p:txBody>
          <a:bodyPr wrap="square" lIns="0" tIns="0" rIns="0" bIns="0" rtlCol="0" anchor="ctr"/>
          <a:lstStyle/>
          <a:p>
            <a:pPr algn="ctr" indent="0" marL="0">
              <a:buNone/>
            </a:pPr>
            <a:r>
              <a:rPr lang="en-US" sz="1800" b="1" dirty="0">
                <a:solidFill>
                  <a:srgbClr val="C9A227"/>
                </a:solidFill>
                <a:latin typeface="Arial" pitchFamily="34" charset="0"/>
                <a:ea typeface="Arial" pitchFamily="34" charset="-122"/>
                <a:cs typeface="Arial" pitchFamily="34" charset="-120"/>
              </a:rPr>
              <a:t>02</a:t>
            </a:r>
            <a:endParaRPr lang="en-US" sz="1800" dirty="0"/>
          </a:p>
        </p:txBody>
      </p:sp>
      <p:sp>
        <p:nvSpPr>
          <p:cNvPr id="19" name="Shape 17"/>
          <p:cNvSpPr/>
          <p:nvPr/>
        </p:nvSpPr>
        <p:spPr>
          <a:xfrm>
            <a:off x="3447288" y="1737360"/>
            <a:ext cx="1435608" cy="1920240"/>
          </a:xfrm>
          <a:prstGeom prst="rect">
            <a:avLst/>
          </a:prstGeom>
          <a:solidFill>
            <a:srgbClr val="FFFFFF"/>
          </a:solidFill>
          <a:ln w="9525">
            <a:solidFill>
              <a:srgbClr val="C8C8C8"/>
            </a:solidFill>
            <a:prstDash val="solid"/>
          </a:ln>
        </p:spPr>
      </p:sp>
      <p:sp>
        <p:nvSpPr>
          <p:cNvPr id="20" name="Text 18"/>
          <p:cNvSpPr/>
          <p:nvPr/>
        </p:nvSpPr>
        <p:spPr>
          <a:xfrm>
            <a:off x="3520440" y="1920240"/>
            <a:ext cx="1298448" cy="868680"/>
          </a:xfrm>
          <a:prstGeom prst="rect">
            <a:avLst/>
          </a:prstGeom>
          <a:noFill/>
          <a:ln/>
        </p:spPr>
        <p:txBody>
          <a:bodyPr wrap="square" lIns="0" tIns="0" rIns="0" bIns="0" rtlCol="0" anchor="ctr"/>
          <a:lstStyle/>
          <a:p>
            <a:pPr indent="0" marL="0">
              <a:buNone/>
            </a:pPr>
            <a:r>
              <a:rPr lang="en-US" sz="1050" b="1" dirty="0">
                <a:solidFill>
                  <a:srgbClr val="16324F"/>
                </a:solidFill>
                <a:latin typeface="Yu Gothic" pitchFamily="34" charset="0"/>
                <a:ea typeface="Yu Gothic" pitchFamily="34" charset="-122"/>
                <a:cs typeface="Yu Gothic" pitchFamily="34" charset="-120"/>
              </a:rPr>
              <a:t>スラリー混合</a:t>
            </a:r>
            <a:endParaRPr lang="en-US" sz="1050" dirty="0"/>
          </a:p>
        </p:txBody>
      </p:sp>
      <p:sp>
        <p:nvSpPr>
          <p:cNvPr id="21" name="Text 19"/>
          <p:cNvSpPr/>
          <p:nvPr/>
        </p:nvSpPr>
        <p:spPr>
          <a:xfrm>
            <a:off x="3520440" y="2834640"/>
            <a:ext cx="1298448" cy="731520"/>
          </a:xfrm>
          <a:prstGeom prst="rect">
            <a:avLst/>
          </a:prstGeom>
          <a:noFill/>
          <a:ln/>
        </p:spPr>
        <p:txBody>
          <a:bodyPr wrap="square" lIns="0" tIns="0" rIns="0" bIns="0" rtlCol="0" anchor="ctr"/>
          <a:lstStyle/>
          <a:p>
            <a:pPr indent="0" marL="0">
              <a:buNone/>
            </a:pPr>
            <a:r>
              <a:rPr lang="en-US" sz="850" dirty="0">
                <a:solidFill>
                  <a:srgbClr val="5A5A5A"/>
                </a:solidFill>
                <a:latin typeface="Yu Gothic" pitchFamily="34" charset="0"/>
                <a:ea typeface="Yu Gothic" pitchFamily="34" charset="-122"/>
                <a:cs typeface="Yu Gothic" pitchFamily="34" charset="-120"/>
              </a:rPr>
              <a:t>高せん断 / 粘度管理</a:t>
            </a:r>
            <a:endParaRPr lang="en-US" sz="850" dirty="0"/>
          </a:p>
        </p:txBody>
      </p:sp>
      <p:sp>
        <p:nvSpPr>
          <p:cNvPr id="22" name="Shape 20"/>
          <p:cNvSpPr/>
          <p:nvPr/>
        </p:nvSpPr>
        <p:spPr>
          <a:xfrm>
            <a:off x="5065776" y="1737360"/>
            <a:ext cx="685800" cy="1920240"/>
          </a:xfrm>
          <a:prstGeom prst="rect">
            <a:avLst/>
          </a:prstGeom>
          <a:solidFill>
            <a:srgbClr val="16324F"/>
          </a:solidFill>
          <a:ln/>
        </p:spPr>
      </p:sp>
      <p:sp>
        <p:nvSpPr>
          <p:cNvPr id="23" name="Text 21"/>
          <p:cNvSpPr/>
          <p:nvPr/>
        </p:nvSpPr>
        <p:spPr>
          <a:xfrm>
            <a:off x="5065776" y="1737360"/>
            <a:ext cx="685800" cy="1920240"/>
          </a:xfrm>
          <a:prstGeom prst="rect">
            <a:avLst/>
          </a:prstGeom>
          <a:noFill/>
          <a:ln/>
        </p:spPr>
        <p:txBody>
          <a:bodyPr wrap="square" lIns="0" tIns="0" rIns="0" bIns="0" rtlCol="0" anchor="ctr"/>
          <a:lstStyle/>
          <a:p>
            <a:pPr algn="ctr" indent="0" marL="0">
              <a:buNone/>
            </a:pPr>
            <a:r>
              <a:rPr lang="en-US" sz="1800" b="1" dirty="0">
                <a:solidFill>
                  <a:srgbClr val="C9A227"/>
                </a:solidFill>
                <a:latin typeface="Arial" pitchFamily="34" charset="0"/>
                <a:ea typeface="Arial" pitchFamily="34" charset="-122"/>
                <a:cs typeface="Arial" pitchFamily="34" charset="-120"/>
              </a:rPr>
              <a:t>03</a:t>
            </a:r>
            <a:endParaRPr lang="en-US" sz="1800" dirty="0"/>
          </a:p>
        </p:txBody>
      </p:sp>
      <p:sp>
        <p:nvSpPr>
          <p:cNvPr id="24" name="Shape 22"/>
          <p:cNvSpPr/>
          <p:nvPr/>
        </p:nvSpPr>
        <p:spPr>
          <a:xfrm>
            <a:off x="5751576" y="1737360"/>
            <a:ext cx="1435608" cy="1920240"/>
          </a:xfrm>
          <a:prstGeom prst="rect">
            <a:avLst/>
          </a:prstGeom>
          <a:solidFill>
            <a:srgbClr val="FFFFFF"/>
          </a:solidFill>
          <a:ln w="9525">
            <a:solidFill>
              <a:srgbClr val="C8C8C8"/>
            </a:solidFill>
            <a:prstDash val="solid"/>
          </a:ln>
        </p:spPr>
      </p:sp>
      <p:sp>
        <p:nvSpPr>
          <p:cNvPr id="25" name="Text 23"/>
          <p:cNvSpPr/>
          <p:nvPr/>
        </p:nvSpPr>
        <p:spPr>
          <a:xfrm>
            <a:off x="5824728" y="1920240"/>
            <a:ext cx="1298448" cy="868680"/>
          </a:xfrm>
          <a:prstGeom prst="rect">
            <a:avLst/>
          </a:prstGeom>
          <a:noFill/>
          <a:ln/>
        </p:spPr>
        <p:txBody>
          <a:bodyPr wrap="square" lIns="0" tIns="0" rIns="0" bIns="0" rtlCol="0" anchor="ctr"/>
          <a:lstStyle/>
          <a:p>
            <a:pPr indent="0" marL="0">
              <a:buNone/>
            </a:pPr>
            <a:r>
              <a:rPr lang="en-US" sz="1050" b="1" dirty="0">
                <a:solidFill>
                  <a:srgbClr val="16324F"/>
                </a:solidFill>
                <a:latin typeface="Yu Gothic" pitchFamily="34" charset="0"/>
                <a:ea typeface="Yu Gothic" pitchFamily="34" charset="-122"/>
                <a:cs typeface="Yu Gothic" pitchFamily="34" charset="-120"/>
              </a:rPr>
              <a:t>スロットダイ塗工</a:t>
            </a:r>
            <a:endParaRPr lang="en-US" sz="1050" dirty="0"/>
          </a:p>
        </p:txBody>
      </p:sp>
      <p:sp>
        <p:nvSpPr>
          <p:cNvPr id="26" name="Text 24"/>
          <p:cNvSpPr/>
          <p:nvPr/>
        </p:nvSpPr>
        <p:spPr>
          <a:xfrm>
            <a:off x="5824728" y="2834640"/>
            <a:ext cx="1298448" cy="731520"/>
          </a:xfrm>
          <a:prstGeom prst="rect">
            <a:avLst/>
          </a:prstGeom>
          <a:noFill/>
          <a:ln/>
        </p:spPr>
        <p:txBody>
          <a:bodyPr wrap="square" lIns="0" tIns="0" rIns="0" bIns="0" rtlCol="0" anchor="ctr"/>
          <a:lstStyle/>
          <a:p>
            <a:pPr indent="0" marL="0">
              <a:buNone/>
            </a:pPr>
            <a:r>
              <a:rPr lang="en-US" sz="850" dirty="0">
                <a:solidFill>
                  <a:srgbClr val="5A5A5A"/>
                </a:solidFill>
                <a:latin typeface="Yu Gothic" pitchFamily="34" charset="0"/>
                <a:ea typeface="Yu Gothic" pitchFamily="34" charset="-122"/>
                <a:cs typeface="Yu Gothic" pitchFamily="34" charset="-120"/>
              </a:rPr>
              <a:t>±2~3% 偏差</a:t>
            </a:r>
            <a:endParaRPr lang="en-US" sz="850" dirty="0"/>
          </a:p>
        </p:txBody>
      </p:sp>
      <p:sp>
        <p:nvSpPr>
          <p:cNvPr id="27" name="Shape 25"/>
          <p:cNvSpPr/>
          <p:nvPr/>
        </p:nvSpPr>
        <p:spPr>
          <a:xfrm>
            <a:off x="7370064" y="1737360"/>
            <a:ext cx="685800" cy="1920240"/>
          </a:xfrm>
          <a:prstGeom prst="rect">
            <a:avLst/>
          </a:prstGeom>
          <a:solidFill>
            <a:srgbClr val="16324F"/>
          </a:solidFill>
          <a:ln/>
        </p:spPr>
      </p:sp>
      <p:sp>
        <p:nvSpPr>
          <p:cNvPr id="28" name="Text 26"/>
          <p:cNvSpPr/>
          <p:nvPr/>
        </p:nvSpPr>
        <p:spPr>
          <a:xfrm>
            <a:off x="7370064" y="1737360"/>
            <a:ext cx="685800" cy="1920240"/>
          </a:xfrm>
          <a:prstGeom prst="rect">
            <a:avLst/>
          </a:prstGeom>
          <a:noFill/>
          <a:ln/>
        </p:spPr>
        <p:txBody>
          <a:bodyPr wrap="square" lIns="0" tIns="0" rIns="0" bIns="0" rtlCol="0" anchor="ctr"/>
          <a:lstStyle/>
          <a:p>
            <a:pPr algn="ctr" indent="0" marL="0">
              <a:buNone/>
            </a:pPr>
            <a:r>
              <a:rPr lang="en-US" sz="1800" b="1" dirty="0">
                <a:solidFill>
                  <a:srgbClr val="C9A227"/>
                </a:solidFill>
                <a:latin typeface="Arial" pitchFamily="34" charset="0"/>
                <a:ea typeface="Arial" pitchFamily="34" charset="-122"/>
                <a:cs typeface="Arial" pitchFamily="34" charset="-120"/>
              </a:rPr>
              <a:t>04</a:t>
            </a:r>
            <a:endParaRPr lang="en-US" sz="1800" dirty="0"/>
          </a:p>
        </p:txBody>
      </p:sp>
      <p:sp>
        <p:nvSpPr>
          <p:cNvPr id="29" name="Shape 27"/>
          <p:cNvSpPr/>
          <p:nvPr/>
        </p:nvSpPr>
        <p:spPr>
          <a:xfrm>
            <a:off x="8055864" y="1737360"/>
            <a:ext cx="1435608" cy="1920240"/>
          </a:xfrm>
          <a:prstGeom prst="rect">
            <a:avLst/>
          </a:prstGeom>
          <a:solidFill>
            <a:srgbClr val="FFFFFF"/>
          </a:solidFill>
          <a:ln w="9525">
            <a:solidFill>
              <a:srgbClr val="C8C8C8"/>
            </a:solidFill>
            <a:prstDash val="solid"/>
          </a:ln>
        </p:spPr>
      </p:sp>
      <p:sp>
        <p:nvSpPr>
          <p:cNvPr id="30" name="Text 28"/>
          <p:cNvSpPr/>
          <p:nvPr/>
        </p:nvSpPr>
        <p:spPr>
          <a:xfrm>
            <a:off x="8129016" y="1920240"/>
            <a:ext cx="1298448" cy="868680"/>
          </a:xfrm>
          <a:prstGeom prst="rect">
            <a:avLst/>
          </a:prstGeom>
          <a:noFill/>
          <a:ln/>
        </p:spPr>
        <p:txBody>
          <a:bodyPr wrap="square" lIns="0" tIns="0" rIns="0" bIns="0" rtlCol="0" anchor="ctr"/>
          <a:lstStyle/>
          <a:p>
            <a:pPr indent="0" marL="0">
              <a:buNone/>
            </a:pPr>
            <a:r>
              <a:rPr lang="en-US" sz="1050" b="1" dirty="0">
                <a:solidFill>
                  <a:srgbClr val="16324F"/>
                </a:solidFill>
                <a:latin typeface="Yu Gothic" pitchFamily="34" charset="0"/>
                <a:ea typeface="Yu Gothic" pitchFamily="34" charset="-122"/>
                <a:cs typeface="Yu Gothic" pitchFamily="34" charset="-120"/>
              </a:rPr>
              <a:t>多段乾燥</a:t>
            </a:r>
            <a:endParaRPr lang="en-US" sz="1050" dirty="0"/>
          </a:p>
        </p:txBody>
      </p:sp>
      <p:sp>
        <p:nvSpPr>
          <p:cNvPr id="31" name="Text 29"/>
          <p:cNvSpPr/>
          <p:nvPr/>
        </p:nvSpPr>
        <p:spPr>
          <a:xfrm>
            <a:off x="8129016" y="2834640"/>
            <a:ext cx="1298448" cy="731520"/>
          </a:xfrm>
          <a:prstGeom prst="rect">
            <a:avLst/>
          </a:prstGeom>
          <a:noFill/>
          <a:ln/>
        </p:spPr>
        <p:txBody>
          <a:bodyPr wrap="square" lIns="0" tIns="0" rIns="0" bIns="0" rtlCol="0" anchor="ctr"/>
          <a:lstStyle/>
          <a:p>
            <a:pPr indent="0" marL="0">
              <a:buNone/>
            </a:pPr>
            <a:r>
              <a:rPr lang="en-US" sz="850" dirty="0">
                <a:solidFill>
                  <a:srgbClr val="5A5A5A"/>
                </a:solidFill>
                <a:latin typeface="Yu Gothic" pitchFamily="34" charset="0"/>
                <a:ea typeface="Yu Gothic" pitchFamily="34" charset="-122"/>
                <a:cs typeface="Yu Gothic" pitchFamily="34" charset="-120"/>
              </a:rPr>
              <a:t>25→50→80°C · 特許</a:t>
            </a:r>
            <a:endParaRPr lang="en-US" sz="850" dirty="0"/>
          </a:p>
        </p:txBody>
      </p:sp>
      <p:sp>
        <p:nvSpPr>
          <p:cNvPr id="32" name="Shape 30"/>
          <p:cNvSpPr/>
          <p:nvPr/>
        </p:nvSpPr>
        <p:spPr>
          <a:xfrm>
            <a:off x="9674352" y="1737360"/>
            <a:ext cx="685800" cy="1920240"/>
          </a:xfrm>
          <a:prstGeom prst="rect">
            <a:avLst/>
          </a:prstGeom>
          <a:solidFill>
            <a:srgbClr val="16324F"/>
          </a:solidFill>
          <a:ln/>
        </p:spPr>
      </p:sp>
      <p:sp>
        <p:nvSpPr>
          <p:cNvPr id="33" name="Text 31"/>
          <p:cNvSpPr/>
          <p:nvPr/>
        </p:nvSpPr>
        <p:spPr>
          <a:xfrm>
            <a:off x="9674352" y="1737360"/>
            <a:ext cx="685800" cy="1920240"/>
          </a:xfrm>
          <a:prstGeom prst="rect">
            <a:avLst/>
          </a:prstGeom>
          <a:noFill/>
          <a:ln/>
        </p:spPr>
        <p:txBody>
          <a:bodyPr wrap="square" lIns="0" tIns="0" rIns="0" bIns="0" rtlCol="0" anchor="ctr"/>
          <a:lstStyle/>
          <a:p>
            <a:pPr algn="ctr" indent="0" marL="0">
              <a:buNone/>
            </a:pPr>
            <a:r>
              <a:rPr lang="en-US" sz="1800" b="1" dirty="0">
                <a:solidFill>
                  <a:srgbClr val="C9A227"/>
                </a:solidFill>
                <a:latin typeface="Arial" pitchFamily="34" charset="0"/>
                <a:ea typeface="Arial" pitchFamily="34" charset="-122"/>
                <a:cs typeface="Arial" pitchFamily="34" charset="-120"/>
              </a:rPr>
              <a:t>05</a:t>
            </a:r>
            <a:endParaRPr lang="en-US" sz="1800" dirty="0"/>
          </a:p>
        </p:txBody>
      </p:sp>
      <p:sp>
        <p:nvSpPr>
          <p:cNvPr id="34" name="Shape 32"/>
          <p:cNvSpPr/>
          <p:nvPr/>
        </p:nvSpPr>
        <p:spPr>
          <a:xfrm>
            <a:off x="10360152" y="1737360"/>
            <a:ext cx="1435608" cy="1920240"/>
          </a:xfrm>
          <a:prstGeom prst="rect">
            <a:avLst/>
          </a:prstGeom>
          <a:solidFill>
            <a:srgbClr val="FFFFFF"/>
          </a:solidFill>
          <a:ln w="9525">
            <a:solidFill>
              <a:srgbClr val="C8C8C8"/>
            </a:solidFill>
            <a:prstDash val="solid"/>
          </a:ln>
        </p:spPr>
      </p:sp>
      <p:sp>
        <p:nvSpPr>
          <p:cNvPr id="35" name="Text 33"/>
          <p:cNvSpPr/>
          <p:nvPr/>
        </p:nvSpPr>
        <p:spPr>
          <a:xfrm>
            <a:off x="10433304" y="1920240"/>
            <a:ext cx="1298448" cy="868680"/>
          </a:xfrm>
          <a:prstGeom prst="rect">
            <a:avLst/>
          </a:prstGeom>
          <a:noFill/>
          <a:ln/>
        </p:spPr>
        <p:txBody>
          <a:bodyPr wrap="square" lIns="0" tIns="0" rIns="0" bIns="0" rtlCol="0" anchor="ctr"/>
          <a:lstStyle/>
          <a:p>
            <a:pPr indent="0" marL="0">
              <a:buNone/>
            </a:pPr>
            <a:r>
              <a:rPr lang="en-US" sz="1050" b="1" dirty="0">
                <a:solidFill>
                  <a:srgbClr val="16324F"/>
                </a:solidFill>
                <a:latin typeface="Yu Gothic" pitchFamily="34" charset="0"/>
                <a:ea typeface="Yu Gothic" pitchFamily="34" charset="-122"/>
                <a:cs typeface="Yu Gothic" pitchFamily="34" charset="-120"/>
              </a:rPr>
              <a:t>カレンダリング</a:t>
            </a:r>
            <a:endParaRPr lang="en-US" sz="1050" dirty="0"/>
          </a:p>
        </p:txBody>
      </p:sp>
      <p:sp>
        <p:nvSpPr>
          <p:cNvPr id="36" name="Text 34"/>
          <p:cNvSpPr/>
          <p:nvPr/>
        </p:nvSpPr>
        <p:spPr>
          <a:xfrm>
            <a:off x="10433304" y="2834640"/>
            <a:ext cx="1298448" cy="731520"/>
          </a:xfrm>
          <a:prstGeom prst="rect">
            <a:avLst/>
          </a:prstGeom>
          <a:noFill/>
          <a:ln/>
        </p:spPr>
        <p:txBody>
          <a:bodyPr wrap="square" lIns="0" tIns="0" rIns="0" bIns="0" rtlCol="0" anchor="ctr"/>
          <a:lstStyle/>
          <a:p>
            <a:pPr indent="0" marL="0">
              <a:buNone/>
            </a:pPr>
            <a:r>
              <a:rPr lang="en-US" sz="850" dirty="0">
                <a:solidFill>
                  <a:srgbClr val="5A5A5A"/>
                </a:solidFill>
                <a:latin typeface="Yu Gothic" pitchFamily="34" charset="0"/>
                <a:ea typeface="Yu Gothic" pitchFamily="34" charset="-122"/>
                <a:cs typeface="Yu Gothic" pitchFamily="34" charset="-120"/>
              </a:rPr>
              <a:t>空隙率を最適化</a:t>
            </a:r>
            <a:endParaRPr lang="en-US" sz="850" dirty="0"/>
          </a:p>
        </p:txBody>
      </p:sp>
      <p:sp>
        <p:nvSpPr>
          <p:cNvPr id="37" name="Shape 35"/>
          <p:cNvSpPr/>
          <p:nvPr/>
        </p:nvSpPr>
        <p:spPr>
          <a:xfrm>
            <a:off x="457200" y="3886200"/>
            <a:ext cx="685800" cy="1920240"/>
          </a:xfrm>
          <a:prstGeom prst="rect">
            <a:avLst/>
          </a:prstGeom>
          <a:solidFill>
            <a:srgbClr val="16324F"/>
          </a:solidFill>
          <a:ln/>
        </p:spPr>
      </p:sp>
      <p:sp>
        <p:nvSpPr>
          <p:cNvPr id="38" name="Text 36"/>
          <p:cNvSpPr/>
          <p:nvPr/>
        </p:nvSpPr>
        <p:spPr>
          <a:xfrm>
            <a:off x="457200" y="3886200"/>
            <a:ext cx="685800" cy="1920240"/>
          </a:xfrm>
          <a:prstGeom prst="rect">
            <a:avLst/>
          </a:prstGeom>
          <a:noFill/>
          <a:ln/>
        </p:spPr>
        <p:txBody>
          <a:bodyPr wrap="square" lIns="0" tIns="0" rIns="0" bIns="0" rtlCol="0" anchor="ctr"/>
          <a:lstStyle/>
          <a:p>
            <a:pPr algn="ctr" indent="0" marL="0">
              <a:buNone/>
            </a:pPr>
            <a:r>
              <a:rPr lang="en-US" sz="1800" b="1" dirty="0">
                <a:solidFill>
                  <a:srgbClr val="C9A227"/>
                </a:solidFill>
                <a:latin typeface="Arial" pitchFamily="34" charset="0"/>
                <a:ea typeface="Arial" pitchFamily="34" charset="-122"/>
                <a:cs typeface="Arial" pitchFamily="34" charset="-120"/>
              </a:rPr>
              <a:t>06</a:t>
            </a:r>
            <a:endParaRPr lang="en-US" sz="1800" dirty="0"/>
          </a:p>
        </p:txBody>
      </p:sp>
      <p:sp>
        <p:nvSpPr>
          <p:cNvPr id="39" name="Shape 37"/>
          <p:cNvSpPr/>
          <p:nvPr/>
        </p:nvSpPr>
        <p:spPr>
          <a:xfrm>
            <a:off x="1143000" y="3886200"/>
            <a:ext cx="1435608" cy="1920240"/>
          </a:xfrm>
          <a:prstGeom prst="rect">
            <a:avLst/>
          </a:prstGeom>
          <a:solidFill>
            <a:srgbClr val="FFFFFF"/>
          </a:solidFill>
          <a:ln w="9525">
            <a:solidFill>
              <a:srgbClr val="C8C8C8"/>
            </a:solidFill>
            <a:prstDash val="solid"/>
          </a:ln>
        </p:spPr>
      </p:sp>
      <p:sp>
        <p:nvSpPr>
          <p:cNvPr id="40" name="Text 38"/>
          <p:cNvSpPr/>
          <p:nvPr/>
        </p:nvSpPr>
        <p:spPr>
          <a:xfrm>
            <a:off x="1216152" y="4069080"/>
            <a:ext cx="1298448" cy="868680"/>
          </a:xfrm>
          <a:prstGeom prst="rect">
            <a:avLst/>
          </a:prstGeom>
          <a:noFill/>
          <a:ln/>
        </p:spPr>
        <p:txBody>
          <a:bodyPr wrap="square" lIns="0" tIns="0" rIns="0" bIns="0" rtlCol="0" anchor="ctr"/>
          <a:lstStyle/>
          <a:p>
            <a:pPr indent="0" marL="0">
              <a:buNone/>
            </a:pPr>
            <a:r>
              <a:rPr lang="en-US" sz="1050" b="1" dirty="0">
                <a:solidFill>
                  <a:srgbClr val="16324F"/>
                </a:solidFill>
                <a:latin typeface="Yu Gothic" pitchFamily="34" charset="0"/>
                <a:ea typeface="Yu Gothic" pitchFamily="34" charset="-122"/>
                <a:cs typeface="Yu Gothic" pitchFamily="34" charset="-120"/>
              </a:rPr>
              <a:t>スリッティング / ノッチング</a:t>
            </a:r>
            <a:endParaRPr lang="en-US" sz="1050" dirty="0"/>
          </a:p>
        </p:txBody>
      </p:sp>
      <p:sp>
        <p:nvSpPr>
          <p:cNvPr id="41" name="Text 39"/>
          <p:cNvSpPr/>
          <p:nvPr/>
        </p:nvSpPr>
        <p:spPr>
          <a:xfrm>
            <a:off x="1216152" y="4983480"/>
            <a:ext cx="1298448" cy="731520"/>
          </a:xfrm>
          <a:prstGeom prst="rect">
            <a:avLst/>
          </a:prstGeom>
          <a:noFill/>
          <a:ln/>
        </p:spPr>
        <p:txBody>
          <a:bodyPr wrap="square" lIns="0" tIns="0" rIns="0" bIns="0" rtlCol="0" anchor="ctr"/>
          <a:lstStyle/>
          <a:p>
            <a:pPr indent="0" marL="0">
              <a:buNone/>
            </a:pPr>
            <a:r>
              <a:rPr lang="en-US" sz="850" dirty="0">
                <a:solidFill>
                  <a:srgbClr val="5A5A5A"/>
                </a:solidFill>
                <a:latin typeface="Yu Gothic" pitchFamily="34" charset="0"/>
                <a:ea typeface="Yu Gothic" pitchFamily="34" charset="-122"/>
                <a:cs typeface="Yu Gothic" pitchFamily="34" charset="-120"/>
              </a:rPr>
              <a:t>バリを最小化</a:t>
            </a:r>
            <a:endParaRPr lang="en-US" sz="850" dirty="0"/>
          </a:p>
        </p:txBody>
      </p:sp>
      <p:sp>
        <p:nvSpPr>
          <p:cNvPr id="42" name="Shape 40"/>
          <p:cNvSpPr/>
          <p:nvPr/>
        </p:nvSpPr>
        <p:spPr>
          <a:xfrm>
            <a:off x="2761488" y="3886200"/>
            <a:ext cx="685800" cy="1920240"/>
          </a:xfrm>
          <a:prstGeom prst="rect">
            <a:avLst/>
          </a:prstGeom>
          <a:solidFill>
            <a:srgbClr val="16324F"/>
          </a:solidFill>
          <a:ln/>
        </p:spPr>
      </p:sp>
      <p:sp>
        <p:nvSpPr>
          <p:cNvPr id="43" name="Text 41"/>
          <p:cNvSpPr/>
          <p:nvPr/>
        </p:nvSpPr>
        <p:spPr>
          <a:xfrm>
            <a:off x="2761488" y="3886200"/>
            <a:ext cx="685800" cy="1920240"/>
          </a:xfrm>
          <a:prstGeom prst="rect">
            <a:avLst/>
          </a:prstGeom>
          <a:noFill/>
          <a:ln/>
        </p:spPr>
        <p:txBody>
          <a:bodyPr wrap="square" lIns="0" tIns="0" rIns="0" bIns="0" rtlCol="0" anchor="ctr"/>
          <a:lstStyle/>
          <a:p>
            <a:pPr algn="ctr" indent="0" marL="0">
              <a:buNone/>
            </a:pPr>
            <a:r>
              <a:rPr lang="en-US" sz="1800" b="1" dirty="0">
                <a:solidFill>
                  <a:srgbClr val="C9A227"/>
                </a:solidFill>
                <a:latin typeface="Arial" pitchFamily="34" charset="0"/>
                <a:ea typeface="Arial" pitchFamily="34" charset="-122"/>
                <a:cs typeface="Arial" pitchFamily="34" charset="-120"/>
              </a:rPr>
              <a:t>07</a:t>
            </a:r>
            <a:endParaRPr lang="en-US" sz="1800" dirty="0"/>
          </a:p>
        </p:txBody>
      </p:sp>
      <p:sp>
        <p:nvSpPr>
          <p:cNvPr id="44" name="Shape 42"/>
          <p:cNvSpPr/>
          <p:nvPr/>
        </p:nvSpPr>
        <p:spPr>
          <a:xfrm>
            <a:off x="3447288" y="3886200"/>
            <a:ext cx="1435608" cy="1920240"/>
          </a:xfrm>
          <a:prstGeom prst="rect">
            <a:avLst/>
          </a:prstGeom>
          <a:solidFill>
            <a:srgbClr val="FFFFFF"/>
          </a:solidFill>
          <a:ln w="9525">
            <a:solidFill>
              <a:srgbClr val="C8C8C8"/>
            </a:solidFill>
            <a:prstDash val="solid"/>
          </a:ln>
        </p:spPr>
      </p:sp>
      <p:sp>
        <p:nvSpPr>
          <p:cNvPr id="45" name="Text 43"/>
          <p:cNvSpPr/>
          <p:nvPr/>
        </p:nvSpPr>
        <p:spPr>
          <a:xfrm>
            <a:off x="3520440" y="4069080"/>
            <a:ext cx="1298448" cy="868680"/>
          </a:xfrm>
          <a:prstGeom prst="rect">
            <a:avLst/>
          </a:prstGeom>
          <a:noFill/>
          <a:ln/>
        </p:spPr>
        <p:txBody>
          <a:bodyPr wrap="square" lIns="0" tIns="0" rIns="0" bIns="0" rtlCol="0" anchor="ctr"/>
          <a:lstStyle/>
          <a:p>
            <a:pPr indent="0" marL="0">
              <a:buNone/>
            </a:pPr>
            <a:r>
              <a:rPr lang="en-US" sz="1050" b="1" dirty="0">
                <a:solidFill>
                  <a:srgbClr val="16324F"/>
                </a:solidFill>
                <a:latin typeface="Yu Gothic" pitchFamily="34" charset="0"/>
                <a:ea typeface="Yu Gothic" pitchFamily="34" charset="-122"/>
                <a:cs typeface="Yu Gothic" pitchFamily="34" charset="-120"/>
              </a:rPr>
              <a:t>セル組立</a:t>
            </a:r>
            <a:endParaRPr lang="en-US" sz="1050" dirty="0"/>
          </a:p>
        </p:txBody>
      </p:sp>
      <p:sp>
        <p:nvSpPr>
          <p:cNvPr id="46" name="Text 44"/>
          <p:cNvSpPr/>
          <p:nvPr/>
        </p:nvSpPr>
        <p:spPr>
          <a:xfrm>
            <a:off x="3520440" y="4983480"/>
            <a:ext cx="1298448" cy="731520"/>
          </a:xfrm>
          <a:prstGeom prst="rect">
            <a:avLst/>
          </a:prstGeom>
          <a:noFill/>
          <a:ln/>
        </p:spPr>
        <p:txBody>
          <a:bodyPr wrap="square" lIns="0" tIns="0" rIns="0" bIns="0" rtlCol="0" anchor="ctr"/>
          <a:lstStyle/>
          <a:p>
            <a:pPr indent="0" marL="0">
              <a:buNone/>
            </a:pPr>
            <a:r>
              <a:rPr lang="en-US" sz="850" dirty="0">
                <a:solidFill>
                  <a:srgbClr val="5A5A5A"/>
                </a:solidFill>
                <a:latin typeface="Yu Gothic" pitchFamily="34" charset="0"/>
                <a:ea typeface="Yu Gothic" pitchFamily="34" charset="-122"/>
                <a:cs typeface="Yu Gothic" pitchFamily="34" charset="-120"/>
              </a:rPr>
              <a:t>捲回 / 積層</a:t>
            </a:r>
            <a:endParaRPr lang="en-US" sz="850" dirty="0"/>
          </a:p>
        </p:txBody>
      </p:sp>
      <p:sp>
        <p:nvSpPr>
          <p:cNvPr id="47" name="Shape 45"/>
          <p:cNvSpPr/>
          <p:nvPr/>
        </p:nvSpPr>
        <p:spPr>
          <a:xfrm>
            <a:off x="5065776" y="3886200"/>
            <a:ext cx="685800" cy="1920240"/>
          </a:xfrm>
          <a:prstGeom prst="rect">
            <a:avLst/>
          </a:prstGeom>
          <a:solidFill>
            <a:srgbClr val="16324F"/>
          </a:solidFill>
          <a:ln/>
        </p:spPr>
      </p:sp>
      <p:sp>
        <p:nvSpPr>
          <p:cNvPr id="48" name="Text 46"/>
          <p:cNvSpPr/>
          <p:nvPr/>
        </p:nvSpPr>
        <p:spPr>
          <a:xfrm>
            <a:off x="5065776" y="3886200"/>
            <a:ext cx="685800" cy="1920240"/>
          </a:xfrm>
          <a:prstGeom prst="rect">
            <a:avLst/>
          </a:prstGeom>
          <a:noFill/>
          <a:ln/>
        </p:spPr>
        <p:txBody>
          <a:bodyPr wrap="square" lIns="0" tIns="0" rIns="0" bIns="0" rtlCol="0" anchor="ctr"/>
          <a:lstStyle/>
          <a:p>
            <a:pPr algn="ctr" indent="0" marL="0">
              <a:buNone/>
            </a:pPr>
            <a:r>
              <a:rPr lang="en-US" sz="1800" b="1" dirty="0">
                <a:solidFill>
                  <a:srgbClr val="C9A227"/>
                </a:solidFill>
                <a:latin typeface="Arial" pitchFamily="34" charset="0"/>
                <a:ea typeface="Arial" pitchFamily="34" charset="-122"/>
                <a:cs typeface="Arial" pitchFamily="34" charset="-120"/>
              </a:rPr>
              <a:t>08</a:t>
            </a:r>
            <a:endParaRPr lang="en-US" sz="1800" dirty="0"/>
          </a:p>
        </p:txBody>
      </p:sp>
      <p:sp>
        <p:nvSpPr>
          <p:cNvPr id="49" name="Shape 47"/>
          <p:cNvSpPr/>
          <p:nvPr/>
        </p:nvSpPr>
        <p:spPr>
          <a:xfrm>
            <a:off x="5751576" y="3886200"/>
            <a:ext cx="1435608" cy="1920240"/>
          </a:xfrm>
          <a:prstGeom prst="rect">
            <a:avLst/>
          </a:prstGeom>
          <a:solidFill>
            <a:srgbClr val="FFFFFF"/>
          </a:solidFill>
          <a:ln w="9525">
            <a:solidFill>
              <a:srgbClr val="C8C8C8"/>
            </a:solidFill>
            <a:prstDash val="solid"/>
          </a:ln>
        </p:spPr>
      </p:sp>
      <p:sp>
        <p:nvSpPr>
          <p:cNvPr id="50" name="Text 48"/>
          <p:cNvSpPr/>
          <p:nvPr/>
        </p:nvSpPr>
        <p:spPr>
          <a:xfrm>
            <a:off x="5824728" y="4069080"/>
            <a:ext cx="1298448" cy="868680"/>
          </a:xfrm>
          <a:prstGeom prst="rect">
            <a:avLst/>
          </a:prstGeom>
          <a:noFill/>
          <a:ln/>
        </p:spPr>
        <p:txBody>
          <a:bodyPr wrap="square" lIns="0" tIns="0" rIns="0" bIns="0" rtlCol="0" anchor="ctr"/>
          <a:lstStyle/>
          <a:p>
            <a:pPr indent="0" marL="0">
              <a:buNone/>
            </a:pPr>
            <a:r>
              <a:rPr lang="en-US" sz="1050" b="1" dirty="0">
                <a:solidFill>
                  <a:srgbClr val="16324F"/>
                </a:solidFill>
                <a:latin typeface="Yu Gothic" pitchFamily="34" charset="0"/>
                <a:ea typeface="Yu Gothic" pitchFamily="34" charset="-122"/>
                <a:cs typeface="Yu Gothic" pitchFamily="34" charset="-120"/>
              </a:rPr>
              <a:t>電解質注入</a:t>
            </a:r>
            <a:endParaRPr lang="en-US" sz="1050" dirty="0"/>
          </a:p>
        </p:txBody>
      </p:sp>
      <p:sp>
        <p:nvSpPr>
          <p:cNvPr id="51" name="Text 49"/>
          <p:cNvSpPr/>
          <p:nvPr/>
        </p:nvSpPr>
        <p:spPr>
          <a:xfrm>
            <a:off x="5824728" y="4983480"/>
            <a:ext cx="1298448" cy="731520"/>
          </a:xfrm>
          <a:prstGeom prst="rect">
            <a:avLst/>
          </a:prstGeom>
          <a:noFill/>
          <a:ln/>
        </p:spPr>
        <p:txBody>
          <a:bodyPr wrap="square" lIns="0" tIns="0" rIns="0" bIns="0" rtlCol="0" anchor="ctr"/>
          <a:lstStyle/>
          <a:p>
            <a:pPr indent="0" marL="0">
              <a:buNone/>
            </a:pPr>
            <a:r>
              <a:rPr lang="en-US" sz="850" dirty="0">
                <a:solidFill>
                  <a:srgbClr val="5A5A5A"/>
                </a:solidFill>
                <a:latin typeface="Yu Gothic" pitchFamily="34" charset="0"/>
                <a:ea typeface="Yu Gothic" pitchFamily="34" charset="-122"/>
                <a:cs typeface="Yu Gothic" pitchFamily="34" charset="-120"/>
              </a:rPr>
              <a:t>真空充填</a:t>
            </a:r>
            <a:endParaRPr lang="en-US" sz="850" dirty="0"/>
          </a:p>
        </p:txBody>
      </p:sp>
      <p:sp>
        <p:nvSpPr>
          <p:cNvPr id="52" name="Shape 50"/>
          <p:cNvSpPr/>
          <p:nvPr/>
        </p:nvSpPr>
        <p:spPr>
          <a:xfrm>
            <a:off x="7370064" y="3886200"/>
            <a:ext cx="685800" cy="1920240"/>
          </a:xfrm>
          <a:prstGeom prst="rect">
            <a:avLst/>
          </a:prstGeom>
          <a:solidFill>
            <a:srgbClr val="16324F"/>
          </a:solidFill>
          <a:ln/>
        </p:spPr>
      </p:sp>
      <p:sp>
        <p:nvSpPr>
          <p:cNvPr id="53" name="Text 51"/>
          <p:cNvSpPr/>
          <p:nvPr/>
        </p:nvSpPr>
        <p:spPr>
          <a:xfrm>
            <a:off x="7370064" y="3886200"/>
            <a:ext cx="685800" cy="1920240"/>
          </a:xfrm>
          <a:prstGeom prst="rect">
            <a:avLst/>
          </a:prstGeom>
          <a:noFill/>
          <a:ln/>
        </p:spPr>
        <p:txBody>
          <a:bodyPr wrap="square" lIns="0" tIns="0" rIns="0" bIns="0" rtlCol="0" anchor="ctr"/>
          <a:lstStyle/>
          <a:p>
            <a:pPr algn="ctr" indent="0" marL="0">
              <a:buNone/>
            </a:pPr>
            <a:r>
              <a:rPr lang="en-US" sz="1800" b="1" dirty="0">
                <a:solidFill>
                  <a:srgbClr val="C9A227"/>
                </a:solidFill>
                <a:latin typeface="Arial" pitchFamily="34" charset="0"/>
                <a:ea typeface="Arial" pitchFamily="34" charset="-122"/>
                <a:cs typeface="Arial" pitchFamily="34" charset="-120"/>
              </a:rPr>
              <a:t>09</a:t>
            </a:r>
            <a:endParaRPr lang="en-US" sz="1800" dirty="0"/>
          </a:p>
        </p:txBody>
      </p:sp>
      <p:sp>
        <p:nvSpPr>
          <p:cNvPr id="54" name="Shape 52"/>
          <p:cNvSpPr/>
          <p:nvPr/>
        </p:nvSpPr>
        <p:spPr>
          <a:xfrm>
            <a:off x="8055864" y="3886200"/>
            <a:ext cx="1435608" cy="1920240"/>
          </a:xfrm>
          <a:prstGeom prst="rect">
            <a:avLst/>
          </a:prstGeom>
          <a:solidFill>
            <a:srgbClr val="FFFFFF"/>
          </a:solidFill>
          <a:ln w="9525">
            <a:solidFill>
              <a:srgbClr val="C8C8C8"/>
            </a:solidFill>
            <a:prstDash val="solid"/>
          </a:ln>
        </p:spPr>
      </p:sp>
      <p:sp>
        <p:nvSpPr>
          <p:cNvPr id="55" name="Text 53"/>
          <p:cNvSpPr/>
          <p:nvPr/>
        </p:nvSpPr>
        <p:spPr>
          <a:xfrm>
            <a:off x="8129016" y="4069080"/>
            <a:ext cx="1298448" cy="868680"/>
          </a:xfrm>
          <a:prstGeom prst="rect">
            <a:avLst/>
          </a:prstGeom>
          <a:noFill/>
          <a:ln/>
        </p:spPr>
        <p:txBody>
          <a:bodyPr wrap="square" lIns="0" tIns="0" rIns="0" bIns="0" rtlCol="0" anchor="ctr"/>
          <a:lstStyle/>
          <a:p>
            <a:pPr indent="0" marL="0">
              <a:buNone/>
            </a:pPr>
            <a:r>
              <a:rPr lang="en-US" sz="1050" b="1" dirty="0">
                <a:solidFill>
                  <a:srgbClr val="16324F"/>
                </a:solidFill>
                <a:latin typeface="Yu Gothic" pitchFamily="34" charset="0"/>
                <a:ea typeface="Yu Gothic" pitchFamily="34" charset="-122"/>
                <a:cs typeface="Yu Gothic" pitchFamily="34" charset="-120"/>
              </a:rPr>
              <a:t>化成</a:t>
            </a:r>
            <a:endParaRPr lang="en-US" sz="1050" dirty="0"/>
          </a:p>
        </p:txBody>
      </p:sp>
      <p:sp>
        <p:nvSpPr>
          <p:cNvPr id="56" name="Text 54"/>
          <p:cNvSpPr/>
          <p:nvPr/>
        </p:nvSpPr>
        <p:spPr>
          <a:xfrm>
            <a:off x="8129016" y="4983480"/>
            <a:ext cx="1298448" cy="731520"/>
          </a:xfrm>
          <a:prstGeom prst="rect">
            <a:avLst/>
          </a:prstGeom>
          <a:noFill/>
          <a:ln/>
        </p:spPr>
        <p:txBody>
          <a:bodyPr wrap="square" lIns="0" tIns="0" rIns="0" bIns="0" rtlCol="0" anchor="ctr"/>
          <a:lstStyle/>
          <a:p>
            <a:pPr indent="0" marL="0">
              <a:buNone/>
            </a:pPr>
            <a:r>
              <a:rPr lang="en-US" sz="850" dirty="0">
                <a:solidFill>
                  <a:srgbClr val="5A5A5A"/>
                </a:solidFill>
                <a:latin typeface="Yu Gothic" pitchFamily="34" charset="0"/>
                <a:ea typeface="Yu Gothic" pitchFamily="34" charset="-122"/>
                <a:cs typeface="Yu Gothic" pitchFamily="34" charset="-120"/>
              </a:rPr>
              <a:t>12時間(業界 48-72時間)</a:t>
            </a:r>
            <a:endParaRPr lang="en-US" sz="850" dirty="0"/>
          </a:p>
        </p:txBody>
      </p:sp>
      <p:sp>
        <p:nvSpPr>
          <p:cNvPr id="57" name="Shape 55"/>
          <p:cNvSpPr/>
          <p:nvPr/>
        </p:nvSpPr>
        <p:spPr>
          <a:xfrm>
            <a:off x="9674352" y="3886200"/>
            <a:ext cx="685800" cy="1920240"/>
          </a:xfrm>
          <a:prstGeom prst="rect">
            <a:avLst/>
          </a:prstGeom>
          <a:solidFill>
            <a:srgbClr val="16324F"/>
          </a:solidFill>
          <a:ln/>
        </p:spPr>
      </p:sp>
      <p:sp>
        <p:nvSpPr>
          <p:cNvPr id="58" name="Text 56"/>
          <p:cNvSpPr/>
          <p:nvPr/>
        </p:nvSpPr>
        <p:spPr>
          <a:xfrm>
            <a:off x="9674352" y="3886200"/>
            <a:ext cx="685800" cy="1920240"/>
          </a:xfrm>
          <a:prstGeom prst="rect">
            <a:avLst/>
          </a:prstGeom>
          <a:noFill/>
          <a:ln/>
        </p:spPr>
        <p:txBody>
          <a:bodyPr wrap="square" lIns="0" tIns="0" rIns="0" bIns="0" rtlCol="0" anchor="ctr"/>
          <a:lstStyle/>
          <a:p>
            <a:pPr algn="ctr" indent="0" marL="0">
              <a:buNone/>
            </a:pPr>
            <a:r>
              <a:rPr lang="en-US" sz="1800" b="1" dirty="0">
                <a:solidFill>
                  <a:srgbClr val="C9A227"/>
                </a:solidFill>
                <a:latin typeface="Arial" pitchFamily="34" charset="0"/>
                <a:ea typeface="Arial" pitchFamily="34" charset="-122"/>
                <a:cs typeface="Arial" pitchFamily="34" charset="-120"/>
              </a:rPr>
              <a:t>10</a:t>
            </a:r>
            <a:endParaRPr lang="en-US" sz="1800" dirty="0"/>
          </a:p>
        </p:txBody>
      </p:sp>
      <p:sp>
        <p:nvSpPr>
          <p:cNvPr id="59" name="Shape 57"/>
          <p:cNvSpPr/>
          <p:nvPr/>
        </p:nvSpPr>
        <p:spPr>
          <a:xfrm>
            <a:off x="10360152" y="3886200"/>
            <a:ext cx="1435608" cy="1920240"/>
          </a:xfrm>
          <a:prstGeom prst="rect">
            <a:avLst/>
          </a:prstGeom>
          <a:solidFill>
            <a:srgbClr val="FFFFFF"/>
          </a:solidFill>
          <a:ln w="9525">
            <a:solidFill>
              <a:srgbClr val="C8C8C8"/>
            </a:solidFill>
            <a:prstDash val="solid"/>
          </a:ln>
        </p:spPr>
      </p:sp>
      <p:sp>
        <p:nvSpPr>
          <p:cNvPr id="60" name="Text 58"/>
          <p:cNvSpPr/>
          <p:nvPr/>
        </p:nvSpPr>
        <p:spPr>
          <a:xfrm>
            <a:off x="10433304" y="4069080"/>
            <a:ext cx="1298448" cy="868680"/>
          </a:xfrm>
          <a:prstGeom prst="rect">
            <a:avLst/>
          </a:prstGeom>
          <a:noFill/>
          <a:ln/>
        </p:spPr>
        <p:txBody>
          <a:bodyPr wrap="square" lIns="0" tIns="0" rIns="0" bIns="0" rtlCol="0" anchor="ctr"/>
          <a:lstStyle/>
          <a:p>
            <a:pPr indent="0" marL="0">
              <a:buNone/>
            </a:pPr>
            <a:r>
              <a:rPr lang="en-US" sz="1050" b="1" dirty="0">
                <a:solidFill>
                  <a:srgbClr val="16324F"/>
                </a:solidFill>
                <a:latin typeface="Yu Gothic" pitchFamily="34" charset="0"/>
                <a:ea typeface="Yu Gothic" pitchFamily="34" charset="-122"/>
                <a:cs typeface="Yu Gothic" pitchFamily="34" charset="-120"/>
              </a:rPr>
              <a:t>エージング / 検査</a:t>
            </a:r>
            <a:endParaRPr lang="en-US" sz="1050" dirty="0"/>
          </a:p>
        </p:txBody>
      </p:sp>
      <p:sp>
        <p:nvSpPr>
          <p:cNvPr id="61" name="Text 59"/>
          <p:cNvSpPr/>
          <p:nvPr/>
        </p:nvSpPr>
        <p:spPr>
          <a:xfrm>
            <a:off x="10433304" y="4983480"/>
            <a:ext cx="1298448" cy="731520"/>
          </a:xfrm>
          <a:prstGeom prst="rect">
            <a:avLst/>
          </a:prstGeom>
          <a:noFill/>
          <a:ln/>
        </p:spPr>
        <p:txBody>
          <a:bodyPr wrap="square" lIns="0" tIns="0" rIns="0" bIns="0" rtlCol="0" anchor="ctr"/>
          <a:lstStyle/>
          <a:p>
            <a:pPr indent="0" marL="0">
              <a:buNone/>
            </a:pPr>
            <a:r>
              <a:rPr lang="en-US" sz="850" dirty="0">
                <a:solidFill>
                  <a:srgbClr val="5A5A5A"/>
                </a:solidFill>
                <a:latin typeface="Yu Gothic" pitchFamily="34" charset="0"/>
                <a:ea typeface="Yu Gothic" pitchFamily="34" charset="-122"/>
                <a:cs typeface="Yu Gothic" pitchFamily="34" charset="-120"/>
              </a:rPr>
              <a:t>高Cレート試験</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6.2 / 6.3  多段乾燥と階層的細孔</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39/55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多段乾燥(25→50→80°C 特許)と階層的細孔エンジニアリング</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Multi-Stage Drying · Hierarchical Pore Engineering</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645920"/>
            <a:ext cx="5394960" cy="457200"/>
          </a:xfrm>
          <a:prstGeom prst="rect">
            <a:avLst/>
          </a:prstGeom>
          <a:solidFill>
            <a:srgbClr val="16324F"/>
          </a:solidFill>
          <a:ln/>
        </p:spPr>
      </p:sp>
      <p:sp>
        <p:nvSpPr>
          <p:cNvPr id="13" name="Text 11"/>
          <p:cNvSpPr/>
          <p:nvPr/>
        </p:nvSpPr>
        <p:spPr>
          <a:xfrm>
            <a:off x="640080" y="1645920"/>
            <a:ext cx="5029200" cy="457200"/>
          </a:xfrm>
          <a:prstGeom prst="rect">
            <a:avLst/>
          </a:prstGeom>
          <a:noFill/>
          <a:ln/>
        </p:spPr>
        <p:txBody>
          <a:bodyPr wrap="square" lIns="0" tIns="0" rIns="0" bIns="0" rtlCol="0" anchor="ctr"/>
          <a:lstStyle/>
          <a:p>
            <a:pPr indent="0" marL="0">
              <a:buNone/>
            </a:pPr>
            <a:r>
              <a:rPr lang="en-US" sz="1150" b="1" dirty="0">
                <a:solidFill>
                  <a:srgbClr val="C9A227"/>
                </a:solidFill>
                <a:latin typeface="Yu Gothic" pitchFamily="34" charset="0"/>
                <a:ea typeface="Yu Gothic" pitchFamily="34" charset="-122"/>
                <a:cs typeface="Yu Gothic" pitchFamily="34" charset="-120"/>
              </a:rPr>
              <a:t>主要データ(Key Data)</a:t>
            </a:r>
            <a:endParaRPr lang="en-US" sz="1150" dirty="0"/>
          </a:p>
        </p:txBody>
      </p:sp>
      <p:sp>
        <p:nvSpPr>
          <p:cNvPr id="14" name="Shape 12"/>
          <p:cNvSpPr/>
          <p:nvPr/>
        </p:nvSpPr>
        <p:spPr>
          <a:xfrm>
            <a:off x="457200" y="2103120"/>
            <a:ext cx="5394960" cy="4023360"/>
          </a:xfrm>
          <a:prstGeom prst="rect">
            <a:avLst/>
          </a:prstGeom>
          <a:solidFill>
            <a:srgbClr val="FFFFFF"/>
          </a:solidFill>
          <a:ln w="9525">
            <a:solidFill>
              <a:srgbClr val="C8C8C8"/>
            </a:solidFill>
            <a:prstDash val="solid"/>
          </a:ln>
        </p:spPr>
      </p:sp>
      <p:sp>
        <p:nvSpPr>
          <p:cNvPr id="15" name="Text 13"/>
          <p:cNvSpPr/>
          <p:nvPr/>
        </p:nvSpPr>
        <p:spPr>
          <a:xfrm>
            <a:off x="731520" y="2240280"/>
            <a:ext cx="4846320" cy="274320"/>
          </a:xfrm>
          <a:prstGeom prst="rect">
            <a:avLst/>
          </a:prstGeom>
          <a:noFill/>
          <a:ln/>
        </p:spPr>
        <p:txBody>
          <a:bodyPr wrap="square" lIns="0" tIns="0" rIns="0" bIns="0" rtlCol="0" anchor="ctr"/>
          <a:lstStyle/>
          <a:p>
            <a:pPr indent="0" marL="0">
              <a:buNone/>
            </a:pPr>
            <a:r>
              <a:rPr lang="en-US" sz="1050" b="1" dirty="0">
                <a:solidFill>
                  <a:srgbClr val="B03A2E"/>
                </a:solidFill>
                <a:latin typeface="Yu Gothic" pitchFamily="34" charset="0"/>
                <a:ea typeface="Yu Gothic" pitchFamily="34" charset="-122"/>
                <a:cs typeface="Yu Gothic" pitchFamily="34" charset="-120"/>
              </a:rPr>
              <a:t>[単段80°C乾燥 — 失敗]</a:t>
            </a:r>
            <a:endParaRPr lang="en-US" sz="1050" dirty="0"/>
          </a:p>
        </p:txBody>
      </p:sp>
      <p:sp>
        <p:nvSpPr>
          <p:cNvPr id="16" name="Text 14"/>
          <p:cNvSpPr/>
          <p:nvPr/>
        </p:nvSpPr>
        <p:spPr>
          <a:xfrm>
            <a:off x="868680" y="2542032"/>
            <a:ext cx="4754880" cy="685800"/>
          </a:xfrm>
          <a:prstGeom prst="rect">
            <a:avLst/>
          </a:prstGeom>
          <a:noFill/>
          <a:ln/>
        </p:spPr>
        <p:txBody>
          <a:bodyPr wrap="square" lIns="0" tIns="0" rIns="0" bIns="0" rtlCol="0" anchor="t"/>
          <a:lstStyle/>
          <a:p>
            <a:pPr marL="342900" indent="-342900">
              <a:spcAft>
                <a:spcPts val="600"/>
              </a:spcAft>
              <a:buSzPct val="100000"/>
              <a:buChar char="•"/>
            </a:pPr>
            <a:r>
              <a:rPr lang="en-US" sz="950" dirty="0">
                <a:solidFill>
                  <a:srgbClr val="1A1A1A"/>
                </a:solidFill>
                <a:latin typeface="Yu Gothic" pitchFamily="34" charset="0"/>
                <a:ea typeface="Yu Gothic" pitchFamily="34" charset="-122"/>
                <a:cs typeface="Yu Gothic" pitchFamily="34" charset="-120"/>
              </a:rPr>
              <a:t>σ_cap = 5.4 MPa · σ_crit = 3 MPa(超過)</a:t>
            </a:r>
            <a:endParaRPr lang="en-US" sz="950" dirty="0"/>
          </a:p>
          <a:p>
            <a:pPr marL="342900" indent="-342900">
              <a:spcAft>
                <a:spcPts val="600"/>
              </a:spcAft>
              <a:buSzPct val="100000"/>
              <a:buChar char="•"/>
            </a:pPr>
            <a:r>
              <a:rPr lang="en-US" sz="950" dirty="0">
                <a:solidFill>
                  <a:srgbClr val="1A1A1A"/>
                </a:solidFill>
                <a:latin typeface="Yu Gothic" pitchFamily="34" charset="0"/>
                <a:ea typeface="Yu Gothic" pitchFamily="34" charset="-122"/>
                <a:cs typeface="Yu Gothic" pitchFamily="34" charset="-120"/>
              </a:rPr>
              <a:t>CIF = 4.2(泥割れ発生)· 空隙率 32%</a:t>
            </a:r>
            <a:endParaRPr lang="en-US" sz="950" dirty="0"/>
          </a:p>
        </p:txBody>
      </p:sp>
      <p:sp>
        <p:nvSpPr>
          <p:cNvPr id="17" name="Text 15"/>
          <p:cNvSpPr/>
          <p:nvPr/>
        </p:nvSpPr>
        <p:spPr>
          <a:xfrm>
            <a:off x="731520" y="3383280"/>
            <a:ext cx="4846320" cy="274320"/>
          </a:xfrm>
          <a:prstGeom prst="rect">
            <a:avLst/>
          </a:prstGeom>
          <a:noFill/>
          <a:ln/>
        </p:spPr>
        <p:txBody>
          <a:bodyPr wrap="square" lIns="0" tIns="0" rIns="0" bIns="0" rtlCol="0" anchor="ctr"/>
          <a:lstStyle/>
          <a:p>
            <a:pPr indent="0" marL="0">
              <a:buNone/>
            </a:pPr>
            <a:r>
              <a:rPr lang="en-US" sz="1050" b="1" dirty="0">
                <a:solidFill>
                  <a:srgbClr val="16324F"/>
                </a:solidFill>
                <a:latin typeface="Yu Gothic" pitchFamily="34" charset="0"/>
                <a:ea typeface="Yu Gothic" pitchFamily="34" charset="-122"/>
                <a:cs typeface="Yu Gothic" pitchFamily="34" charset="-120"/>
              </a:rPr>
              <a:t>[多段 25→50→80°C]</a:t>
            </a:r>
            <a:endParaRPr lang="en-US" sz="1050" dirty="0"/>
          </a:p>
        </p:txBody>
      </p:sp>
      <p:sp>
        <p:nvSpPr>
          <p:cNvPr id="18" name="Text 16"/>
          <p:cNvSpPr/>
          <p:nvPr/>
        </p:nvSpPr>
        <p:spPr>
          <a:xfrm>
            <a:off x="868680" y="3685032"/>
            <a:ext cx="4754880" cy="685800"/>
          </a:xfrm>
          <a:prstGeom prst="rect">
            <a:avLst/>
          </a:prstGeom>
          <a:noFill/>
          <a:ln/>
        </p:spPr>
        <p:txBody>
          <a:bodyPr wrap="square" lIns="0" tIns="0" rIns="0" bIns="0" rtlCol="0" anchor="t"/>
          <a:lstStyle/>
          <a:p>
            <a:pPr marL="342900" indent="-342900">
              <a:spcAft>
                <a:spcPts val="600"/>
              </a:spcAft>
              <a:buSzPct val="100000"/>
              <a:buChar char="•"/>
            </a:pPr>
            <a:r>
              <a:rPr lang="en-US" sz="950" dirty="0">
                <a:solidFill>
                  <a:srgbClr val="1A1A1A"/>
                </a:solidFill>
                <a:latin typeface="Yu Gothic" pitchFamily="34" charset="0"/>
                <a:ea typeface="Yu Gothic" pitchFamily="34" charset="-122"/>
                <a:cs typeface="Yu Gothic" pitchFamily="34" charset="-120"/>
              </a:rPr>
              <a:t>σ_cap = 2.6 MPa(安全域)</a:t>
            </a:r>
            <a:endParaRPr lang="en-US" sz="950" dirty="0"/>
          </a:p>
          <a:p>
            <a:pPr marL="342900" indent="-342900">
              <a:spcAft>
                <a:spcPts val="600"/>
              </a:spcAft>
              <a:buSzPct val="100000"/>
              <a:buChar char="•"/>
            </a:pPr>
            <a:r>
              <a:rPr lang="en-US" sz="950" dirty="0">
                <a:solidFill>
                  <a:srgbClr val="1A1A1A"/>
                </a:solidFill>
                <a:latin typeface="Yu Gothic" pitchFamily="34" charset="0"/>
                <a:ea typeface="Yu Gothic" pitchFamily="34" charset="-122"/>
                <a:cs typeface="Yu Gothic" pitchFamily="34" charset="-120"/>
              </a:rPr>
              <a:t>CIF = 0.8 · 空隙率 52%(+20 pp)</a:t>
            </a:r>
            <a:endParaRPr lang="en-US" sz="950" dirty="0"/>
          </a:p>
        </p:txBody>
      </p:sp>
      <p:sp>
        <p:nvSpPr>
          <p:cNvPr id="19" name="Text 17"/>
          <p:cNvSpPr/>
          <p:nvPr/>
        </p:nvSpPr>
        <p:spPr>
          <a:xfrm>
            <a:off x="731520" y="4526280"/>
            <a:ext cx="4846320" cy="274320"/>
          </a:xfrm>
          <a:prstGeom prst="rect">
            <a:avLst/>
          </a:prstGeom>
          <a:noFill/>
          <a:ln/>
        </p:spPr>
        <p:txBody>
          <a:bodyPr wrap="square" lIns="0" tIns="0" rIns="0" bIns="0" rtlCol="0" anchor="ctr"/>
          <a:lstStyle/>
          <a:p>
            <a:pPr indent="0" marL="0">
              <a:buNone/>
            </a:pPr>
            <a:r>
              <a:rPr lang="en-US" sz="1050" b="1" dirty="0">
                <a:solidFill>
                  <a:srgbClr val="4F6238"/>
                </a:solidFill>
                <a:latin typeface="Yu Gothic" pitchFamily="34" charset="0"/>
                <a:ea typeface="Yu Gothic" pitchFamily="34" charset="-122"/>
                <a:cs typeface="Yu Gothic" pitchFamily="34" charset="-120"/>
              </a:rPr>
              <a:t>[+ NaClテンプレート]</a:t>
            </a:r>
            <a:endParaRPr lang="en-US" sz="1050" dirty="0"/>
          </a:p>
        </p:txBody>
      </p:sp>
      <p:sp>
        <p:nvSpPr>
          <p:cNvPr id="20" name="Text 18"/>
          <p:cNvSpPr/>
          <p:nvPr/>
        </p:nvSpPr>
        <p:spPr>
          <a:xfrm>
            <a:off x="868680" y="4828032"/>
            <a:ext cx="4754880" cy="365760"/>
          </a:xfrm>
          <a:prstGeom prst="rect">
            <a:avLst/>
          </a:prstGeom>
          <a:noFill/>
          <a:ln/>
        </p:spPr>
        <p:txBody>
          <a:bodyPr wrap="square" lIns="0" tIns="0" rIns="0" bIns="0" rtlCol="0" anchor="t"/>
          <a:lstStyle/>
          <a:p>
            <a:pPr marL="342900" indent="-342900">
              <a:spcAft>
                <a:spcPts val="600"/>
              </a:spcAft>
              <a:buSzPct val="100000"/>
              <a:buChar char="•"/>
            </a:pPr>
            <a:r>
              <a:rPr lang="en-US" sz="950" dirty="0">
                <a:solidFill>
                  <a:srgbClr val="1A1A1A"/>
                </a:solidFill>
                <a:latin typeface="Yu Gothic" pitchFamily="34" charset="0"/>
                <a:ea typeface="Yu Gothic" pitchFamily="34" charset="-122"/>
                <a:cs typeface="Yu Gothic" pitchFamily="34" charset="-120"/>
              </a:rPr>
              <a:t>CIF = 0.5 · 空隙率 68%(+36 pp)</a:t>
            </a:r>
            <a:endParaRPr lang="en-US" sz="950" dirty="0"/>
          </a:p>
        </p:txBody>
      </p:sp>
      <p:sp>
        <p:nvSpPr>
          <p:cNvPr id="21" name="Text 19"/>
          <p:cNvSpPr/>
          <p:nvPr/>
        </p:nvSpPr>
        <p:spPr>
          <a:xfrm>
            <a:off x="731520" y="5532120"/>
            <a:ext cx="4846320" cy="320040"/>
          </a:xfrm>
          <a:prstGeom prst="rect">
            <a:avLst/>
          </a:prstGeom>
          <a:noFill/>
          <a:ln/>
        </p:spPr>
        <p:txBody>
          <a:bodyPr wrap="square" lIns="0" tIns="0" rIns="0" bIns="0" rtlCol="0" anchor="ctr"/>
          <a:lstStyle/>
          <a:p>
            <a:pPr indent="0" marL="0">
              <a:buNone/>
            </a:pPr>
            <a:r>
              <a:rPr lang="en-US" sz="1100" b="1" dirty="0">
                <a:solidFill>
                  <a:srgbClr val="C9A227"/>
                </a:solidFill>
                <a:latin typeface="Yu Gothic" pitchFamily="34" charset="0"/>
                <a:ea typeface="Yu Gothic" pitchFamily="34" charset="-122"/>
                <a:cs typeface="Yu Gothic" pitchFamily="34" charset="-120"/>
              </a:rPr>
              <a:t>特許出願済み</a:t>
            </a:r>
            <a:endParaRPr lang="en-US" sz="1100" dirty="0"/>
          </a:p>
        </p:txBody>
      </p:sp>
      <p:sp>
        <p:nvSpPr>
          <p:cNvPr id="22" name="Shape 20"/>
          <p:cNvSpPr/>
          <p:nvPr/>
        </p:nvSpPr>
        <p:spPr>
          <a:xfrm>
            <a:off x="6309360" y="1645920"/>
            <a:ext cx="5422392" cy="1371600"/>
          </a:xfrm>
          <a:prstGeom prst="rect">
            <a:avLst/>
          </a:prstGeom>
          <a:solidFill>
            <a:srgbClr val="FFFFFF"/>
          </a:solidFill>
          <a:ln w="9525">
            <a:solidFill>
              <a:srgbClr val="C8C8C8"/>
            </a:solidFill>
            <a:prstDash val="solid"/>
          </a:ln>
        </p:spPr>
      </p:sp>
      <p:sp>
        <p:nvSpPr>
          <p:cNvPr id="23" name="Shape 21"/>
          <p:cNvSpPr/>
          <p:nvPr/>
        </p:nvSpPr>
        <p:spPr>
          <a:xfrm>
            <a:off x="6309360" y="1645920"/>
            <a:ext cx="82296" cy="1371600"/>
          </a:xfrm>
          <a:prstGeom prst="rect">
            <a:avLst/>
          </a:prstGeom>
          <a:solidFill>
            <a:srgbClr val="45586E"/>
          </a:solidFill>
          <a:ln/>
        </p:spPr>
      </p:sp>
      <p:sp>
        <p:nvSpPr>
          <p:cNvPr id="24" name="Text 22"/>
          <p:cNvSpPr/>
          <p:nvPr/>
        </p:nvSpPr>
        <p:spPr>
          <a:xfrm>
            <a:off x="6537960" y="1755648"/>
            <a:ext cx="1828800" cy="320040"/>
          </a:xfrm>
          <a:prstGeom prst="rect">
            <a:avLst/>
          </a:prstGeom>
          <a:noFill/>
          <a:ln/>
        </p:spPr>
        <p:txBody>
          <a:bodyPr wrap="square" lIns="0" tIns="0" rIns="0" bIns="0" rtlCol="0" anchor="ctr"/>
          <a:lstStyle/>
          <a:p>
            <a:pPr indent="0" marL="0">
              <a:buNone/>
            </a:pPr>
            <a:r>
              <a:rPr lang="en-US" sz="1200" b="1" dirty="0">
                <a:solidFill>
                  <a:srgbClr val="5A5A5A"/>
                </a:solidFill>
                <a:latin typeface="Arial" pitchFamily="34" charset="0"/>
                <a:ea typeface="Arial" pitchFamily="34" charset="-122"/>
                <a:cs typeface="Arial" pitchFamily="34" charset="-120"/>
              </a:rPr>
              <a:t>MACRO</a:t>
            </a:r>
            <a:endParaRPr lang="en-US" sz="1200" dirty="0"/>
          </a:p>
        </p:txBody>
      </p:sp>
      <p:sp>
        <p:nvSpPr>
          <p:cNvPr id="25" name="Text 23"/>
          <p:cNvSpPr/>
          <p:nvPr/>
        </p:nvSpPr>
        <p:spPr>
          <a:xfrm>
            <a:off x="6537960" y="2103120"/>
            <a:ext cx="2194560" cy="548640"/>
          </a:xfrm>
          <a:prstGeom prst="rect">
            <a:avLst/>
          </a:prstGeom>
          <a:noFill/>
          <a:ln/>
        </p:spPr>
        <p:txBody>
          <a:bodyPr wrap="square" lIns="0" tIns="0" rIns="0" bIns="0" rtlCol="0" anchor="ctr"/>
          <a:lstStyle/>
          <a:p>
            <a:pPr indent="0" marL="0">
              <a:buNone/>
            </a:pPr>
            <a:r>
              <a:rPr lang="en-US" sz="2200" b="1" dirty="0">
                <a:solidFill>
                  <a:srgbClr val="16324F"/>
                </a:solidFill>
                <a:latin typeface="Arial" pitchFamily="34" charset="0"/>
                <a:ea typeface="Arial" pitchFamily="34" charset="-122"/>
                <a:cs typeface="Arial" pitchFamily="34" charset="-120"/>
              </a:rPr>
              <a:t>1.8 μm</a:t>
            </a:r>
            <a:endParaRPr lang="en-US" sz="2200" dirty="0"/>
          </a:p>
        </p:txBody>
      </p:sp>
      <p:sp>
        <p:nvSpPr>
          <p:cNvPr id="26" name="Text 24"/>
          <p:cNvSpPr/>
          <p:nvPr/>
        </p:nvSpPr>
        <p:spPr>
          <a:xfrm>
            <a:off x="8869680" y="1874520"/>
            <a:ext cx="2743200" cy="1005840"/>
          </a:xfrm>
          <a:prstGeom prst="rect">
            <a:avLst/>
          </a:prstGeom>
          <a:noFill/>
          <a:ln/>
        </p:spPr>
        <p:txBody>
          <a:bodyPr wrap="square" lIns="0" tIns="0" rIns="0" bIns="0" rtlCol="0" anchor="ctr"/>
          <a:lstStyle/>
          <a:p>
            <a:pPr indent="0" marL="0">
              <a:buNone/>
            </a:pPr>
            <a:r>
              <a:rPr lang="en-US" sz="950" dirty="0">
                <a:solidFill>
                  <a:srgbClr val="1A1A1A"/>
                </a:solidFill>
                <a:latin typeface="Yu Gothic" pitchFamily="34" charset="0"/>
                <a:ea typeface="Yu Gothic" pitchFamily="34" charset="-122"/>
                <a:cs typeface="Yu Gothic" pitchFamily="34" charset="-120"/>
              </a:rPr>
              <a:t>形成方法:NaClテンプレートにより形成</a:t>
            </a:r>
            <a:endParaRPr lang="en-US" sz="950" dirty="0"/>
          </a:p>
          <a:p>
            <a:pPr indent="0" marL="0">
              <a:buNone/>
            </a:pPr>
            <a:r>
              <a:rPr lang="en-US" sz="950" dirty="0">
                <a:solidFill>
                  <a:srgbClr val="1A1A1A"/>
                </a:solidFill>
                <a:latin typeface="Yu Gothic" pitchFamily="34" charset="0"/>
                <a:ea typeface="Yu Gothic" pitchFamily="34" charset="-122"/>
                <a:cs typeface="Yu Gothic" pitchFamily="34" charset="-120"/>
              </a:rPr>
              <a:t>役割:バルク電解質の輸送</a:t>
            </a:r>
            <a:endParaRPr lang="en-US" sz="950" dirty="0"/>
          </a:p>
        </p:txBody>
      </p:sp>
      <p:sp>
        <p:nvSpPr>
          <p:cNvPr id="27" name="Shape 25"/>
          <p:cNvSpPr/>
          <p:nvPr/>
        </p:nvSpPr>
        <p:spPr>
          <a:xfrm>
            <a:off x="6309360" y="3182112"/>
            <a:ext cx="5422392" cy="1371600"/>
          </a:xfrm>
          <a:prstGeom prst="rect">
            <a:avLst/>
          </a:prstGeom>
          <a:solidFill>
            <a:srgbClr val="FFFFFF"/>
          </a:solidFill>
          <a:ln w="9525">
            <a:solidFill>
              <a:srgbClr val="C8C8C8"/>
            </a:solidFill>
            <a:prstDash val="solid"/>
          </a:ln>
        </p:spPr>
      </p:sp>
      <p:sp>
        <p:nvSpPr>
          <p:cNvPr id="28" name="Shape 26"/>
          <p:cNvSpPr/>
          <p:nvPr/>
        </p:nvSpPr>
        <p:spPr>
          <a:xfrm>
            <a:off x="6309360" y="3182112"/>
            <a:ext cx="82296" cy="1371600"/>
          </a:xfrm>
          <a:prstGeom prst="rect">
            <a:avLst/>
          </a:prstGeom>
          <a:solidFill>
            <a:srgbClr val="C9A227"/>
          </a:solidFill>
          <a:ln/>
        </p:spPr>
      </p:sp>
      <p:sp>
        <p:nvSpPr>
          <p:cNvPr id="29" name="Text 27"/>
          <p:cNvSpPr/>
          <p:nvPr/>
        </p:nvSpPr>
        <p:spPr>
          <a:xfrm>
            <a:off x="6537960" y="3291840"/>
            <a:ext cx="1828800" cy="320040"/>
          </a:xfrm>
          <a:prstGeom prst="rect">
            <a:avLst/>
          </a:prstGeom>
          <a:noFill/>
          <a:ln/>
        </p:spPr>
        <p:txBody>
          <a:bodyPr wrap="square" lIns="0" tIns="0" rIns="0" bIns="0" rtlCol="0" anchor="ctr"/>
          <a:lstStyle/>
          <a:p>
            <a:pPr indent="0" marL="0">
              <a:buNone/>
            </a:pPr>
            <a:r>
              <a:rPr lang="en-US" sz="1200" b="1" dirty="0">
                <a:solidFill>
                  <a:srgbClr val="5A5A5A"/>
                </a:solidFill>
                <a:latin typeface="Arial" pitchFamily="34" charset="0"/>
                <a:ea typeface="Arial" pitchFamily="34" charset="-122"/>
                <a:cs typeface="Arial" pitchFamily="34" charset="-120"/>
              </a:rPr>
              <a:t>MESO</a:t>
            </a:r>
            <a:endParaRPr lang="en-US" sz="1200" dirty="0"/>
          </a:p>
        </p:txBody>
      </p:sp>
      <p:sp>
        <p:nvSpPr>
          <p:cNvPr id="30" name="Text 28"/>
          <p:cNvSpPr/>
          <p:nvPr/>
        </p:nvSpPr>
        <p:spPr>
          <a:xfrm>
            <a:off x="6537960" y="3639312"/>
            <a:ext cx="2194560" cy="548640"/>
          </a:xfrm>
          <a:prstGeom prst="rect">
            <a:avLst/>
          </a:prstGeom>
          <a:noFill/>
          <a:ln/>
        </p:spPr>
        <p:txBody>
          <a:bodyPr wrap="square" lIns="0" tIns="0" rIns="0" bIns="0" rtlCol="0" anchor="ctr"/>
          <a:lstStyle/>
          <a:p>
            <a:pPr indent="0" marL="0">
              <a:buNone/>
            </a:pPr>
            <a:r>
              <a:rPr lang="en-US" sz="2200" b="1" dirty="0">
                <a:solidFill>
                  <a:srgbClr val="16324F"/>
                </a:solidFill>
                <a:latin typeface="Arial" pitchFamily="34" charset="0"/>
                <a:ea typeface="Arial" pitchFamily="34" charset="-122"/>
                <a:cs typeface="Arial" pitchFamily="34" charset="-120"/>
              </a:rPr>
              <a:t>800 nm</a:t>
            </a:r>
            <a:endParaRPr lang="en-US" sz="2200" dirty="0"/>
          </a:p>
        </p:txBody>
      </p:sp>
      <p:sp>
        <p:nvSpPr>
          <p:cNvPr id="31" name="Text 29"/>
          <p:cNvSpPr/>
          <p:nvPr/>
        </p:nvSpPr>
        <p:spPr>
          <a:xfrm>
            <a:off x="8869680" y="3410712"/>
            <a:ext cx="2743200" cy="1005840"/>
          </a:xfrm>
          <a:prstGeom prst="rect">
            <a:avLst/>
          </a:prstGeom>
          <a:noFill/>
          <a:ln/>
        </p:spPr>
        <p:txBody>
          <a:bodyPr wrap="square" lIns="0" tIns="0" rIns="0" bIns="0" rtlCol="0" anchor="ctr"/>
          <a:lstStyle/>
          <a:p>
            <a:pPr indent="0" marL="0">
              <a:buNone/>
            </a:pPr>
            <a:r>
              <a:rPr lang="en-US" sz="950" dirty="0">
                <a:solidFill>
                  <a:srgbClr val="1A1A1A"/>
                </a:solidFill>
                <a:latin typeface="Yu Gothic" pitchFamily="34" charset="0"/>
                <a:ea typeface="Yu Gothic" pitchFamily="34" charset="-122"/>
                <a:cs typeface="Yu Gothic" pitchFamily="34" charset="-120"/>
              </a:rPr>
              <a:t>形成方法:多段乾燥により形成</a:t>
            </a:r>
            <a:endParaRPr lang="en-US" sz="950" dirty="0"/>
          </a:p>
          <a:p>
            <a:pPr indent="0" marL="0">
              <a:buNone/>
            </a:pPr>
            <a:r>
              <a:rPr lang="en-US" sz="950" dirty="0">
                <a:solidFill>
                  <a:srgbClr val="1A1A1A"/>
                </a:solidFill>
                <a:latin typeface="Yu Gothic" pitchFamily="34" charset="0"/>
                <a:ea typeface="Yu Gothic" pitchFamily="34" charset="-122"/>
                <a:cs typeface="Yu Gothic" pitchFamily="34" charset="-120"/>
              </a:rPr>
              <a:t>役割:短距離イオン輸送</a:t>
            </a:r>
            <a:endParaRPr lang="en-US" sz="950" dirty="0"/>
          </a:p>
        </p:txBody>
      </p:sp>
      <p:sp>
        <p:nvSpPr>
          <p:cNvPr id="32" name="Shape 30"/>
          <p:cNvSpPr/>
          <p:nvPr/>
        </p:nvSpPr>
        <p:spPr>
          <a:xfrm>
            <a:off x="6309360" y="4718304"/>
            <a:ext cx="5422392" cy="1371600"/>
          </a:xfrm>
          <a:prstGeom prst="rect">
            <a:avLst/>
          </a:prstGeom>
          <a:solidFill>
            <a:srgbClr val="FFFFFF"/>
          </a:solidFill>
          <a:ln w="9525">
            <a:solidFill>
              <a:srgbClr val="C8C8C8"/>
            </a:solidFill>
            <a:prstDash val="solid"/>
          </a:ln>
        </p:spPr>
      </p:sp>
      <p:sp>
        <p:nvSpPr>
          <p:cNvPr id="33" name="Shape 31"/>
          <p:cNvSpPr/>
          <p:nvPr/>
        </p:nvSpPr>
        <p:spPr>
          <a:xfrm>
            <a:off x="6309360" y="4718304"/>
            <a:ext cx="82296" cy="1371600"/>
          </a:xfrm>
          <a:prstGeom prst="rect">
            <a:avLst/>
          </a:prstGeom>
          <a:solidFill>
            <a:srgbClr val="4F6238"/>
          </a:solidFill>
          <a:ln/>
        </p:spPr>
      </p:sp>
      <p:sp>
        <p:nvSpPr>
          <p:cNvPr id="34" name="Text 32"/>
          <p:cNvSpPr/>
          <p:nvPr/>
        </p:nvSpPr>
        <p:spPr>
          <a:xfrm>
            <a:off x="6537960" y="4828032"/>
            <a:ext cx="1828800" cy="320040"/>
          </a:xfrm>
          <a:prstGeom prst="rect">
            <a:avLst/>
          </a:prstGeom>
          <a:noFill/>
          <a:ln/>
        </p:spPr>
        <p:txBody>
          <a:bodyPr wrap="square" lIns="0" tIns="0" rIns="0" bIns="0" rtlCol="0" anchor="ctr"/>
          <a:lstStyle/>
          <a:p>
            <a:pPr indent="0" marL="0">
              <a:buNone/>
            </a:pPr>
            <a:r>
              <a:rPr lang="en-US" sz="1200" b="1" dirty="0">
                <a:solidFill>
                  <a:srgbClr val="5A5A5A"/>
                </a:solidFill>
                <a:latin typeface="Arial" pitchFamily="34" charset="0"/>
                <a:ea typeface="Arial" pitchFamily="34" charset="-122"/>
                <a:cs typeface="Arial" pitchFamily="34" charset="-120"/>
              </a:rPr>
              <a:t>MICRO</a:t>
            </a:r>
            <a:endParaRPr lang="en-US" sz="1200" dirty="0"/>
          </a:p>
        </p:txBody>
      </p:sp>
      <p:sp>
        <p:nvSpPr>
          <p:cNvPr id="35" name="Text 33"/>
          <p:cNvSpPr/>
          <p:nvPr/>
        </p:nvSpPr>
        <p:spPr>
          <a:xfrm>
            <a:off x="6537960" y="5175504"/>
            <a:ext cx="2194560" cy="548640"/>
          </a:xfrm>
          <a:prstGeom prst="rect">
            <a:avLst/>
          </a:prstGeom>
          <a:noFill/>
          <a:ln/>
        </p:spPr>
        <p:txBody>
          <a:bodyPr wrap="square" lIns="0" tIns="0" rIns="0" bIns="0" rtlCol="0" anchor="ctr"/>
          <a:lstStyle/>
          <a:p>
            <a:pPr indent="0" marL="0">
              <a:buNone/>
            </a:pPr>
            <a:r>
              <a:rPr lang="en-US" sz="2200" b="1" dirty="0">
                <a:solidFill>
                  <a:srgbClr val="16324F"/>
                </a:solidFill>
                <a:latin typeface="Arial" pitchFamily="34" charset="0"/>
                <a:ea typeface="Arial" pitchFamily="34" charset="-122"/>
                <a:cs typeface="Arial" pitchFamily="34" charset="-120"/>
              </a:rPr>
              <a:t>&lt; 2 nm</a:t>
            </a:r>
            <a:endParaRPr lang="en-US" sz="2200" dirty="0"/>
          </a:p>
        </p:txBody>
      </p:sp>
      <p:sp>
        <p:nvSpPr>
          <p:cNvPr id="36" name="Text 34"/>
          <p:cNvSpPr/>
          <p:nvPr/>
        </p:nvSpPr>
        <p:spPr>
          <a:xfrm>
            <a:off x="8869680" y="4946904"/>
            <a:ext cx="2743200" cy="1005840"/>
          </a:xfrm>
          <a:prstGeom prst="rect">
            <a:avLst/>
          </a:prstGeom>
          <a:noFill/>
          <a:ln/>
        </p:spPr>
        <p:txBody>
          <a:bodyPr wrap="square" lIns="0" tIns="0" rIns="0" bIns="0" rtlCol="0" anchor="ctr"/>
          <a:lstStyle/>
          <a:p>
            <a:pPr indent="0" marL="0">
              <a:buNone/>
            </a:pPr>
            <a:r>
              <a:rPr lang="en-US" sz="950" dirty="0">
                <a:solidFill>
                  <a:srgbClr val="1A1A1A"/>
                </a:solidFill>
                <a:latin typeface="Yu Gothic" pitchFamily="34" charset="0"/>
                <a:ea typeface="Yu Gothic" pitchFamily="34" charset="-122"/>
                <a:cs typeface="Yu Gothic" pitchFamily="34" charset="-120"/>
              </a:rPr>
              <a:t>形成方法:活性炭の表面積</a:t>
            </a:r>
            <a:endParaRPr lang="en-US" sz="950" dirty="0"/>
          </a:p>
          <a:p>
            <a:pPr indent="0" marL="0">
              <a:buNone/>
            </a:pPr>
            <a:r>
              <a:rPr lang="en-US" sz="950" dirty="0">
                <a:solidFill>
                  <a:srgbClr val="1A1A1A"/>
                </a:solidFill>
                <a:latin typeface="Yu Gothic" pitchFamily="34" charset="0"/>
                <a:ea typeface="Yu Gothic" pitchFamily="34" charset="-122"/>
                <a:cs typeface="Yu Gothic" pitchFamily="34" charset="-120"/>
              </a:rPr>
              <a:t>役割:EDLC静電容量</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6.4 / 6.5  塗工ラインと化成</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40/55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スロットダイ塗工(±2~3%)と化成12時間</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Slot-Die Coating Line · Formation Breakthrough</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645920"/>
            <a:ext cx="5394960" cy="457200"/>
          </a:xfrm>
          <a:prstGeom prst="rect">
            <a:avLst/>
          </a:prstGeom>
          <a:solidFill>
            <a:srgbClr val="16324F"/>
          </a:solidFill>
          <a:ln/>
        </p:spPr>
      </p:sp>
      <p:sp>
        <p:nvSpPr>
          <p:cNvPr id="13" name="Text 11"/>
          <p:cNvSpPr/>
          <p:nvPr/>
        </p:nvSpPr>
        <p:spPr>
          <a:xfrm>
            <a:off x="640080" y="1645920"/>
            <a:ext cx="5029200" cy="457200"/>
          </a:xfrm>
          <a:prstGeom prst="rect">
            <a:avLst/>
          </a:prstGeom>
          <a:noFill/>
          <a:ln/>
        </p:spPr>
        <p:txBody>
          <a:bodyPr wrap="square" lIns="0" tIns="0" rIns="0" bIns="0" rtlCol="0" anchor="ctr"/>
          <a:lstStyle/>
          <a:p>
            <a:pPr indent="0" marL="0">
              <a:buNone/>
            </a:pPr>
            <a:r>
              <a:rPr lang="en-US" sz="1150" b="1" dirty="0">
                <a:solidFill>
                  <a:srgbClr val="C9A227"/>
                </a:solidFill>
                <a:latin typeface="Yu Gothic" pitchFamily="34" charset="0"/>
                <a:ea typeface="Yu Gothic" pitchFamily="34" charset="-122"/>
                <a:cs typeface="Yu Gothic" pitchFamily="34" charset="-120"/>
              </a:rPr>
              <a:t>塗工ライン仕様</a:t>
            </a:r>
            <a:endParaRPr lang="en-US" sz="1150" dirty="0"/>
          </a:p>
        </p:txBody>
      </p:sp>
      <p:sp>
        <p:nvSpPr>
          <p:cNvPr id="14" name="Shape 12"/>
          <p:cNvSpPr/>
          <p:nvPr/>
        </p:nvSpPr>
        <p:spPr>
          <a:xfrm>
            <a:off x="457200" y="2103120"/>
            <a:ext cx="5394960" cy="4023360"/>
          </a:xfrm>
          <a:prstGeom prst="rect">
            <a:avLst/>
          </a:prstGeom>
          <a:solidFill>
            <a:srgbClr val="FFFFFF"/>
          </a:solidFill>
          <a:ln w="9525">
            <a:solidFill>
              <a:srgbClr val="C8C8C8"/>
            </a:solidFill>
            <a:prstDash val="solid"/>
          </a:ln>
        </p:spPr>
      </p:sp>
      <p:sp>
        <p:nvSpPr>
          <p:cNvPr id="15" name="Text 13"/>
          <p:cNvSpPr/>
          <p:nvPr/>
        </p:nvSpPr>
        <p:spPr>
          <a:xfrm>
            <a:off x="777240" y="2331720"/>
            <a:ext cx="4800600" cy="356616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方式:スロットダイ · ライン速度:30 m/min</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膜厚偏差:±2~3% · 塗工幅:600 mm</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多層塗工:両面同時 · クリーンルーム:ISO Class 7</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AI膜厚モニタリング · リアルタイムIR熱マッピング</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自動欠陥検出</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歩留まり(初年度):85~88% / 定常時:92~94%</a:t>
            </a:r>
            <a:endParaRPr lang="en-US" sz="1000" dirty="0"/>
          </a:p>
        </p:txBody>
      </p:sp>
      <p:sp>
        <p:nvSpPr>
          <p:cNvPr id="16" name="Shape 14"/>
          <p:cNvSpPr/>
          <p:nvPr/>
        </p:nvSpPr>
        <p:spPr>
          <a:xfrm>
            <a:off x="6309360" y="1645920"/>
            <a:ext cx="5422392" cy="548640"/>
          </a:xfrm>
          <a:prstGeom prst="rect">
            <a:avLst/>
          </a:prstGeom>
          <a:solidFill>
            <a:srgbClr val="B03A2E"/>
          </a:solidFill>
          <a:ln/>
        </p:spPr>
      </p:sp>
      <p:sp>
        <p:nvSpPr>
          <p:cNvPr id="17" name="Text 15"/>
          <p:cNvSpPr/>
          <p:nvPr/>
        </p:nvSpPr>
        <p:spPr>
          <a:xfrm>
            <a:off x="6309360" y="1645920"/>
            <a:ext cx="5422392"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Li-ion(一般)</a:t>
            </a:r>
            <a:endParaRPr lang="en-US" sz="1200" dirty="0"/>
          </a:p>
        </p:txBody>
      </p:sp>
      <p:sp>
        <p:nvSpPr>
          <p:cNvPr id="18" name="Shape 16"/>
          <p:cNvSpPr/>
          <p:nvPr/>
        </p:nvSpPr>
        <p:spPr>
          <a:xfrm>
            <a:off x="6309360" y="2194560"/>
            <a:ext cx="5422392" cy="1508760"/>
          </a:xfrm>
          <a:prstGeom prst="rect">
            <a:avLst/>
          </a:prstGeom>
          <a:solidFill>
            <a:srgbClr val="FFFFFF"/>
          </a:solidFill>
          <a:ln w="9525">
            <a:solidFill>
              <a:srgbClr val="C8C8C8"/>
            </a:solidFill>
            <a:prstDash val="solid"/>
          </a:ln>
        </p:spPr>
      </p:sp>
      <p:sp>
        <p:nvSpPr>
          <p:cNvPr id="19" name="Text 17"/>
          <p:cNvSpPr/>
          <p:nvPr/>
        </p:nvSpPr>
        <p:spPr>
          <a:xfrm>
            <a:off x="6309360" y="2331720"/>
            <a:ext cx="5422392" cy="685800"/>
          </a:xfrm>
          <a:prstGeom prst="rect">
            <a:avLst/>
          </a:prstGeom>
          <a:noFill/>
          <a:ln/>
        </p:spPr>
        <p:txBody>
          <a:bodyPr wrap="square" lIns="0" tIns="0" rIns="0" bIns="0" rtlCol="0" anchor="ctr"/>
          <a:lstStyle/>
          <a:p>
            <a:pPr algn="ctr" indent="0" marL="0">
              <a:buNone/>
            </a:pPr>
            <a:r>
              <a:rPr lang="en-US" sz="2600" b="1" dirty="0">
                <a:solidFill>
                  <a:srgbClr val="B03A2E"/>
                </a:solidFill>
                <a:latin typeface="Yu Gothic" pitchFamily="34" charset="0"/>
                <a:ea typeface="Yu Gothic" pitchFamily="34" charset="-122"/>
                <a:cs typeface="Yu Gothic" pitchFamily="34" charset="-120"/>
              </a:rPr>
              <a:t>48 ~ 72 時間</a:t>
            </a:r>
            <a:endParaRPr lang="en-US" sz="2600" dirty="0"/>
          </a:p>
        </p:txBody>
      </p:sp>
      <p:sp>
        <p:nvSpPr>
          <p:cNvPr id="20" name="Text 18"/>
          <p:cNvSpPr/>
          <p:nvPr/>
        </p:nvSpPr>
        <p:spPr>
          <a:xfrm>
            <a:off x="6309360" y="3108960"/>
            <a:ext cx="5422392" cy="365760"/>
          </a:xfrm>
          <a:prstGeom prst="rect">
            <a:avLst/>
          </a:prstGeom>
          <a:noFill/>
          <a:ln/>
        </p:spPr>
        <p:txBody>
          <a:bodyPr wrap="square" lIns="0" tIns="0" rIns="0" bIns="0" rtlCol="0" anchor="ctr"/>
          <a:lstStyle/>
          <a:p>
            <a:pPr algn="ctr" indent="0" marL="0">
              <a:buNone/>
            </a:pPr>
            <a:r>
              <a:rPr lang="en-US" sz="1050" dirty="0">
                <a:solidFill>
                  <a:srgbClr val="5A5A5A"/>
                </a:solidFill>
                <a:latin typeface="Yu Gothic" pitchFamily="34" charset="0"/>
                <a:ea typeface="Yu Gothic" pitchFamily="34" charset="-122"/>
                <a:cs typeface="Yu Gothic" pitchFamily="34" charset="-120"/>
              </a:rPr>
              <a:t>SEI形成 + 安定化が必要</a:t>
            </a:r>
            <a:endParaRPr lang="en-US" sz="1050" dirty="0"/>
          </a:p>
        </p:txBody>
      </p:sp>
      <p:sp>
        <p:nvSpPr>
          <p:cNvPr id="21" name="Shape 19"/>
          <p:cNvSpPr/>
          <p:nvPr/>
        </p:nvSpPr>
        <p:spPr>
          <a:xfrm>
            <a:off x="6309360" y="3977640"/>
            <a:ext cx="5422392" cy="548640"/>
          </a:xfrm>
          <a:prstGeom prst="rect">
            <a:avLst/>
          </a:prstGeom>
          <a:solidFill>
            <a:srgbClr val="4F6238"/>
          </a:solidFill>
          <a:ln/>
        </p:spPr>
      </p:sp>
      <p:sp>
        <p:nvSpPr>
          <p:cNvPr id="22" name="Text 20"/>
          <p:cNvSpPr/>
          <p:nvPr/>
        </p:nvSpPr>
        <p:spPr>
          <a:xfrm>
            <a:off x="6309360" y="3977640"/>
            <a:ext cx="5422392"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TNO-S</a:t>
            </a:r>
            <a:endParaRPr lang="en-US" sz="1200" dirty="0"/>
          </a:p>
        </p:txBody>
      </p:sp>
      <p:sp>
        <p:nvSpPr>
          <p:cNvPr id="23" name="Shape 21"/>
          <p:cNvSpPr/>
          <p:nvPr/>
        </p:nvSpPr>
        <p:spPr>
          <a:xfrm>
            <a:off x="6309360" y="4526280"/>
            <a:ext cx="5422392" cy="1600200"/>
          </a:xfrm>
          <a:prstGeom prst="rect">
            <a:avLst/>
          </a:prstGeom>
          <a:solidFill>
            <a:srgbClr val="FFFFFF"/>
          </a:solidFill>
          <a:ln w="9525">
            <a:solidFill>
              <a:srgbClr val="C8C8C8"/>
            </a:solidFill>
            <a:prstDash val="solid"/>
          </a:ln>
        </p:spPr>
      </p:sp>
      <p:sp>
        <p:nvSpPr>
          <p:cNvPr id="24" name="Text 22"/>
          <p:cNvSpPr/>
          <p:nvPr/>
        </p:nvSpPr>
        <p:spPr>
          <a:xfrm>
            <a:off x="6309360" y="4663440"/>
            <a:ext cx="5422392" cy="731520"/>
          </a:xfrm>
          <a:prstGeom prst="rect">
            <a:avLst/>
          </a:prstGeom>
          <a:noFill/>
          <a:ln/>
        </p:spPr>
        <p:txBody>
          <a:bodyPr wrap="square" lIns="0" tIns="0" rIns="0" bIns="0" rtlCol="0" anchor="ctr"/>
          <a:lstStyle/>
          <a:p>
            <a:pPr algn="ctr" indent="0" marL="0">
              <a:buNone/>
            </a:pPr>
            <a:r>
              <a:rPr lang="en-US" sz="2800" b="1" dirty="0">
                <a:solidFill>
                  <a:srgbClr val="4F6238"/>
                </a:solidFill>
                <a:latin typeface="Yu Gothic" pitchFamily="34" charset="0"/>
                <a:ea typeface="Yu Gothic" pitchFamily="34" charset="-122"/>
                <a:cs typeface="Yu Gothic" pitchFamily="34" charset="-120"/>
              </a:rPr>
              <a:t>12 時間</a:t>
            </a:r>
            <a:endParaRPr lang="en-US" sz="2800" dirty="0"/>
          </a:p>
        </p:txBody>
      </p:sp>
      <p:sp>
        <p:nvSpPr>
          <p:cNvPr id="25" name="Text 23"/>
          <p:cNvSpPr/>
          <p:nvPr/>
        </p:nvSpPr>
        <p:spPr>
          <a:xfrm>
            <a:off x="6309360" y="5486400"/>
            <a:ext cx="5422392" cy="365760"/>
          </a:xfrm>
          <a:prstGeom prst="rect">
            <a:avLst/>
          </a:prstGeom>
          <a:noFill/>
          <a:ln/>
        </p:spPr>
        <p:txBody>
          <a:bodyPr wrap="square" lIns="0" tIns="0" rIns="0" bIns="0" rtlCol="0" anchor="ctr"/>
          <a:lstStyle/>
          <a:p>
            <a:pPr algn="ctr" indent="0" marL="0">
              <a:buNone/>
            </a:pPr>
            <a:r>
              <a:rPr lang="en-US" sz="1050" dirty="0">
                <a:solidFill>
                  <a:srgbClr val="5A5A5A"/>
                </a:solidFill>
                <a:latin typeface="Yu Gothic" pitchFamily="34" charset="0"/>
                <a:ea typeface="Yu Gothic" pitchFamily="34" charset="-122"/>
                <a:cs typeface="Yu Gothic" pitchFamily="34" charset="-120"/>
              </a:rPr>
              <a:t>SEI形成が不要 → 即時に安定(業界比 75%短縮)</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6.6  CAPEX戦略 — 既存ライン再利用</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41/55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CAPEX戦略 — 既存Li-ion工場の70~80%を再利用</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CAPEX Strategy — Reuse Existing Infrastructure</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74552" cy="914400"/>
        </p:xfrm>
        <a:graphic>
          <a:graphicData uri="http://schemas.openxmlformats.org/drawingml/2006/table">
            <a:tbl>
              <a:tblPr/>
              <a:tblGrid>
                <a:gridCol w="3291840"/>
                <a:gridCol w="2651760"/>
                <a:gridCol w="3017520"/>
                <a:gridCol w="2313432"/>
              </a:tblGrid>
              <a:tr h="502920">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項目</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新設工場</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Li-ion転換</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削減率</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r>
              <a:tr h="502920">
                <a:tc>
                  <a:txBody>
                    <a:bodyPr/>
                    <a:lstStyle/>
                    <a:p>
                      <a:pPr algn="l" indent="0" marL="0">
                        <a:buNone/>
                      </a:pPr>
                      <a:r>
                        <a:rPr lang="en-US" sz="1000" b="1" dirty="0">
                          <a:solidFill>
                            <a:srgbClr val="1A1A1A"/>
                          </a:solidFill>
                          <a:latin typeface="Yu Gothic" pitchFamily="34" charset="0"/>
                          <a:ea typeface="Yu Gothic" pitchFamily="34" charset="-122"/>
                          <a:cs typeface="Yu Gothic" pitchFamily="34" charset="-120"/>
                        </a:rPr>
                        <a:t>総CAPEX(10 GWh)</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8.1億 USD</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1.8~2.5億 USD</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69~78%</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1A1A1A"/>
                          </a:solidFill>
                          <a:latin typeface="Yu Gothic" pitchFamily="34" charset="0"/>
                          <a:ea typeface="Yu Gothic" pitchFamily="34" charset="-122"/>
                          <a:cs typeface="Yu Gothic" pitchFamily="34" charset="-120"/>
                        </a:rPr>
                        <a:t>化成設備</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1.2億 USD</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0.75~0.9億 USD</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25~37%</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502920">
                <a:tc>
                  <a:txBody>
                    <a:bodyPr/>
                    <a:lstStyle/>
                    <a:p>
                      <a:pPr algn="l" indent="0" marL="0">
                        <a:buNone/>
                      </a:pPr>
                      <a:r>
                        <a:rPr lang="en-US" sz="1000" b="1" dirty="0">
                          <a:solidFill>
                            <a:srgbClr val="1A1A1A"/>
                          </a:solidFill>
                          <a:latin typeface="Yu Gothic" pitchFamily="34" charset="0"/>
                          <a:ea typeface="Yu Gothic" pitchFamily="34" charset="-122"/>
                          <a:cs typeface="Yu Gothic" pitchFamily="34" charset="-120"/>
                        </a:rPr>
                        <a:t>塗工設備</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2.0億 USD</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既存 + 改修</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約60%</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1A1A1A"/>
                          </a:solidFill>
                          <a:latin typeface="Yu Gothic" pitchFamily="34" charset="0"/>
                          <a:ea typeface="Yu Gothic" pitchFamily="34" charset="-122"/>
                          <a:cs typeface="Yu Gothic" pitchFamily="34" charset="-120"/>
                        </a:rPr>
                        <a:t>組立設備</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1.5億 USD</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既存を再利用</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約70%</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502920">
                <a:tc>
                  <a:txBody>
                    <a:bodyPr/>
                    <a:lstStyle/>
                    <a:p>
                      <a:pPr algn="l" indent="0" marL="0">
                        <a:buNone/>
                      </a:pPr>
                      <a:r>
                        <a:rPr lang="en-US" sz="1000" b="1" dirty="0">
                          <a:solidFill>
                            <a:srgbClr val="1A1A1A"/>
                          </a:solidFill>
                          <a:latin typeface="Yu Gothic" pitchFamily="34" charset="0"/>
                          <a:ea typeface="Yu Gothic" pitchFamily="34" charset="-122"/>
                          <a:cs typeface="Yu Gothic" pitchFamily="34" charset="-120"/>
                        </a:rPr>
                        <a:t>乾燥 / カレンダリング</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0.8億 USD</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多段制御を追加</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約50%</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1A1A1A"/>
                          </a:solidFill>
                          <a:latin typeface="Yu Gothic" pitchFamily="34" charset="0"/>
                          <a:ea typeface="Yu Gothic" pitchFamily="34" charset="-122"/>
                          <a:cs typeface="Yu Gothic" pitchFamily="34" charset="-120"/>
                        </a:rPr>
                        <a:t>歩留まり(定常)</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92~94%</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92~94%</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同一</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502920">
                <a:tc>
                  <a:txBody>
                    <a:bodyPr/>
                    <a:lstStyle/>
                    <a:p>
                      <a:pPr algn="l" indent="0" marL="0">
                        <a:buNone/>
                      </a:pPr>
                      <a:r>
                        <a:rPr lang="en-US" sz="1000" b="1" dirty="0">
                          <a:solidFill>
                            <a:srgbClr val="1A1A1A"/>
                          </a:solidFill>
                          <a:latin typeface="Yu Gothic" pitchFamily="34" charset="0"/>
                          <a:ea typeface="Yu Gothic" pitchFamily="34" charset="-122"/>
                          <a:cs typeface="Yu Gothic" pitchFamily="34" charset="-120"/>
                        </a:rPr>
                        <a:t>市場投入期間</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30~36ヶ月</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12~18ヶ月</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約50%</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bl>
          </a:graphicData>
        </a:graphic>
      </p:graphicFrame>
      <p:sp>
        <p:nvSpPr>
          <p:cNvPr id="13" name="Shape 10"/>
          <p:cNvSpPr/>
          <p:nvPr/>
        </p:nvSpPr>
        <p:spPr>
          <a:xfrm>
            <a:off x="457200" y="5806440"/>
            <a:ext cx="11274552" cy="457200"/>
          </a:xfrm>
          <a:prstGeom prst="rect">
            <a:avLst/>
          </a:prstGeom>
          <a:solidFill>
            <a:srgbClr val="16324F"/>
          </a:solidFill>
          <a:ln/>
        </p:spPr>
      </p:sp>
      <p:sp>
        <p:nvSpPr>
          <p:cNvPr id="14" name="Text 11"/>
          <p:cNvSpPr/>
          <p:nvPr/>
        </p:nvSpPr>
        <p:spPr>
          <a:xfrm>
            <a:off x="685800" y="5806440"/>
            <a:ext cx="10881360" cy="457200"/>
          </a:xfrm>
          <a:prstGeom prst="rect">
            <a:avLst/>
          </a:prstGeom>
          <a:noFill/>
          <a:ln/>
        </p:spPr>
        <p:txBody>
          <a:bodyPr wrap="square" lIns="0" tIns="0" rIns="0" bIns="0" rtlCol="0" anchor="ctr"/>
          <a:lstStyle/>
          <a:p>
            <a:pPr indent="0" marL="0">
              <a:buNone/>
            </a:pPr>
            <a:r>
              <a:rPr lang="en-US" sz="1150" b="1" dirty="0">
                <a:solidFill>
                  <a:srgbClr val="C9A227"/>
                </a:solidFill>
                <a:latin typeface="Yu Gothic" pitchFamily="34" charset="0"/>
                <a:ea typeface="Yu Gothic" pitchFamily="34" charset="-122"/>
                <a:cs typeface="Yu Gothic" pitchFamily="34" charset="-120"/>
              </a:rPr>
              <a:t>既存の韓国LIB工場を再利用 → 防衛サプライチェーンの安定性を確保 + CAPEXを約70%削減</a:t>
            </a:r>
            <a:endParaRPr lang="en-US" sz="11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6.7 / 6.8  生産ロードマップと品質管理</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42/55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生産ロードマップ 2026–2030(0.3 → 1.3 GWh)と歩留まり管理</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Production Roadmap · Yield &amp; Quality Model</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3017520"/>
            <a:ext cx="2651760" cy="1005840"/>
          </a:xfrm>
          <a:prstGeom prst="rect">
            <a:avLst/>
          </a:prstGeom>
          <a:solidFill>
            <a:srgbClr val="24466B"/>
          </a:solidFill>
          <a:ln/>
        </p:spPr>
      </p:sp>
      <p:sp>
        <p:nvSpPr>
          <p:cNvPr id="13" name="Text 11"/>
          <p:cNvSpPr/>
          <p:nvPr/>
        </p:nvSpPr>
        <p:spPr>
          <a:xfrm>
            <a:off x="594360" y="3090672"/>
            <a:ext cx="2377440" cy="320040"/>
          </a:xfrm>
          <a:prstGeom prst="rect">
            <a:avLst/>
          </a:prstGeom>
          <a:noFill/>
          <a:ln/>
        </p:spPr>
        <p:txBody>
          <a:bodyPr wrap="square" lIns="0" tIns="0" rIns="0" bIns="0" rtlCol="0" anchor="ctr"/>
          <a:lstStyle/>
          <a:p>
            <a:pPr indent="0" marL="0">
              <a:buNone/>
            </a:pPr>
            <a:r>
              <a:rPr lang="en-US" sz="1300" b="1" dirty="0">
                <a:solidFill>
                  <a:srgbClr val="C9A227"/>
                </a:solidFill>
                <a:latin typeface="Arial" pitchFamily="34" charset="0"/>
                <a:ea typeface="Arial" pitchFamily="34" charset="-122"/>
                <a:cs typeface="Arial" pitchFamily="34" charset="-120"/>
              </a:rPr>
              <a:t>01  2026</a:t>
            </a:r>
            <a:endParaRPr lang="en-US" sz="1300" dirty="0"/>
          </a:p>
        </p:txBody>
      </p:sp>
      <p:sp>
        <p:nvSpPr>
          <p:cNvPr id="14" name="Text 12"/>
          <p:cNvSpPr/>
          <p:nvPr/>
        </p:nvSpPr>
        <p:spPr>
          <a:xfrm>
            <a:off x="594360" y="3429000"/>
            <a:ext cx="2377440" cy="548640"/>
          </a:xfrm>
          <a:prstGeom prst="rect">
            <a:avLst/>
          </a:prstGeom>
          <a:noFill/>
          <a:ln/>
        </p:spPr>
        <p:txBody>
          <a:bodyPr wrap="square" lIns="0" tIns="0" rIns="0" bIns="0" rtlCol="0" anchor="t"/>
          <a:lstStyle/>
          <a:p>
            <a:pPr indent="0" marL="0">
              <a:buNone/>
            </a:pPr>
            <a:r>
              <a:rPr lang="en-US" sz="900" dirty="0">
                <a:solidFill>
                  <a:srgbClr val="FFFFFF"/>
                </a:solidFill>
                <a:latin typeface="Yu Gothic" pitchFamily="34" charset="0"/>
                <a:ea typeface="Yu Gothic" pitchFamily="34" charset="-122"/>
                <a:cs typeface="Yu Gothic" pitchFamily="34" charset="-120"/>
              </a:rPr>
              <a:t>パイロット · 0.5 GWh · KC認証</a:t>
            </a:r>
            <a:endParaRPr lang="en-US" sz="900" dirty="0"/>
          </a:p>
        </p:txBody>
      </p:sp>
      <p:sp>
        <p:nvSpPr>
          <p:cNvPr id="15" name="Shape 13"/>
          <p:cNvSpPr/>
          <p:nvPr/>
        </p:nvSpPr>
        <p:spPr>
          <a:xfrm>
            <a:off x="3337560" y="2788920"/>
            <a:ext cx="2651760" cy="1234440"/>
          </a:xfrm>
          <a:prstGeom prst="rect">
            <a:avLst/>
          </a:prstGeom>
          <a:solidFill>
            <a:srgbClr val="24466B"/>
          </a:solidFill>
          <a:ln/>
        </p:spPr>
      </p:sp>
      <p:sp>
        <p:nvSpPr>
          <p:cNvPr id="16" name="Text 14"/>
          <p:cNvSpPr/>
          <p:nvPr/>
        </p:nvSpPr>
        <p:spPr>
          <a:xfrm>
            <a:off x="3474720" y="2862072"/>
            <a:ext cx="2377440" cy="320040"/>
          </a:xfrm>
          <a:prstGeom prst="rect">
            <a:avLst/>
          </a:prstGeom>
          <a:noFill/>
          <a:ln/>
        </p:spPr>
        <p:txBody>
          <a:bodyPr wrap="square" lIns="0" tIns="0" rIns="0" bIns="0" rtlCol="0" anchor="ctr"/>
          <a:lstStyle/>
          <a:p>
            <a:pPr indent="0" marL="0">
              <a:buNone/>
            </a:pPr>
            <a:r>
              <a:rPr lang="en-US" sz="1300" b="1" dirty="0">
                <a:solidFill>
                  <a:srgbClr val="C9A227"/>
                </a:solidFill>
                <a:latin typeface="Arial" pitchFamily="34" charset="0"/>
                <a:ea typeface="Arial" pitchFamily="34" charset="-122"/>
                <a:cs typeface="Arial" pitchFamily="34" charset="-120"/>
              </a:rPr>
              <a:t>02  2027-28</a:t>
            </a:r>
            <a:endParaRPr lang="en-US" sz="1300" dirty="0"/>
          </a:p>
        </p:txBody>
      </p:sp>
      <p:sp>
        <p:nvSpPr>
          <p:cNvPr id="17" name="Text 15"/>
          <p:cNvSpPr/>
          <p:nvPr/>
        </p:nvSpPr>
        <p:spPr>
          <a:xfrm>
            <a:off x="3474720" y="3200400"/>
            <a:ext cx="2377440" cy="777240"/>
          </a:xfrm>
          <a:prstGeom prst="rect">
            <a:avLst/>
          </a:prstGeom>
          <a:noFill/>
          <a:ln/>
        </p:spPr>
        <p:txBody>
          <a:bodyPr wrap="square" lIns="0" tIns="0" rIns="0" bIns="0" rtlCol="0" anchor="t"/>
          <a:lstStyle/>
          <a:p>
            <a:pPr indent="0" marL="0">
              <a:buNone/>
            </a:pPr>
            <a:r>
              <a:rPr lang="en-US" sz="900" dirty="0">
                <a:solidFill>
                  <a:srgbClr val="FFFFFF"/>
                </a:solidFill>
                <a:latin typeface="Yu Gothic" pitchFamily="34" charset="0"/>
                <a:ea typeface="Yu Gothic" pitchFamily="34" charset="-122"/>
                <a:cs typeface="Yu Gothic" pitchFamily="34" charset="-120"/>
              </a:rPr>
              <a:t>量産 · 2~3 GWh · IATF 16949</a:t>
            </a:r>
            <a:endParaRPr lang="en-US" sz="900" dirty="0"/>
          </a:p>
        </p:txBody>
      </p:sp>
      <p:sp>
        <p:nvSpPr>
          <p:cNvPr id="18" name="Shape 16"/>
          <p:cNvSpPr/>
          <p:nvPr/>
        </p:nvSpPr>
        <p:spPr>
          <a:xfrm>
            <a:off x="6217920" y="2560320"/>
            <a:ext cx="2651760" cy="1463040"/>
          </a:xfrm>
          <a:prstGeom prst="rect">
            <a:avLst/>
          </a:prstGeom>
          <a:solidFill>
            <a:srgbClr val="24466B"/>
          </a:solidFill>
          <a:ln/>
        </p:spPr>
      </p:sp>
      <p:sp>
        <p:nvSpPr>
          <p:cNvPr id="19" name="Text 17"/>
          <p:cNvSpPr/>
          <p:nvPr/>
        </p:nvSpPr>
        <p:spPr>
          <a:xfrm>
            <a:off x="6355080" y="2633472"/>
            <a:ext cx="2377440" cy="320040"/>
          </a:xfrm>
          <a:prstGeom prst="rect">
            <a:avLst/>
          </a:prstGeom>
          <a:noFill/>
          <a:ln/>
        </p:spPr>
        <p:txBody>
          <a:bodyPr wrap="square" lIns="0" tIns="0" rIns="0" bIns="0" rtlCol="0" anchor="ctr"/>
          <a:lstStyle/>
          <a:p>
            <a:pPr indent="0" marL="0">
              <a:buNone/>
            </a:pPr>
            <a:r>
              <a:rPr lang="en-US" sz="1300" b="1" dirty="0">
                <a:solidFill>
                  <a:srgbClr val="C9A227"/>
                </a:solidFill>
                <a:latin typeface="Arial" pitchFamily="34" charset="0"/>
                <a:ea typeface="Arial" pitchFamily="34" charset="-122"/>
                <a:cs typeface="Arial" pitchFamily="34" charset="-120"/>
              </a:rPr>
              <a:t>03  2029</a:t>
            </a:r>
            <a:endParaRPr lang="en-US" sz="1300" dirty="0"/>
          </a:p>
        </p:txBody>
      </p:sp>
      <p:sp>
        <p:nvSpPr>
          <p:cNvPr id="20" name="Text 18"/>
          <p:cNvSpPr/>
          <p:nvPr/>
        </p:nvSpPr>
        <p:spPr>
          <a:xfrm>
            <a:off x="6355080" y="2971800"/>
            <a:ext cx="2377440" cy="1005840"/>
          </a:xfrm>
          <a:prstGeom prst="rect">
            <a:avLst/>
          </a:prstGeom>
          <a:noFill/>
          <a:ln/>
        </p:spPr>
        <p:txBody>
          <a:bodyPr wrap="square" lIns="0" tIns="0" rIns="0" bIns="0" rtlCol="0" anchor="t"/>
          <a:lstStyle/>
          <a:p>
            <a:pPr indent="0" marL="0">
              <a:buNone/>
            </a:pPr>
            <a:r>
              <a:rPr lang="en-US" sz="900" dirty="0">
                <a:solidFill>
                  <a:srgbClr val="FFFFFF"/>
                </a:solidFill>
                <a:latin typeface="Yu Gothic" pitchFamily="34" charset="0"/>
                <a:ea typeface="Yu Gothic" pitchFamily="34" charset="-122"/>
                <a:cs typeface="Yu Gothic" pitchFamily="34" charset="-120"/>
              </a:rPr>
              <a:t>グローバル展開 · 10 GWh · FAA TSO-C179b</a:t>
            </a:r>
            <a:endParaRPr lang="en-US" sz="900" dirty="0"/>
          </a:p>
        </p:txBody>
      </p:sp>
      <p:sp>
        <p:nvSpPr>
          <p:cNvPr id="21" name="Shape 19"/>
          <p:cNvSpPr/>
          <p:nvPr/>
        </p:nvSpPr>
        <p:spPr>
          <a:xfrm>
            <a:off x="9098280" y="2331720"/>
            <a:ext cx="2651760" cy="1691640"/>
          </a:xfrm>
          <a:prstGeom prst="rect">
            <a:avLst/>
          </a:prstGeom>
          <a:solidFill>
            <a:srgbClr val="C9A227"/>
          </a:solidFill>
          <a:ln/>
        </p:spPr>
      </p:sp>
      <p:sp>
        <p:nvSpPr>
          <p:cNvPr id="22" name="Text 20"/>
          <p:cNvSpPr/>
          <p:nvPr/>
        </p:nvSpPr>
        <p:spPr>
          <a:xfrm>
            <a:off x="9235440" y="2404872"/>
            <a:ext cx="2377440" cy="320040"/>
          </a:xfrm>
          <a:prstGeom prst="rect">
            <a:avLst/>
          </a:prstGeom>
          <a:noFill/>
          <a:ln/>
        </p:spPr>
        <p:txBody>
          <a:bodyPr wrap="square" lIns="0" tIns="0" rIns="0" bIns="0" rtlCol="0" anchor="ctr"/>
          <a:lstStyle/>
          <a:p>
            <a:pPr indent="0" marL="0">
              <a:buNone/>
            </a:pPr>
            <a:r>
              <a:rPr lang="en-US" sz="1300" b="1" dirty="0">
                <a:solidFill>
                  <a:srgbClr val="16324F"/>
                </a:solidFill>
                <a:latin typeface="Arial" pitchFamily="34" charset="0"/>
                <a:ea typeface="Arial" pitchFamily="34" charset="-122"/>
                <a:cs typeface="Arial" pitchFamily="34" charset="-120"/>
              </a:rPr>
              <a:t>04  2030</a:t>
            </a:r>
            <a:endParaRPr lang="en-US" sz="1300" dirty="0"/>
          </a:p>
        </p:txBody>
      </p:sp>
      <p:sp>
        <p:nvSpPr>
          <p:cNvPr id="23" name="Text 21"/>
          <p:cNvSpPr/>
          <p:nvPr/>
        </p:nvSpPr>
        <p:spPr>
          <a:xfrm>
            <a:off x="9235440" y="2743200"/>
            <a:ext cx="2377440" cy="1234440"/>
          </a:xfrm>
          <a:prstGeom prst="rect">
            <a:avLst/>
          </a:prstGeom>
          <a:noFill/>
          <a:ln/>
        </p:spPr>
        <p:txBody>
          <a:bodyPr wrap="square" lIns="0" tIns="0" rIns="0" bIns="0" rtlCol="0" anchor="t"/>
          <a:lstStyle/>
          <a:p>
            <a:pPr indent="0" marL="0">
              <a:buNone/>
            </a:pPr>
            <a:r>
              <a:rPr lang="en-US" sz="900" b="1" dirty="0">
                <a:solidFill>
                  <a:srgbClr val="16324F"/>
                </a:solidFill>
                <a:latin typeface="Yu Gothic" pitchFamily="34" charset="0"/>
                <a:ea typeface="Yu Gothic" pitchFamily="34" charset="-122"/>
                <a:cs typeface="Yu Gothic" pitchFamily="34" charset="-120"/>
              </a:rPr>
              <a:t>KOSDAQ IPO · 50 GWh · 売上目標 1.74兆ウォン</a:t>
            </a:r>
            <a:endParaRPr lang="en-US" sz="9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4206240"/>
          <a:ext cx="11274552" cy="914400"/>
        </p:xfrm>
        <a:graphic>
          <a:graphicData uri="http://schemas.openxmlformats.org/drawingml/2006/table">
            <a:tbl>
              <a:tblPr/>
              <a:tblGrid>
                <a:gridCol w="3017520"/>
                <a:gridCol w="1371600"/>
                <a:gridCol w="1554480"/>
                <a:gridCol w="5330952"/>
              </a:tblGrid>
              <a:tr h="347472">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段階</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期間</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歩留まり</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主要管理項目</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r>
              <a:tr h="347472">
                <a:tc>
                  <a:txBody>
                    <a:bodyPr/>
                    <a:lstStyle/>
                    <a:p>
                      <a:pPr algn="l" indent="0" marL="0">
                        <a:buNone/>
                      </a:pPr>
                      <a:r>
                        <a:rPr lang="en-US" sz="900" b="1" dirty="0">
                          <a:solidFill>
                            <a:srgbClr val="1A1A1A"/>
                          </a:solidFill>
                          <a:latin typeface="Yu Gothic" pitchFamily="34" charset="0"/>
                          <a:ea typeface="Yu Gothic" pitchFamily="34" charset="-122"/>
                          <a:cs typeface="Yu Gothic" pitchFamily="34" charset="-120"/>
                        </a:rPr>
                        <a:t>パイロット(0.3 GWh)</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Yu Gothic" pitchFamily="34" charset="0"/>
                          <a:ea typeface="Yu Gothic" pitchFamily="34" charset="-122"/>
                          <a:cs typeface="Yu Gothic" pitchFamily="34" charset="-120"/>
                        </a:rPr>
                        <a:t>2026</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Yu Gothic" pitchFamily="34" charset="0"/>
                          <a:ea typeface="Yu Gothic" pitchFamily="34" charset="-122"/>
                          <a:cs typeface="Yu Gothic" pitchFamily="34" charset="-120"/>
                        </a:rPr>
                        <a:t>70~75%</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Yu Gothic" pitchFamily="34" charset="0"/>
                          <a:ea typeface="Yu Gothic" pitchFamily="34" charset="-122"/>
                          <a:cs typeface="Yu Gothic" pitchFamily="34" charset="-120"/>
                        </a:rPr>
                        <a:t>プロセス確立 · KC認証</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47472">
                <a:tc>
                  <a:txBody>
                    <a:bodyPr/>
                    <a:lstStyle/>
                    <a:p>
                      <a:pPr algn="l" indent="0" marL="0">
                        <a:buNone/>
                      </a:pPr>
                      <a:r>
                        <a:rPr lang="en-US" sz="900" b="1" dirty="0">
                          <a:solidFill>
                            <a:srgbClr val="1A1A1A"/>
                          </a:solidFill>
                          <a:latin typeface="Yu Gothic" pitchFamily="34" charset="0"/>
                          <a:ea typeface="Yu Gothic" pitchFamily="34" charset="-122"/>
                          <a:cs typeface="Yu Gothic" pitchFamily="34" charset="-120"/>
                        </a:rPr>
                        <a:t>量産1年目(0.8 GWh)</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00" dirty="0">
                          <a:solidFill>
                            <a:srgbClr val="1A1A1A"/>
                          </a:solidFill>
                          <a:latin typeface="Yu Gothic" pitchFamily="34" charset="0"/>
                          <a:ea typeface="Yu Gothic" pitchFamily="34" charset="-122"/>
                          <a:cs typeface="Yu Gothic" pitchFamily="34" charset="-120"/>
                        </a:rPr>
                        <a:t>2027</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00" dirty="0">
                          <a:solidFill>
                            <a:srgbClr val="1A1A1A"/>
                          </a:solidFill>
                          <a:latin typeface="Yu Gothic" pitchFamily="34" charset="0"/>
                          <a:ea typeface="Yu Gothic" pitchFamily="34" charset="-122"/>
                          <a:cs typeface="Yu Gothic" pitchFamily="34" charset="-120"/>
                        </a:rPr>
                        <a:t>85~88%</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00" dirty="0">
                          <a:solidFill>
                            <a:srgbClr val="1A1A1A"/>
                          </a:solidFill>
                          <a:latin typeface="Yu Gothic" pitchFamily="34" charset="0"/>
                          <a:ea typeface="Yu Gothic" pitchFamily="34" charset="-122"/>
                          <a:cs typeface="Yu Gothic" pitchFamily="34" charset="-120"/>
                        </a:rPr>
                        <a:t>AI塗工制御</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347472">
                <a:tc>
                  <a:txBody>
                    <a:bodyPr/>
                    <a:lstStyle/>
                    <a:p>
                      <a:pPr algn="l" indent="0" marL="0">
                        <a:buNone/>
                      </a:pPr>
                      <a:r>
                        <a:rPr lang="en-US" sz="900" b="1" dirty="0">
                          <a:solidFill>
                            <a:srgbClr val="1A1A1A"/>
                          </a:solidFill>
                          <a:latin typeface="Yu Gothic" pitchFamily="34" charset="0"/>
                          <a:ea typeface="Yu Gothic" pitchFamily="34" charset="-122"/>
                          <a:cs typeface="Yu Gothic" pitchFamily="34" charset="-120"/>
                        </a:rPr>
                        <a:t>量産定常(1.3 GWh)</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Yu Gothic" pitchFamily="34" charset="0"/>
                          <a:ea typeface="Yu Gothic" pitchFamily="34" charset="-122"/>
                          <a:cs typeface="Yu Gothic" pitchFamily="34" charset="-120"/>
                        </a:rPr>
                        <a:t>2028</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Yu Gothic" pitchFamily="34" charset="0"/>
                          <a:ea typeface="Yu Gothic" pitchFamily="34" charset="-122"/>
                          <a:cs typeface="Yu Gothic" pitchFamily="34" charset="-120"/>
                        </a:rPr>
                        <a:t>90~92%</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Yu Gothic" pitchFamily="34" charset="0"/>
                          <a:ea typeface="Yu Gothic" pitchFamily="34" charset="-122"/>
                          <a:cs typeface="Yu Gothic" pitchFamily="34" charset="-120"/>
                        </a:rPr>
                        <a:t>グローバル認証の拡大</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47472">
                <a:tc>
                  <a:txBody>
                    <a:bodyPr/>
                    <a:lstStyle/>
                    <a:p>
                      <a:pPr algn="l" indent="0" marL="0">
                        <a:buNone/>
                      </a:pPr>
                      <a:r>
                        <a:rPr lang="en-US" sz="900" b="1" dirty="0">
                          <a:solidFill>
                            <a:srgbClr val="1A1A1A"/>
                          </a:solidFill>
                          <a:latin typeface="Yu Gothic" pitchFamily="34" charset="0"/>
                          <a:ea typeface="Yu Gothic" pitchFamily="34" charset="-122"/>
                          <a:cs typeface="Yu Gothic" pitchFamily="34" charset="-120"/>
                        </a:rPr>
                        <a:t>グローバル展開</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00" dirty="0">
                          <a:solidFill>
                            <a:srgbClr val="1A1A1A"/>
                          </a:solidFill>
                          <a:latin typeface="Yu Gothic" pitchFamily="34" charset="0"/>
                          <a:ea typeface="Yu Gothic" pitchFamily="34" charset="-122"/>
                          <a:cs typeface="Yu Gothic" pitchFamily="34" charset="-120"/>
                        </a:rPr>
                        <a:t>2029</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900" dirty="0">
                          <a:solidFill>
                            <a:srgbClr val="1A1A1A"/>
                          </a:solidFill>
                          <a:latin typeface="Yu Gothic" pitchFamily="34" charset="0"/>
                          <a:ea typeface="Yu Gothic" pitchFamily="34" charset="-122"/>
                          <a:cs typeface="Yu Gothic" pitchFamily="34" charset="-120"/>
                        </a:rPr>
                        <a:t>92~94%</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00" dirty="0">
                          <a:solidFill>
                            <a:srgbClr val="1A1A1A"/>
                          </a:solidFill>
                          <a:latin typeface="Yu Gothic" pitchFamily="34" charset="0"/>
                          <a:ea typeface="Yu Gothic" pitchFamily="34" charset="-122"/>
                          <a:cs typeface="Yu Gothic" pitchFamily="34" charset="-120"/>
                        </a:rPr>
                        <a:t>防衛向け同時供給</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347472">
                <a:tc>
                  <a:txBody>
                    <a:bodyPr/>
                    <a:lstStyle/>
                    <a:p>
                      <a:pPr algn="l" indent="0" marL="0">
                        <a:buNone/>
                      </a:pPr>
                      <a:r>
                        <a:rPr lang="en-US" sz="900" b="1" dirty="0">
                          <a:solidFill>
                            <a:srgbClr val="1A1A1A"/>
                          </a:solidFill>
                          <a:latin typeface="Yu Gothic" pitchFamily="34" charset="0"/>
                          <a:ea typeface="Yu Gothic" pitchFamily="34" charset="-122"/>
                          <a:cs typeface="Yu Gothic" pitchFamily="34" charset="-120"/>
                        </a:rPr>
                        <a:t>IPO後拡張(1.3 GWh+)</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Yu Gothic" pitchFamily="34" charset="0"/>
                          <a:ea typeface="Yu Gothic" pitchFamily="34" charset="-122"/>
                          <a:cs typeface="Yu Gothic" pitchFamily="34" charset="-120"/>
                        </a:rPr>
                        <a:t>2030+</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Yu Gothic" pitchFamily="34" charset="0"/>
                          <a:ea typeface="Yu Gothic" pitchFamily="34" charset="-122"/>
                          <a:cs typeface="Yu Gothic" pitchFamily="34" charset="-120"/>
                        </a:rPr>
                        <a:t>94~96%</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Yu Gothic" pitchFamily="34" charset="0"/>
                          <a:ea typeface="Yu Gothic" pitchFamily="34" charset="-122"/>
                          <a:cs typeface="Yu Gothic" pitchFamily="34" charset="-120"/>
                        </a:rPr>
                        <a:t>EBITDA 20%+</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bl>
          </a:graphicData>
        </a:graphic>
      </p:graphicFrame>
      <p:sp>
        <p:nvSpPr>
          <p:cNvPr id="25" name="Text 22"/>
          <p:cNvSpPr/>
          <p:nvPr/>
        </p:nvSpPr>
        <p:spPr>
          <a:xfrm>
            <a:off x="457200" y="6263640"/>
            <a:ext cx="11274552" cy="274320"/>
          </a:xfrm>
          <a:prstGeom prst="rect">
            <a:avLst/>
          </a:prstGeom>
          <a:noFill/>
          <a:ln/>
        </p:spPr>
        <p:txBody>
          <a:bodyPr wrap="square" lIns="0" tIns="0" rIns="0" bIns="0" rtlCol="0" anchor="ctr"/>
          <a:lstStyle/>
          <a:p>
            <a:pPr indent="0" marL="0">
              <a:buNone/>
            </a:pPr>
            <a:r>
              <a:rPr lang="en-US" sz="850" dirty="0">
                <a:solidFill>
                  <a:srgbClr val="5A5A5A"/>
                </a:solidFill>
                <a:latin typeface="Yu Gothic" pitchFamily="34" charset="0"/>
                <a:ea typeface="Yu Gothic" pitchFamily="34" charset="-122"/>
                <a:cs typeface="Yu Gothic" pitchFamily="34" charset="-120"/>
              </a:rPr>
              <a:t>全数検査:V-プロファイル · インピーダンス · 膜厚 · 外観 · X線 · 磁気漏れ  /  追加防衛検証:NATO 7.62 mm貫通、MIL-STD-810、MIL-STD-167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6324F"/>
        </a:solidFill>
      </p:bgPr>
    </p:bg>
    <p:spTree>
      <p:nvGrpSpPr>
        <p:cNvPr id="1" name=""/>
        <p:cNvGrpSpPr/>
        <p:nvPr/>
      </p:nvGrpSpPr>
      <p:grpSpPr>
        <a:xfrm>
          <a:off x="0" y="0"/>
          <a:ext cx="0" cy="0"/>
          <a:chOff x="0" y="0"/>
          <a:chExt cx="0" cy="0"/>
        </a:xfrm>
      </p:grpSpPr>
      <p:sp>
        <p:nvSpPr>
          <p:cNvPr id="2" name="Text 0"/>
          <p:cNvSpPr/>
          <p:nvPr/>
        </p:nvSpPr>
        <p:spPr>
          <a:xfrm>
            <a:off x="457200" y="411480"/>
            <a:ext cx="274320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BK DONGYEOUNG TECH</a:t>
            </a:r>
            <a:endParaRPr lang="en-US" sz="900" dirty="0"/>
          </a:p>
        </p:txBody>
      </p:sp>
      <p:sp>
        <p:nvSpPr>
          <p:cNvPr id="3" name="Text 1"/>
          <p:cNvSpPr/>
          <p:nvPr/>
        </p:nvSpPr>
        <p:spPr>
          <a:xfrm>
            <a:off x="502920" y="1417320"/>
            <a:ext cx="4572000" cy="411480"/>
          </a:xfrm>
          <a:prstGeom prst="rect">
            <a:avLst/>
          </a:prstGeom>
          <a:noFill/>
          <a:ln/>
        </p:spPr>
        <p:txBody>
          <a:bodyPr wrap="square" lIns="0" tIns="0" rIns="0" bIns="0" rtlCol="0" anchor="ctr"/>
          <a:lstStyle/>
          <a:p>
            <a:pPr indent="0" marL="0">
              <a:buNone/>
            </a:pPr>
            <a:r>
              <a:rPr lang="en-US" sz="1800" b="1" dirty="0">
                <a:solidFill>
                  <a:srgbClr val="C9A227"/>
                </a:solidFill>
                <a:latin typeface="Arial" pitchFamily="34" charset="0"/>
                <a:ea typeface="Arial" pitchFamily="34" charset="-122"/>
                <a:cs typeface="Arial" pitchFamily="34" charset="-120"/>
              </a:rPr>
              <a:t>CHAPTER 07</a:t>
            </a:r>
            <a:endParaRPr lang="en-US" sz="1800" dirty="0"/>
          </a:p>
        </p:txBody>
      </p:sp>
      <p:sp>
        <p:nvSpPr>
          <p:cNvPr id="4" name="Shape 2"/>
          <p:cNvSpPr/>
          <p:nvPr/>
        </p:nvSpPr>
        <p:spPr>
          <a:xfrm>
            <a:off x="530352" y="1965960"/>
            <a:ext cx="502920" cy="64008"/>
          </a:xfrm>
          <a:prstGeom prst="rect">
            <a:avLst/>
          </a:prstGeom>
          <a:solidFill>
            <a:srgbClr val="C9A227"/>
          </a:solidFill>
          <a:ln/>
        </p:spPr>
      </p:sp>
      <p:sp>
        <p:nvSpPr>
          <p:cNvPr id="5" name="Text 3"/>
          <p:cNvSpPr/>
          <p:nvPr/>
        </p:nvSpPr>
        <p:spPr>
          <a:xfrm>
            <a:off x="457200" y="2148840"/>
            <a:ext cx="5852160" cy="2011680"/>
          </a:xfrm>
          <a:prstGeom prst="rect">
            <a:avLst/>
          </a:prstGeom>
          <a:noFill/>
          <a:ln/>
        </p:spPr>
        <p:txBody>
          <a:bodyPr wrap="square" lIns="0" tIns="0" rIns="0" bIns="0" rtlCol="0" anchor="t"/>
          <a:lstStyle/>
          <a:p>
            <a:pPr indent="0" marL="0">
              <a:buNone/>
            </a:pPr>
            <a:r>
              <a:rPr lang="en-US" sz="3400" b="1" dirty="0">
                <a:solidFill>
                  <a:srgbClr val="FFFFFF"/>
                </a:solidFill>
                <a:latin typeface="Yu Gothic" pitchFamily="34" charset="0"/>
                <a:ea typeface="Yu Gothic" pitchFamily="34" charset="-122"/>
                <a:cs typeface="Yu Gothic" pitchFamily="34" charset="-120"/>
              </a:rPr>
              <a:t>実地検証</a:t>
            </a:r>
            <a:endParaRPr lang="en-US" sz="3400" dirty="0"/>
          </a:p>
          <a:p>
            <a:pPr indent="0" marL="0">
              <a:buNone/>
            </a:pPr>
            <a:r>
              <a:rPr lang="en-US" sz="3400" b="1" dirty="0">
                <a:solidFill>
                  <a:srgbClr val="FFFFFF"/>
                </a:solidFill>
                <a:latin typeface="Yu Gothic" pitchFamily="34" charset="0"/>
                <a:ea typeface="Yu Gothic" pitchFamily="34" charset="-122"/>
                <a:cs typeface="Yu Gothic" pitchFamily="34" charset="-120"/>
              </a:rPr>
              <a:t>グローバル実績</a:t>
            </a:r>
            <a:endParaRPr lang="en-US" sz="3400" dirty="0"/>
          </a:p>
        </p:txBody>
      </p:sp>
      <p:sp>
        <p:nvSpPr>
          <p:cNvPr id="6" name="Text 4"/>
          <p:cNvSpPr/>
          <p:nvPr/>
        </p:nvSpPr>
        <p:spPr>
          <a:xfrm>
            <a:off x="502920" y="4434840"/>
            <a:ext cx="5394960" cy="1920240"/>
          </a:xfrm>
          <a:prstGeom prst="rect">
            <a:avLst/>
          </a:prstGeom>
          <a:noFill/>
          <a:ln/>
        </p:spPr>
        <p:txBody>
          <a:bodyPr wrap="square" lIns="0" tIns="0" rIns="0" bIns="0" rtlCol="0" anchor="t"/>
          <a:lstStyle/>
          <a:p>
            <a:pPr indent="0" marL="0">
              <a:buNone/>
            </a:pPr>
            <a:r>
              <a:rPr lang="en-US" sz="1150" dirty="0">
                <a:solidFill>
                  <a:srgbClr val="D8DEE8"/>
                </a:solidFill>
                <a:latin typeface="Yu Gothic" pitchFamily="34" charset="0"/>
                <a:ea typeface="Yu Gothic" pitchFamily="34" charset="-122"/>
                <a:cs typeface="Yu Gothic" pitchFamily="34" charset="-120"/>
              </a:rPr>
              <a:t>NATOノルウェー実地検証、韓国消防庁・農業法人との運用、JATCO(日産)共同R&amp;D、戸田建設 日本350拠点、KEPCO島嶼ESS、UNISTリバースエンジニアリング 9.7/10。</a:t>
            </a:r>
            <a:endParaRPr lang="en-US" sz="1150" dirty="0"/>
          </a:p>
          <a:p>
            <a:pPr indent="0" marL="0">
              <a:buNone/>
            </a:pPr>
            <a:endParaRPr lang="en-US" sz="1150" dirty="0"/>
          </a:p>
          <a:p>
            <a:pPr indent="0" marL="0">
              <a:buNone/>
            </a:pPr>
            <a:r>
              <a:rPr lang="en-US" sz="1150" dirty="0">
                <a:solidFill>
                  <a:srgbClr val="D8DEE8"/>
                </a:solidFill>
                <a:latin typeface="Yu Gothic" pitchFamily="34" charset="0"/>
                <a:ea typeface="Yu Gothic" pitchFamily="34" charset="-122"/>
                <a:cs typeface="Yu Gothic" pitchFamily="34" charset="-120"/>
              </a:rPr>
              <a:t>客観的な検証とグローバル実績を提示する。</a:t>
            </a:r>
            <a:endParaRPr lang="en-US" sz="1150" dirty="0"/>
          </a:p>
        </p:txBody>
      </p:sp>
      <p:sp>
        <p:nvSpPr>
          <p:cNvPr id="7" name="Shape 5"/>
          <p:cNvSpPr/>
          <p:nvPr/>
        </p:nvSpPr>
        <p:spPr>
          <a:xfrm>
            <a:off x="6400800" y="914400"/>
            <a:ext cx="5330952" cy="5029200"/>
          </a:xfrm>
          <a:prstGeom prst="rect">
            <a:avLst/>
          </a:prstGeom>
          <a:solidFill>
            <a:srgbClr val="24466B"/>
          </a:solidFill>
          <a:ln/>
        </p:spPr>
      </p:sp>
      <p:sp>
        <p:nvSpPr>
          <p:cNvPr id="8" name="Shape 6"/>
          <p:cNvSpPr/>
          <p:nvPr/>
        </p:nvSpPr>
        <p:spPr>
          <a:xfrm>
            <a:off x="6400800" y="914400"/>
            <a:ext cx="5330952" cy="82296"/>
          </a:xfrm>
          <a:prstGeom prst="rect">
            <a:avLst/>
          </a:prstGeom>
          <a:solidFill>
            <a:srgbClr val="C9A227"/>
          </a:solidFill>
          <a:ln/>
        </p:spPr>
      </p:sp>
      <p:sp>
        <p:nvSpPr>
          <p:cNvPr id="9" name="Text 7"/>
          <p:cNvSpPr/>
          <p:nvPr/>
        </p:nvSpPr>
        <p:spPr>
          <a:xfrm>
            <a:off x="6400800" y="2743200"/>
            <a:ext cx="5330952"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TNO-S</a:t>
            </a:r>
            <a:endParaRPr lang="en-US" sz="4400" dirty="0"/>
          </a:p>
        </p:txBody>
      </p:sp>
      <p:sp>
        <p:nvSpPr>
          <p:cNvPr id="10" name="Text 8"/>
          <p:cNvSpPr/>
          <p:nvPr/>
        </p:nvSpPr>
        <p:spPr>
          <a:xfrm>
            <a:off x="6400800" y="3657600"/>
            <a:ext cx="5330952" cy="365760"/>
          </a:xfrm>
          <a:prstGeom prst="rect">
            <a:avLst/>
          </a:prstGeom>
          <a:noFill/>
          <a:ln/>
        </p:spPr>
        <p:txBody>
          <a:bodyPr wrap="square" lIns="0" tIns="0" rIns="0" bIns="0" rtlCol="0" anchor="ctr"/>
          <a:lstStyle/>
          <a:p>
            <a:pPr algn="ctr" indent="0" marL="0">
              <a:buNone/>
            </a:pPr>
            <a:r>
              <a:rPr lang="en-US" sz="1200" dirty="0">
                <a:solidFill>
                  <a:srgbClr val="C9A227"/>
                </a:solidFill>
                <a:latin typeface="Arial" pitchFamily="34" charset="0"/>
                <a:ea typeface="Arial" pitchFamily="34" charset="-122"/>
                <a:cs typeface="Arial" pitchFamily="34" charset="-120"/>
              </a:rPr>
              <a:t>Lithium-Free All-Solid-State Battery</a:t>
            </a:r>
            <a:endParaRPr lang="en-US" sz="1200" dirty="0"/>
          </a:p>
        </p:txBody>
      </p:sp>
      <p:sp>
        <p:nvSpPr>
          <p:cNvPr id="11" name="Text 9"/>
          <p:cNvSpPr/>
          <p:nvPr/>
        </p:nvSpPr>
        <p:spPr>
          <a:xfrm>
            <a:off x="10725912" y="6355080"/>
            <a:ext cx="1097280" cy="274320"/>
          </a:xfrm>
          <a:prstGeom prst="rect">
            <a:avLst/>
          </a:prstGeom>
          <a:noFill/>
          <a:ln/>
        </p:spPr>
        <p:txBody>
          <a:bodyPr wrap="square" lIns="0" tIns="0" rIns="0" bIns="0" rtlCol="0" anchor="ctr"/>
          <a:lstStyle/>
          <a:p>
            <a:pPr algn="r" indent="0" marL="0">
              <a:buNone/>
            </a:pPr>
            <a:r>
              <a:rPr lang="en-US" sz="1000" b="1" dirty="0">
                <a:solidFill>
                  <a:srgbClr val="C9A227"/>
                </a:solidFill>
                <a:latin typeface="Arial" pitchFamily="34" charset="0"/>
                <a:ea typeface="Arial" pitchFamily="34" charset="-122"/>
                <a:cs typeface="Arial" pitchFamily="34" charset="-120"/>
              </a:rPr>
              <a:t>p.43/55</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7.1  グローバル運用実績 — 年間100億ウォン</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44/55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グローバル運用実績 — 年間100億ウォン</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Global Track Record</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691640"/>
            <a:ext cx="3611880" cy="548640"/>
          </a:xfrm>
          <a:prstGeom prst="rect">
            <a:avLst/>
          </a:prstGeom>
          <a:solidFill>
            <a:srgbClr val="16324F"/>
          </a:solidFill>
          <a:ln/>
        </p:spPr>
      </p:sp>
      <p:sp>
        <p:nvSpPr>
          <p:cNvPr id="13" name="Text 11"/>
          <p:cNvSpPr/>
          <p:nvPr/>
        </p:nvSpPr>
        <p:spPr>
          <a:xfrm>
            <a:off x="457200" y="1691640"/>
            <a:ext cx="3611880" cy="548640"/>
          </a:xfrm>
          <a:prstGeom prst="rect">
            <a:avLst/>
          </a:prstGeom>
          <a:noFill/>
          <a:ln/>
        </p:spPr>
        <p:txBody>
          <a:bodyPr wrap="square" lIns="0" tIns="0" rIns="0" bIns="0" rtlCol="0" anchor="ctr"/>
          <a:lstStyle/>
          <a:p>
            <a:pPr algn="ctr" indent="0" marL="0">
              <a:buNone/>
            </a:pPr>
            <a:r>
              <a:rPr lang="en-US" sz="1250" b="1" dirty="0">
                <a:solidFill>
                  <a:srgbClr val="C9A227"/>
                </a:solidFill>
                <a:latin typeface="Yu Gothic" pitchFamily="34" charset="0"/>
                <a:ea typeface="Yu Gothic" pitchFamily="34" charset="-122"/>
                <a:cs typeface="Yu Gothic" pitchFamily="34" charset="-120"/>
              </a:rPr>
              <a:t>NATOノルウェー</a:t>
            </a:r>
            <a:endParaRPr lang="en-US" sz="1250" dirty="0"/>
          </a:p>
        </p:txBody>
      </p:sp>
      <p:sp>
        <p:nvSpPr>
          <p:cNvPr id="14" name="Shape 12"/>
          <p:cNvSpPr/>
          <p:nvPr/>
        </p:nvSpPr>
        <p:spPr>
          <a:xfrm>
            <a:off x="457200" y="2240280"/>
            <a:ext cx="3611880" cy="2286000"/>
          </a:xfrm>
          <a:prstGeom prst="rect">
            <a:avLst/>
          </a:prstGeom>
          <a:solidFill>
            <a:srgbClr val="FFFFFF"/>
          </a:solidFill>
          <a:ln w="9525">
            <a:solidFill>
              <a:srgbClr val="C8C8C8"/>
            </a:solidFill>
            <a:prstDash val="solid"/>
          </a:ln>
        </p:spPr>
      </p:sp>
      <p:sp>
        <p:nvSpPr>
          <p:cNvPr id="15" name="Text 13"/>
          <p:cNvSpPr/>
          <p:nvPr/>
        </p:nvSpPr>
        <p:spPr>
          <a:xfrm>
            <a:off x="457200" y="2468880"/>
            <a:ext cx="3611880" cy="731520"/>
          </a:xfrm>
          <a:prstGeom prst="rect">
            <a:avLst/>
          </a:prstGeom>
          <a:noFill/>
          <a:ln/>
        </p:spPr>
        <p:txBody>
          <a:bodyPr wrap="square" lIns="0" tIns="0" rIns="0" bIns="0" rtlCol="0" anchor="ctr"/>
          <a:lstStyle/>
          <a:p>
            <a:pPr algn="ctr" indent="0" marL="0">
              <a:buNone/>
            </a:pPr>
            <a:r>
              <a:rPr lang="en-US" sz="3000" b="1" dirty="0">
                <a:solidFill>
                  <a:srgbClr val="16324F"/>
                </a:solidFill>
                <a:latin typeface="Arial" pitchFamily="34" charset="0"/>
                <a:ea typeface="Arial" pitchFamily="34" charset="-122"/>
                <a:cs typeface="Arial" pitchFamily="34" charset="-120"/>
              </a:rPr>
              <a:t>KRW 73億</a:t>
            </a:r>
            <a:endParaRPr lang="en-US" sz="3000" dirty="0"/>
          </a:p>
        </p:txBody>
      </p:sp>
      <p:sp>
        <p:nvSpPr>
          <p:cNvPr id="16" name="Text 14"/>
          <p:cNvSpPr/>
          <p:nvPr/>
        </p:nvSpPr>
        <p:spPr>
          <a:xfrm>
            <a:off x="457200" y="3291840"/>
            <a:ext cx="3611880" cy="365760"/>
          </a:xfrm>
          <a:prstGeom prst="rect">
            <a:avLst/>
          </a:prstGeom>
          <a:noFill/>
          <a:ln/>
        </p:spPr>
        <p:txBody>
          <a:bodyPr wrap="square" lIns="0" tIns="0" rIns="0" bIns="0" rtlCol="0" anchor="ctr"/>
          <a:lstStyle/>
          <a:p>
            <a:pPr algn="ctr" indent="0" marL="0">
              <a:buNone/>
            </a:pPr>
            <a:r>
              <a:rPr lang="en-US" sz="1150" b="1" dirty="0">
                <a:solidFill>
                  <a:srgbClr val="1A1A1A"/>
                </a:solidFill>
                <a:latin typeface="Yu Gothic" pitchFamily="34" charset="0"/>
                <a:ea typeface="Yu Gothic" pitchFamily="34" charset="-122"/>
                <a:cs typeface="Yu Gothic" pitchFamily="34" charset="-120"/>
              </a:rPr>
              <a:t>軍用ドローン 86 Wh</a:t>
            </a:r>
            <a:endParaRPr lang="en-US" sz="1150" dirty="0"/>
          </a:p>
        </p:txBody>
      </p:sp>
      <p:sp>
        <p:nvSpPr>
          <p:cNvPr id="17" name="Text 15"/>
          <p:cNvSpPr/>
          <p:nvPr/>
        </p:nvSpPr>
        <p:spPr>
          <a:xfrm>
            <a:off x="457200" y="3703320"/>
            <a:ext cx="3611880" cy="365760"/>
          </a:xfrm>
          <a:prstGeom prst="rect">
            <a:avLst/>
          </a:prstGeom>
          <a:noFill/>
          <a:ln/>
        </p:spPr>
        <p:txBody>
          <a:bodyPr wrap="square" lIns="0" tIns="0" rIns="0" bIns="0" rtlCol="0" anchor="ctr"/>
          <a:lstStyle/>
          <a:p>
            <a:pPr algn="ctr" indent="0" marL="0">
              <a:buNone/>
            </a:pPr>
            <a:r>
              <a:rPr lang="en-US" sz="1000" dirty="0">
                <a:solidFill>
                  <a:srgbClr val="5A5A5A"/>
                </a:solidFill>
                <a:latin typeface="Yu Gothic" pitchFamily="34" charset="0"/>
                <a:ea typeface="Yu Gothic" pitchFamily="34" charset="-122"/>
                <a:cs typeface="Yu Gothic" pitchFamily="34" charset="-120"/>
              </a:rPr>
              <a:t>北極圏 -28°C、32分</a:t>
            </a:r>
            <a:endParaRPr lang="en-US" sz="1000" dirty="0"/>
          </a:p>
        </p:txBody>
      </p:sp>
      <p:sp>
        <p:nvSpPr>
          <p:cNvPr id="18" name="Shape 16"/>
          <p:cNvSpPr/>
          <p:nvPr/>
        </p:nvSpPr>
        <p:spPr>
          <a:xfrm>
            <a:off x="4297680" y="1691640"/>
            <a:ext cx="3611880" cy="548640"/>
          </a:xfrm>
          <a:prstGeom prst="rect">
            <a:avLst/>
          </a:prstGeom>
          <a:solidFill>
            <a:srgbClr val="16324F"/>
          </a:solidFill>
          <a:ln/>
        </p:spPr>
      </p:sp>
      <p:sp>
        <p:nvSpPr>
          <p:cNvPr id="19" name="Text 17"/>
          <p:cNvSpPr/>
          <p:nvPr/>
        </p:nvSpPr>
        <p:spPr>
          <a:xfrm>
            <a:off x="4297680" y="1691640"/>
            <a:ext cx="3611880" cy="548640"/>
          </a:xfrm>
          <a:prstGeom prst="rect">
            <a:avLst/>
          </a:prstGeom>
          <a:noFill/>
          <a:ln/>
        </p:spPr>
        <p:txBody>
          <a:bodyPr wrap="square" lIns="0" tIns="0" rIns="0" bIns="0" rtlCol="0" anchor="ctr"/>
          <a:lstStyle/>
          <a:p>
            <a:pPr algn="ctr" indent="0" marL="0">
              <a:buNone/>
            </a:pPr>
            <a:r>
              <a:rPr lang="en-US" sz="1250" b="1" dirty="0">
                <a:solidFill>
                  <a:srgbClr val="C9A227"/>
                </a:solidFill>
                <a:latin typeface="Yu Gothic" pitchFamily="34" charset="0"/>
                <a:ea typeface="Yu Gothic" pitchFamily="34" charset="-122"/>
                <a:cs typeface="Yu Gothic" pitchFamily="34" charset="-120"/>
              </a:rPr>
              <a:t>韓国消防庁</a:t>
            </a:r>
            <a:endParaRPr lang="en-US" sz="1250" dirty="0"/>
          </a:p>
        </p:txBody>
      </p:sp>
      <p:sp>
        <p:nvSpPr>
          <p:cNvPr id="20" name="Shape 18"/>
          <p:cNvSpPr/>
          <p:nvPr/>
        </p:nvSpPr>
        <p:spPr>
          <a:xfrm>
            <a:off x="4297680" y="2240280"/>
            <a:ext cx="3611880" cy="2286000"/>
          </a:xfrm>
          <a:prstGeom prst="rect">
            <a:avLst/>
          </a:prstGeom>
          <a:solidFill>
            <a:srgbClr val="FFFFFF"/>
          </a:solidFill>
          <a:ln w="9525">
            <a:solidFill>
              <a:srgbClr val="C8C8C8"/>
            </a:solidFill>
            <a:prstDash val="solid"/>
          </a:ln>
        </p:spPr>
      </p:sp>
      <p:sp>
        <p:nvSpPr>
          <p:cNvPr id="21" name="Text 19"/>
          <p:cNvSpPr/>
          <p:nvPr/>
        </p:nvSpPr>
        <p:spPr>
          <a:xfrm>
            <a:off x="4297680" y="2468880"/>
            <a:ext cx="3611880" cy="731520"/>
          </a:xfrm>
          <a:prstGeom prst="rect">
            <a:avLst/>
          </a:prstGeom>
          <a:noFill/>
          <a:ln/>
        </p:spPr>
        <p:txBody>
          <a:bodyPr wrap="square" lIns="0" tIns="0" rIns="0" bIns="0" rtlCol="0" anchor="ctr"/>
          <a:lstStyle/>
          <a:p>
            <a:pPr algn="ctr" indent="0" marL="0">
              <a:buNone/>
            </a:pPr>
            <a:r>
              <a:rPr lang="en-US" sz="3000" b="1" dirty="0">
                <a:solidFill>
                  <a:srgbClr val="16324F"/>
                </a:solidFill>
                <a:latin typeface="Arial" pitchFamily="34" charset="0"/>
                <a:ea typeface="Arial" pitchFamily="34" charset="-122"/>
                <a:cs typeface="Arial" pitchFamily="34" charset="-120"/>
              </a:rPr>
              <a:t>KRW 6億</a:t>
            </a:r>
            <a:endParaRPr lang="en-US" sz="3000" dirty="0"/>
          </a:p>
        </p:txBody>
      </p:sp>
      <p:sp>
        <p:nvSpPr>
          <p:cNvPr id="22" name="Text 20"/>
          <p:cNvSpPr/>
          <p:nvPr/>
        </p:nvSpPr>
        <p:spPr>
          <a:xfrm>
            <a:off x="4297680" y="3291840"/>
            <a:ext cx="3611880" cy="365760"/>
          </a:xfrm>
          <a:prstGeom prst="rect">
            <a:avLst/>
          </a:prstGeom>
          <a:noFill/>
          <a:ln/>
        </p:spPr>
        <p:txBody>
          <a:bodyPr wrap="square" lIns="0" tIns="0" rIns="0" bIns="0" rtlCol="0" anchor="ctr"/>
          <a:lstStyle/>
          <a:p>
            <a:pPr algn="ctr" indent="0" marL="0">
              <a:buNone/>
            </a:pPr>
            <a:r>
              <a:rPr lang="en-US" sz="1150" b="1" dirty="0">
                <a:solidFill>
                  <a:srgbClr val="1A1A1A"/>
                </a:solidFill>
                <a:latin typeface="Yu Gothic" pitchFamily="34" charset="0"/>
                <a:ea typeface="Yu Gothic" pitchFamily="34" charset="-122"/>
                <a:cs typeface="Yu Gothic" pitchFamily="34" charset="-120"/>
              </a:rPr>
              <a:t>消防ESS / ドローン</a:t>
            </a:r>
            <a:endParaRPr lang="en-US" sz="1150" dirty="0"/>
          </a:p>
        </p:txBody>
      </p:sp>
      <p:sp>
        <p:nvSpPr>
          <p:cNvPr id="23" name="Text 21"/>
          <p:cNvSpPr/>
          <p:nvPr/>
        </p:nvSpPr>
        <p:spPr>
          <a:xfrm>
            <a:off x="4297680" y="3703320"/>
            <a:ext cx="3611880" cy="365760"/>
          </a:xfrm>
          <a:prstGeom prst="rect">
            <a:avLst/>
          </a:prstGeom>
          <a:noFill/>
          <a:ln/>
        </p:spPr>
        <p:txBody>
          <a:bodyPr wrap="square" lIns="0" tIns="0" rIns="0" bIns="0" rtlCol="0" anchor="ctr"/>
          <a:lstStyle/>
          <a:p>
            <a:pPr algn="ctr" indent="0" marL="0">
              <a:buNone/>
            </a:pPr>
            <a:r>
              <a:rPr lang="en-US" sz="1000" dirty="0">
                <a:solidFill>
                  <a:srgbClr val="5A5A5A"/>
                </a:solidFill>
                <a:latin typeface="Yu Gothic" pitchFamily="34" charset="0"/>
                <a:ea typeface="Yu Gothic" pitchFamily="34" charset="-122"/>
                <a:cs typeface="Yu Gothic" pitchFamily="34" charset="-120"/>
              </a:rPr>
              <a:t>+70°C 火災現場</a:t>
            </a:r>
            <a:endParaRPr lang="en-US" sz="1000" dirty="0"/>
          </a:p>
        </p:txBody>
      </p:sp>
      <p:sp>
        <p:nvSpPr>
          <p:cNvPr id="24" name="Shape 22"/>
          <p:cNvSpPr/>
          <p:nvPr/>
        </p:nvSpPr>
        <p:spPr>
          <a:xfrm>
            <a:off x="8138160" y="1691640"/>
            <a:ext cx="3611880" cy="548640"/>
          </a:xfrm>
          <a:prstGeom prst="rect">
            <a:avLst/>
          </a:prstGeom>
          <a:solidFill>
            <a:srgbClr val="16324F"/>
          </a:solidFill>
          <a:ln/>
        </p:spPr>
      </p:sp>
      <p:sp>
        <p:nvSpPr>
          <p:cNvPr id="25" name="Text 23"/>
          <p:cNvSpPr/>
          <p:nvPr/>
        </p:nvSpPr>
        <p:spPr>
          <a:xfrm>
            <a:off x="8138160" y="1691640"/>
            <a:ext cx="3611880" cy="548640"/>
          </a:xfrm>
          <a:prstGeom prst="rect">
            <a:avLst/>
          </a:prstGeom>
          <a:noFill/>
          <a:ln/>
        </p:spPr>
        <p:txBody>
          <a:bodyPr wrap="square" lIns="0" tIns="0" rIns="0" bIns="0" rtlCol="0" anchor="ctr"/>
          <a:lstStyle/>
          <a:p>
            <a:pPr algn="ctr" indent="0" marL="0">
              <a:buNone/>
            </a:pPr>
            <a:r>
              <a:rPr lang="en-US" sz="1250" b="1" dirty="0">
                <a:solidFill>
                  <a:srgbClr val="C9A227"/>
                </a:solidFill>
                <a:latin typeface="Yu Gothic" pitchFamily="34" charset="0"/>
                <a:ea typeface="Yu Gothic" pitchFamily="34" charset="-122"/>
                <a:cs typeface="Yu Gothic" pitchFamily="34" charset="-120"/>
              </a:rPr>
              <a:t>韓国農業法人</a:t>
            </a:r>
            <a:endParaRPr lang="en-US" sz="1250" dirty="0"/>
          </a:p>
        </p:txBody>
      </p:sp>
      <p:sp>
        <p:nvSpPr>
          <p:cNvPr id="26" name="Shape 24"/>
          <p:cNvSpPr/>
          <p:nvPr/>
        </p:nvSpPr>
        <p:spPr>
          <a:xfrm>
            <a:off x="8138160" y="2240280"/>
            <a:ext cx="3611880" cy="2286000"/>
          </a:xfrm>
          <a:prstGeom prst="rect">
            <a:avLst/>
          </a:prstGeom>
          <a:solidFill>
            <a:srgbClr val="FFFFFF"/>
          </a:solidFill>
          <a:ln w="9525">
            <a:solidFill>
              <a:srgbClr val="C8C8C8"/>
            </a:solidFill>
            <a:prstDash val="solid"/>
          </a:ln>
        </p:spPr>
      </p:sp>
      <p:sp>
        <p:nvSpPr>
          <p:cNvPr id="27" name="Text 25"/>
          <p:cNvSpPr/>
          <p:nvPr/>
        </p:nvSpPr>
        <p:spPr>
          <a:xfrm>
            <a:off x="8138160" y="2468880"/>
            <a:ext cx="3611880" cy="731520"/>
          </a:xfrm>
          <a:prstGeom prst="rect">
            <a:avLst/>
          </a:prstGeom>
          <a:noFill/>
          <a:ln/>
        </p:spPr>
        <p:txBody>
          <a:bodyPr wrap="square" lIns="0" tIns="0" rIns="0" bIns="0" rtlCol="0" anchor="ctr"/>
          <a:lstStyle/>
          <a:p>
            <a:pPr algn="ctr" indent="0" marL="0">
              <a:buNone/>
            </a:pPr>
            <a:r>
              <a:rPr lang="en-US" sz="3000" b="1" dirty="0">
                <a:solidFill>
                  <a:srgbClr val="16324F"/>
                </a:solidFill>
                <a:latin typeface="Arial" pitchFamily="34" charset="0"/>
                <a:ea typeface="Arial" pitchFamily="34" charset="-122"/>
                <a:cs typeface="Arial" pitchFamily="34" charset="-120"/>
              </a:rPr>
              <a:t>KRW 3億</a:t>
            </a:r>
            <a:endParaRPr lang="en-US" sz="3000" dirty="0"/>
          </a:p>
        </p:txBody>
      </p:sp>
      <p:sp>
        <p:nvSpPr>
          <p:cNvPr id="28" name="Text 26"/>
          <p:cNvSpPr/>
          <p:nvPr/>
        </p:nvSpPr>
        <p:spPr>
          <a:xfrm>
            <a:off x="8138160" y="3291840"/>
            <a:ext cx="3611880" cy="365760"/>
          </a:xfrm>
          <a:prstGeom prst="rect">
            <a:avLst/>
          </a:prstGeom>
          <a:noFill/>
          <a:ln/>
        </p:spPr>
        <p:txBody>
          <a:bodyPr wrap="square" lIns="0" tIns="0" rIns="0" bIns="0" rtlCol="0" anchor="ctr"/>
          <a:lstStyle/>
          <a:p>
            <a:pPr algn="ctr" indent="0" marL="0">
              <a:buNone/>
            </a:pPr>
            <a:r>
              <a:rPr lang="en-US" sz="1150" b="1" dirty="0">
                <a:solidFill>
                  <a:srgbClr val="1A1A1A"/>
                </a:solidFill>
                <a:latin typeface="Yu Gothic" pitchFamily="34" charset="0"/>
                <a:ea typeface="Yu Gothic" pitchFamily="34" charset="-122"/>
                <a:cs typeface="Yu Gothic" pitchFamily="34" charset="-120"/>
              </a:rPr>
              <a:t>農業用UGV / ドローン</a:t>
            </a:r>
            <a:endParaRPr lang="en-US" sz="1150" dirty="0"/>
          </a:p>
        </p:txBody>
      </p:sp>
      <p:sp>
        <p:nvSpPr>
          <p:cNvPr id="29" name="Text 27"/>
          <p:cNvSpPr/>
          <p:nvPr/>
        </p:nvSpPr>
        <p:spPr>
          <a:xfrm>
            <a:off x="8138160" y="3703320"/>
            <a:ext cx="3611880" cy="365760"/>
          </a:xfrm>
          <a:prstGeom prst="rect">
            <a:avLst/>
          </a:prstGeom>
          <a:noFill/>
          <a:ln/>
        </p:spPr>
        <p:txBody>
          <a:bodyPr wrap="square" lIns="0" tIns="0" rIns="0" bIns="0" rtlCol="0" anchor="ctr"/>
          <a:lstStyle/>
          <a:p>
            <a:pPr algn="ctr" indent="0" marL="0">
              <a:buNone/>
            </a:pPr>
            <a:r>
              <a:rPr lang="en-US" sz="1000" dirty="0">
                <a:solidFill>
                  <a:srgbClr val="5A5A5A"/>
                </a:solidFill>
                <a:latin typeface="Yu Gothic" pitchFamily="34" charset="0"/>
                <a:ea typeface="Yu Gothic" pitchFamily="34" charset="-122"/>
                <a:cs typeface="Yu Gothic" pitchFamily="34" charset="-120"/>
              </a:rPr>
              <a:t>-25~+60°C</a:t>
            </a:r>
            <a:endParaRPr lang="en-US" sz="1000" dirty="0"/>
          </a:p>
        </p:txBody>
      </p:sp>
      <p:sp>
        <p:nvSpPr>
          <p:cNvPr id="30" name="Shape 28"/>
          <p:cNvSpPr/>
          <p:nvPr/>
        </p:nvSpPr>
        <p:spPr>
          <a:xfrm>
            <a:off x="457200" y="4937760"/>
            <a:ext cx="11274552" cy="502920"/>
          </a:xfrm>
          <a:prstGeom prst="rect">
            <a:avLst/>
          </a:prstGeom>
          <a:solidFill>
            <a:srgbClr val="16324F"/>
          </a:solidFill>
          <a:ln/>
        </p:spPr>
      </p:sp>
      <p:sp>
        <p:nvSpPr>
          <p:cNvPr id="31" name="Text 29"/>
          <p:cNvSpPr/>
          <p:nvPr/>
        </p:nvSpPr>
        <p:spPr>
          <a:xfrm>
            <a:off x="685800" y="4937760"/>
            <a:ext cx="10881360" cy="502920"/>
          </a:xfrm>
          <a:prstGeom prst="rect">
            <a:avLst/>
          </a:prstGeom>
          <a:noFill/>
          <a:ln/>
        </p:spPr>
        <p:txBody>
          <a:bodyPr wrap="square" lIns="0" tIns="0" rIns="0" bIns="0" rtlCol="0" anchor="ctr"/>
          <a:lstStyle/>
          <a:p>
            <a:pPr indent="0" marL="0">
              <a:buNone/>
            </a:pPr>
            <a:r>
              <a:rPr lang="en-US" sz="1150" b="1" dirty="0">
                <a:solidFill>
                  <a:srgbClr val="C9A227"/>
                </a:solidFill>
                <a:latin typeface="Yu Gothic" pitchFamily="34" charset="0"/>
                <a:ea typeface="Yu Gothic" pitchFamily="34" charset="-122"/>
                <a:cs typeface="Yu Gothic" pitchFamily="34" charset="-120"/>
              </a:rPr>
              <a:t>追加パイプライン:JATCO 2027年量産  /  戸田建設 日本350拠点  /  KEPCO島嶼ESS 1,000億ウォン</a:t>
            </a:r>
            <a:endParaRPr lang="en-US" sz="1150" dirty="0"/>
          </a:p>
        </p:txBody>
      </p:sp>
      <p:sp>
        <p:nvSpPr>
          <p:cNvPr id="32" name="Text 30"/>
          <p:cNvSpPr/>
          <p:nvPr/>
        </p:nvSpPr>
        <p:spPr>
          <a:xfrm>
            <a:off x="457200" y="5669280"/>
            <a:ext cx="11274552" cy="365760"/>
          </a:xfrm>
          <a:prstGeom prst="rect">
            <a:avLst/>
          </a:prstGeom>
          <a:noFill/>
          <a:ln/>
        </p:spPr>
        <p:txBody>
          <a:bodyPr wrap="square" lIns="0" tIns="0" rIns="0" bIns="0" rtlCol="0" anchor="ctr"/>
          <a:lstStyle/>
          <a:p>
            <a:pPr indent="0" marL="0">
              <a:buNone/>
            </a:pPr>
            <a:r>
              <a:rPr lang="en-US" sz="1000" i="1" dirty="0">
                <a:solidFill>
                  <a:srgbClr val="5A5A5A"/>
                </a:solidFill>
                <a:latin typeface="Yu Gothic" pitchFamily="34" charset="0"/>
                <a:ea typeface="Yu Gothic" pitchFamily="34" charset="-122"/>
                <a:cs typeface="Yu Gothic" pitchFamily="34" charset="-120"/>
              </a:rPr>
              <a:t>年度別売上構成 — 4大事業軸の累計:2026年 → 2030年★ → 2032年★ にかけて急拡大(単位:億ウォン)</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7.2  NATOノルウェー実地検証</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45/55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NATOノルウェー実地検証 — 実地データ</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NATO Norway Field Validation — Live Field Data</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691640"/>
            <a:ext cx="3611880" cy="548640"/>
          </a:xfrm>
          <a:prstGeom prst="rect">
            <a:avLst/>
          </a:prstGeom>
          <a:solidFill>
            <a:srgbClr val="4F6238"/>
          </a:solidFill>
          <a:ln/>
        </p:spPr>
      </p:sp>
      <p:sp>
        <p:nvSpPr>
          <p:cNvPr id="13" name="Text 11"/>
          <p:cNvSpPr/>
          <p:nvPr/>
        </p:nvSpPr>
        <p:spPr>
          <a:xfrm>
            <a:off x="457200" y="1691640"/>
            <a:ext cx="3611880" cy="548640"/>
          </a:xfrm>
          <a:prstGeom prst="rect">
            <a:avLst/>
          </a:prstGeom>
          <a:noFill/>
          <a:ln/>
        </p:spPr>
        <p:txBody>
          <a:bodyPr wrap="square" lIns="0" tIns="0" rIns="0" bIns="0" rtlCol="0" anchor="ctr"/>
          <a:lstStyle/>
          <a:p>
            <a:pPr algn="ctr" indent="0" marL="0">
              <a:buNone/>
            </a:pPr>
            <a:r>
              <a:rPr lang="en-US" sz="1250" b="1" dirty="0">
                <a:solidFill>
                  <a:srgbClr val="FFFFFF"/>
                </a:solidFill>
                <a:latin typeface="Yu Gothic" pitchFamily="34" charset="0"/>
                <a:ea typeface="Yu Gothic" pitchFamily="34" charset="-122"/>
                <a:cs typeface="Yu Gothic" pitchFamily="34" charset="-120"/>
              </a:rPr>
              <a:t>運用結果</a:t>
            </a:r>
            <a:endParaRPr lang="en-US" sz="1250" dirty="0"/>
          </a:p>
        </p:txBody>
      </p:sp>
      <p:sp>
        <p:nvSpPr>
          <p:cNvPr id="14" name="Shape 12"/>
          <p:cNvSpPr/>
          <p:nvPr/>
        </p:nvSpPr>
        <p:spPr>
          <a:xfrm>
            <a:off x="457200" y="2240280"/>
            <a:ext cx="3611880" cy="2743200"/>
          </a:xfrm>
          <a:prstGeom prst="rect">
            <a:avLst/>
          </a:prstGeom>
          <a:solidFill>
            <a:srgbClr val="FFFFFF"/>
          </a:solidFill>
          <a:ln w="9525">
            <a:solidFill>
              <a:srgbClr val="C8C8C8"/>
            </a:solidFill>
            <a:prstDash val="solid"/>
          </a:ln>
        </p:spPr>
      </p:sp>
      <p:sp>
        <p:nvSpPr>
          <p:cNvPr id="15" name="Text 13"/>
          <p:cNvSpPr/>
          <p:nvPr/>
        </p:nvSpPr>
        <p:spPr>
          <a:xfrm>
            <a:off x="731520" y="2468880"/>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32分間の連続飛行</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出撃ターンアラウンド 1.5倍</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火災 / セル損傷:0件</a:t>
            </a:r>
            <a:endParaRPr lang="en-US" sz="1000" dirty="0"/>
          </a:p>
        </p:txBody>
      </p:sp>
      <p:sp>
        <p:nvSpPr>
          <p:cNvPr id="16" name="Shape 14"/>
          <p:cNvSpPr/>
          <p:nvPr/>
        </p:nvSpPr>
        <p:spPr>
          <a:xfrm>
            <a:off x="4297680" y="1691640"/>
            <a:ext cx="3611880" cy="548640"/>
          </a:xfrm>
          <a:prstGeom prst="rect">
            <a:avLst/>
          </a:prstGeom>
          <a:solidFill>
            <a:srgbClr val="45586E"/>
          </a:solidFill>
          <a:ln/>
        </p:spPr>
      </p:sp>
      <p:sp>
        <p:nvSpPr>
          <p:cNvPr id="17" name="Text 15"/>
          <p:cNvSpPr/>
          <p:nvPr/>
        </p:nvSpPr>
        <p:spPr>
          <a:xfrm>
            <a:off x="4297680" y="1691640"/>
            <a:ext cx="3611880" cy="548640"/>
          </a:xfrm>
          <a:prstGeom prst="rect">
            <a:avLst/>
          </a:prstGeom>
          <a:noFill/>
          <a:ln/>
        </p:spPr>
        <p:txBody>
          <a:bodyPr wrap="square" lIns="0" tIns="0" rIns="0" bIns="0" rtlCol="0" anchor="ctr"/>
          <a:lstStyle/>
          <a:p>
            <a:pPr algn="ctr" indent="0" marL="0">
              <a:buNone/>
            </a:pPr>
            <a:r>
              <a:rPr lang="en-US" sz="1250" b="1" dirty="0">
                <a:solidFill>
                  <a:srgbClr val="FFFFFF"/>
                </a:solidFill>
                <a:latin typeface="Yu Gothic" pitchFamily="34" charset="0"/>
                <a:ea typeface="Yu Gothic" pitchFamily="34" charset="-122"/>
                <a:cs typeface="Yu Gothic" pitchFamily="34" charset="-120"/>
              </a:rPr>
              <a:t>運用環境</a:t>
            </a:r>
            <a:endParaRPr lang="en-US" sz="1250" dirty="0"/>
          </a:p>
        </p:txBody>
      </p:sp>
      <p:sp>
        <p:nvSpPr>
          <p:cNvPr id="18" name="Shape 16"/>
          <p:cNvSpPr/>
          <p:nvPr/>
        </p:nvSpPr>
        <p:spPr>
          <a:xfrm>
            <a:off x="4297680" y="2240280"/>
            <a:ext cx="3611880" cy="2743200"/>
          </a:xfrm>
          <a:prstGeom prst="rect">
            <a:avLst/>
          </a:prstGeom>
          <a:solidFill>
            <a:srgbClr val="FFFFFF"/>
          </a:solidFill>
          <a:ln w="9525">
            <a:solidFill>
              <a:srgbClr val="C8C8C8"/>
            </a:solidFill>
            <a:prstDash val="solid"/>
          </a:ln>
        </p:spPr>
      </p:sp>
      <p:sp>
        <p:nvSpPr>
          <p:cNvPr id="19" name="Text 17"/>
          <p:cNvSpPr/>
          <p:nvPr/>
        </p:nvSpPr>
        <p:spPr>
          <a:xfrm>
            <a:off x="4572000" y="2468880"/>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北ノルウェーの実地</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実測気温 -28°C</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豪雪 / 強風条件</a:t>
            </a:r>
            <a:endParaRPr lang="en-US" sz="1000" dirty="0"/>
          </a:p>
        </p:txBody>
      </p:sp>
      <p:sp>
        <p:nvSpPr>
          <p:cNvPr id="20" name="Shape 18"/>
          <p:cNvSpPr/>
          <p:nvPr/>
        </p:nvSpPr>
        <p:spPr>
          <a:xfrm>
            <a:off x="8138160" y="1691640"/>
            <a:ext cx="3611880" cy="548640"/>
          </a:xfrm>
          <a:prstGeom prst="rect">
            <a:avLst/>
          </a:prstGeom>
          <a:solidFill>
            <a:srgbClr val="C9A227"/>
          </a:solidFill>
          <a:ln/>
        </p:spPr>
      </p:sp>
      <p:sp>
        <p:nvSpPr>
          <p:cNvPr id="21" name="Text 19"/>
          <p:cNvSpPr/>
          <p:nvPr/>
        </p:nvSpPr>
        <p:spPr>
          <a:xfrm>
            <a:off x="8138160" y="1691640"/>
            <a:ext cx="3611880" cy="548640"/>
          </a:xfrm>
          <a:prstGeom prst="rect">
            <a:avLst/>
          </a:prstGeom>
          <a:noFill/>
          <a:ln/>
        </p:spPr>
        <p:txBody>
          <a:bodyPr wrap="square" lIns="0" tIns="0" rIns="0" bIns="0" rtlCol="0" anchor="ctr"/>
          <a:lstStyle/>
          <a:p>
            <a:pPr algn="ctr" indent="0" marL="0">
              <a:buNone/>
            </a:pPr>
            <a:r>
              <a:rPr lang="en-US" sz="1250" b="1" dirty="0">
                <a:solidFill>
                  <a:srgbClr val="FFFFFF"/>
                </a:solidFill>
                <a:latin typeface="Yu Gothic" pitchFamily="34" charset="0"/>
                <a:ea typeface="Yu Gothic" pitchFamily="34" charset="-122"/>
                <a:cs typeface="Yu Gothic" pitchFamily="34" charset="-120"/>
              </a:rPr>
              <a:t>運用成果</a:t>
            </a:r>
            <a:endParaRPr lang="en-US" sz="1250" dirty="0"/>
          </a:p>
        </p:txBody>
      </p:sp>
      <p:sp>
        <p:nvSpPr>
          <p:cNvPr id="22" name="Shape 20"/>
          <p:cNvSpPr/>
          <p:nvPr/>
        </p:nvSpPr>
        <p:spPr>
          <a:xfrm>
            <a:off x="8138160" y="2240280"/>
            <a:ext cx="3611880" cy="2743200"/>
          </a:xfrm>
          <a:prstGeom prst="rect">
            <a:avLst/>
          </a:prstGeom>
          <a:solidFill>
            <a:srgbClr val="FFFFFF"/>
          </a:solidFill>
          <a:ln w="9525">
            <a:solidFill>
              <a:srgbClr val="C8C8C8"/>
            </a:solidFill>
            <a:prstDash val="solid"/>
          </a:ln>
        </p:spPr>
      </p:sp>
      <p:sp>
        <p:nvSpPr>
          <p:cNvPr id="23" name="Text 21"/>
          <p:cNvSpPr/>
          <p:nvPr/>
        </p:nvSpPr>
        <p:spPr>
          <a:xfrm>
            <a:off x="8412480" y="2468880"/>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北極圏作戦で唯一運用可能なプラットフォーム</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偵察 / 通信任務の拡大</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年間35億ウォンの契約を締結</a:t>
            </a:r>
            <a:endParaRPr lang="en-US" sz="1000" dirty="0"/>
          </a:p>
        </p:txBody>
      </p:sp>
      <p:sp>
        <p:nvSpPr>
          <p:cNvPr id="24" name="Shape 22"/>
          <p:cNvSpPr/>
          <p:nvPr/>
        </p:nvSpPr>
        <p:spPr>
          <a:xfrm>
            <a:off x="457200" y="5349240"/>
            <a:ext cx="11274552" cy="868680"/>
          </a:xfrm>
          <a:prstGeom prst="rect">
            <a:avLst/>
          </a:prstGeom>
          <a:solidFill>
            <a:srgbClr val="24466B"/>
          </a:solidFill>
          <a:ln/>
        </p:spPr>
      </p:sp>
      <p:sp>
        <p:nvSpPr>
          <p:cNvPr id="25" name="Text 23"/>
          <p:cNvSpPr/>
          <p:nvPr/>
        </p:nvSpPr>
        <p:spPr>
          <a:xfrm>
            <a:off x="685800" y="5349240"/>
            <a:ext cx="10881360" cy="868680"/>
          </a:xfrm>
          <a:prstGeom prst="rect">
            <a:avLst/>
          </a:prstGeom>
          <a:noFill/>
          <a:ln/>
        </p:spPr>
        <p:txBody>
          <a:bodyPr wrap="square" lIns="0" tIns="0" rIns="0" bIns="0" rtlCol="0" anchor="ctr"/>
          <a:lstStyle/>
          <a:p>
            <a:pPr indent="0" marL="0">
              <a:buNone/>
            </a:pPr>
            <a:r>
              <a:rPr lang="en-US" sz="1150" b="1" dirty="0">
                <a:solidFill>
                  <a:srgbClr val="FFFFFF"/>
                </a:solidFill>
                <a:latin typeface="Yu Gothic" pitchFamily="34" charset="0"/>
                <a:ea typeface="Yu Gothic" pitchFamily="34" charset="-122"/>
                <a:cs typeface="Yu Gothic" pitchFamily="34" charset="-120"/>
              </a:rPr>
              <a:t>実機映像:TNO 6SR — 飛行時間 51分15秒(51:13.86)を記録</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7.3  グローバルパートナーシップ(日本・韓国)</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46/55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グローバルパートナーシップ — JATCO · 戸田建設 · KEPCO</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Global Partnerships</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691640"/>
            <a:ext cx="2834640" cy="1325880"/>
          </a:xfrm>
          <a:prstGeom prst="rect">
            <a:avLst/>
          </a:prstGeom>
          <a:solidFill>
            <a:srgbClr val="16324F"/>
          </a:solidFill>
          <a:ln/>
        </p:spPr>
      </p:sp>
      <p:sp>
        <p:nvSpPr>
          <p:cNvPr id="13" name="Text 11"/>
          <p:cNvSpPr/>
          <p:nvPr/>
        </p:nvSpPr>
        <p:spPr>
          <a:xfrm>
            <a:off x="566928" y="1874520"/>
            <a:ext cx="2615184" cy="548640"/>
          </a:xfrm>
          <a:prstGeom prst="rect">
            <a:avLst/>
          </a:prstGeom>
          <a:noFill/>
          <a:ln/>
        </p:spPr>
        <p:txBody>
          <a:bodyPr wrap="square" lIns="0" tIns="0" rIns="0" bIns="0" rtlCol="0" anchor="ctr"/>
          <a:lstStyle/>
          <a:p>
            <a:pPr algn="ctr" indent="0" marL="0">
              <a:buNone/>
            </a:pPr>
            <a:r>
              <a:rPr lang="en-US" sz="1300" b="1" dirty="0">
                <a:solidFill>
                  <a:srgbClr val="C9A227"/>
                </a:solidFill>
                <a:latin typeface="Yu Gothic" pitchFamily="34" charset="0"/>
                <a:ea typeface="Yu Gothic" pitchFamily="34" charset="-122"/>
                <a:cs typeface="Yu Gothic" pitchFamily="34" charset="-120"/>
              </a:rPr>
              <a:t>JATCO(日産)</a:t>
            </a:r>
            <a:endParaRPr lang="en-US" sz="1300" dirty="0"/>
          </a:p>
        </p:txBody>
      </p:sp>
      <p:sp>
        <p:nvSpPr>
          <p:cNvPr id="14" name="Text 12"/>
          <p:cNvSpPr/>
          <p:nvPr/>
        </p:nvSpPr>
        <p:spPr>
          <a:xfrm>
            <a:off x="566928" y="2441448"/>
            <a:ext cx="2615184" cy="457200"/>
          </a:xfrm>
          <a:prstGeom prst="rect">
            <a:avLst/>
          </a:prstGeom>
          <a:noFill/>
          <a:ln/>
        </p:spPr>
        <p:txBody>
          <a:bodyPr wrap="square" lIns="0" tIns="0" rIns="0" bIns="0" rtlCol="0" anchor="ctr"/>
          <a:lstStyle/>
          <a:p>
            <a:pPr algn="ctr" indent="0" marL="0">
              <a:buNone/>
            </a:pPr>
            <a:r>
              <a:rPr lang="en-US" sz="950" dirty="0">
                <a:solidFill>
                  <a:srgbClr val="FFFFFF"/>
                </a:solidFill>
                <a:latin typeface="Yu Gothic" pitchFamily="34" charset="0"/>
                <a:ea typeface="Yu Gothic" pitchFamily="34" charset="-122"/>
                <a:cs typeface="Yu Gothic" pitchFamily="34" charset="-120"/>
              </a:rPr>
              <a:t>共同R&amp;D契約締結</a:t>
            </a:r>
            <a:endParaRPr lang="en-US" sz="950" dirty="0"/>
          </a:p>
        </p:txBody>
      </p:sp>
      <p:sp>
        <p:nvSpPr>
          <p:cNvPr id="15" name="Shape 13"/>
          <p:cNvSpPr/>
          <p:nvPr/>
        </p:nvSpPr>
        <p:spPr>
          <a:xfrm>
            <a:off x="3291840" y="1691640"/>
            <a:ext cx="8439912" cy="1325880"/>
          </a:xfrm>
          <a:prstGeom prst="rect">
            <a:avLst/>
          </a:prstGeom>
          <a:solidFill>
            <a:srgbClr val="FFFFFF"/>
          </a:solidFill>
          <a:ln w="9525">
            <a:solidFill>
              <a:srgbClr val="C8C8C8"/>
            </a:solidFill>
            <a:prstDash val="solid"/>
          </a:ln>
        </p:spPr>
      </p:sp>
      <p:sp>
        <p:nvSpPr>
          <p:cNvPr id="16" name="Text 14"/>
          <p:cNvSpPr/>
          <p:nvPr/>
        </p:nvSpPr>
        <p:spPr>
          <a:xfrm>
            <a:off x="3520440" y="1801368"/>
            <a:ext cx="8001000" cy="1097280"/>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日産71%出資の子会社 · 2026年10月に韓 / 日 / 米 / EUで同時ローンチ · e-Bike · 車椅子 · ロボティクス。ハイブリッド適用は審査中 — 2027年~2029年6月までに最終決定。</a:t>
            </a:r>
            <a:endParaRPr lang="en-US" sz="1050" dirty="0"/>
          </a:p>
        </p:txBody>
      </p:sp>
      <p:sp>
        <p:nvSpPr>
          <p:cNvPr id="17" name="Shape 15"/>
          <p:cNvSpPr/>
          <p:nvPr/>
        </p:nvSpPr>
        <p:spPr>
          <a:xfrm>
            <a:off x="457200" y="3172968"/>
            <a:ext cx="2834640" cy="1325880"/>
          </a:xfrm>
          <a:prstGeom prst="rect">
            <a:avLst/>
          </a:prstGeom>
          <a:solidFill>
            <a:srgbClr val="16324F"/>
          </a:solidFill>
          <a:ln/>
        </p:spPr>
      </p:sp>
      <p:sp>
        <p:nvSpPr>
          <p:cNvPr id="18" name="Text 16"/>
          <p:cNvSpPr/>
          <p:nvPr/>
        </p:nvSpPr>
        <p:spPr>
          <a:xfrm>
            <a:off x="566928" y="3355848"/>
            <a:ext cx="2615184" cy="548640"/>
          </a:xfrm>
          <a:prstGeom prst="rect">
            <a:avLst/>
          </a:prstGeom>
          <a:noFill/>
          <a:ln/>
        </p:spPr>
        <p:txBody>
          <a:bodyPr wrap="square" lIns="0" tIns="0" rIns="0" bIns="0" rtlCol="0" anchor="ctr"/>
          <a:lstStyle/>
          <a:p>
            <a:pPr algn="ctr" indent="0" marL="0">
              <a:buNone/>
            </a:pPr>
            <a:r>
              <a:rPr lang="en-US" sz="1300" b="1" dirty="0">
                <a:solidFill>
                  <a:srgbClr val="C9A227"/>
                </a:solidFill>
                <a:latin typeface="Yu Gothic" pitchFamily="34" charset="0"/>
                <a:ea typeface="Yu Gothic" pitchFamily="34" charset="-122"/>
                <a:cs typeface="Yu Gothic" pitchFamily="34" charset="-120"/>
              </a:rPr>
              <a:t>戸田建設</a:t>
            </a:r>
            <a:endParaRPr lang="en-US" sz="1300" dirty="0"/>
          </a:p>
        </p:txBody>
      </p:sp>
      <p:sp>
        <p:nvSpPr>
          <p:cNvPr id="19" name="Text 17"/>
          <p:cNvSpPr/>
          <p:nvPr/>
        </p:nvSpPr>
        <p:spPr>
          <a:xfrm>
            <a:off x="566928" y="3922776"/>
            <a:ext cx="2615184" cy="457200"/>
          </a:xfrm>
          <a:prstGeom prst="rect">
            <a:avLst/>
          </a:prstGeom>
          <a:noFill/>
          <a:ln/>
        </p:spPr>
        <p:txBody>
          <a:bodyPr wrap="square" lIns="0" tIns="0" rIns="0" bIns="0" rtlCol="0" anchor="ctr"/>
          <a:lstStyle/>
          <a:p>
            <a:pPr algn="ctr" indent="0" marL="0">
              <a:buNone/>
            </a:pPr>
            <a:r>
              <a:rPr lang="en-US" sz="950" dirty="0">
                <a:solidFill>
                  <a:srgbClr val="FFFFFF"/>
                </a:solidFill>
                <a:latin typeface="Yu Gothic" pitchFamily="34" charset="0"/>
                <a:ea typeface="Yu Gothic" pitchFamily="34" charset="-122"/>
                <a:cs typeface="Yu Gothic" pitchFamily="34" charset="-120"/>
              </a:rPr>
              <a:t>日本第3位の建設会社</a:t>
            </a:r>
            <a:endParaRPr lang="en-US" sz="950" dirty="0"/>
          </a:p>
        </p:txBody>
      </p:sp>
      <p:sp>
        <p:nvSpPr>
          <p:cNvPr id="20" name="Shape 18"/>
          <p:cNvSpPr/>
          <p:nvPr/>
        </p:nvSpPr>
        <p:spPr>
          <a:xfrm>
            <a:off x="3291840" y="3172968"/>
            <a:ext cx="8439912" cy="1325880"/>
          </a:xfrm>
          <a:prstGeom prst="rect">
            <a:avLst/>
          </a:prstGeom>
          <a:solidFill>
            <a:srgbClr val="FFFFFF"/>
          </a:solidFill>
          <a:ln w="9525">
            <a:solidFill>
              <a:srgbClr val="C8C8C8"/>
            </a:solidFill>
            <a:prstDash val="solid"/>
          </a:ln>
        </p:spPr>
      </p:sp>
      <p:sp>
        <p:nvSpPr>
          <p:cNvPr id="21" name="Text 19"/>
          <p:cNvSpPr/>
          <p:nvPr/>
        </p:nvSpPr>
        <p:spPr>
          <a:xfrm>
            <a:off x="3520440" y="3282696"/>
            <a:ext cx="8001000" cy="1097280"/>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日本国内350拠点への標準ESS展開 · 五島市のグリッドスケールESS · 20年超のソーラー街路灯。</a:t>
            </a:r>
            <a:endParaRPr lang="en-US" sz="1050" dirty="0"/>
          </a:p>
        </p:txBody>
      </p:sp>
      <p:sp>
        <p:nvSpPr>
          <p:cNvPr id="22" name="Shape 20"/>
          <p:cNvSpPr/>
          <p:nvPr/>
        </p:nvSpPr>
        <p:spPr>
          <a:xfrm>
            <a:off x="457200" y="4654296"/>
            <a:ext cx="2834640" cy="1325880"/>
          </a:xfrm>
          <a:prstGeom prst="rect">
            <a:avLst/>
          </a:prstGeom>
          <a:solidFill>
            <a:srgbClr val="16324F"/>
          </a:solidFill>
          <a:ln/>
        </p:spPr>
      </p:sp>
      <p:sp>
        <p:nvSpPr>
          <p:cNvPr id="23" name="Text 21"/>
          <p:cNvSpPr/>
          <p:nvPr/>
        </p:nvSpPr>
        <p:spPr>
          <a:xfrm>
            <a:off x="566928" y="4837176"/>
            <a:ext cx="2615184" cy="548640"/>
          </a:xfrm>
          <a:prstGeom prst="rect">
            <a:avLst/>
          </a:prstGeom>
          <a:noFill/>
          <a:ln/>
        </p:spPr>
        <p:txBody>
          <a:bodyPr wrap="square" lIns="0" tIns="0" rIns="0" bIns="0" rtlCol="0" anchor="ctr"/>
          <a:lstStyle/>
          <a:p>
            <a:pPr algn="ctr" indent="0" marL="0">
              <a:buNone/>
            </a:pPr>
            <a:r>
              <a:rPr lang="en-US" sz="1300" b="1" dirty="0">
                <a:solidFill>
                  <a:srgbClr val="C9A227"/>
                </a:solidFill>
                <a:latin typeface="Yu Gothic" pitchFamily="34" charset="0"/>
                <a:ea typeface="Yu Gothic" pitchFamily="34" charset="-122"/>
                <a:cs typeface="Yu Gothic" pitchFamily="34" charset="-120"/>
              </a:rPr>
              <a:t>KEPCO(韓国電力)</a:t>
            </a:r>
            <a:endParaRPr lang="en-US" sz="1300" dirty="0"/>
          </a:p>
        </p:txBody>
      </p:sp>
      <p:sp>
        <p:nvSpPr>
          <p:cNvPr id="24" name="Text 22"/>
          <p:cNvSpPr/>
          <p:nvPr/>
        </p:nvSpPr>
        <p:spPr>
          <a:xfrm>
            <a:off x="566928" y="5404104"/>
            <a:ext cx="2615184" cy="457200"/>
          </a:xfrm>
          <a:prstGeom prst="rect">
            <a:avLst/>
          </a:prstGeom>
          <a:noFill/>
          <a:ln/>
        </p:spPr>
        <p:txBody>
          <a:bodyPr wrap="square" lIns="0" tIns="0" rIns="0" bIns="0" rtlCol="0" anchor="ctr"/>
          <a:lstStyle/>
          <a:p>
            <a:pPr algn="ctr" indent="0" marL="0">
              <a:buNone/>
            </a:pPr>
            <a:r>
              <a:rPr lang="en-US" sz="950" dirty="0">
                <a:solidFill>
                  <a:srgbClr val="FFFFFF"/>
                </a:solidFill>
                <a:latin typeface="Yu Gothic" pitchFamily="34" charset="0"/>
                <a:ea typeface="Yu Gothic" pitchFamily="34" charset="-122"/>
                <a:cs typeface="Yu Gothic" pitchFamily="34" charset="-120"/>
              </a:rPr>
              <a:t>島嶼ESS実証</a:t>
            </a:r>
            <a:endParaRPr lang="en-US" sz="950" dirty="0"/>
          </a:p>
        </p:txBody>
      </p:sp>
      <p:sp>
        <p:nvSpPr>
          <p:cNvPr id="25" name="Shape 23"/>
          <p:cNvSpPr/>
          <p:nvPr/>
        </p:nvSpPr>
        <p:spPr>
          <a:xfrm>
            <a:off x="3291840" y="4654296"/>
            <a:ext cx="8439912" cy="1325880"/>
          </a:xfrm>
          <a:prstGeom prst="rect">
            <a:avLst/>
          </a:prstGeom>
          <a:solidFill>
            <a:srgbClr val="FFFFFF"/>
          </a:solidFill>
          <a:ln w="9525">
            <a:solidFill>
              <a:srgbClr val="C8C8C8"/>
            </a:solidFill>
            <a:prstDash val="solid"/>
          </a:ln>
        </p:spPr>
      </p:sp>
      <p:sp>
        <p:nvSpPr>
          <p:cNvPr id="26" name="Text 24"/>
          <p:cNvSpPr/>
          <p:nvPr/>
        </p:nvSpPr>
        <p:spPr>
          <a:xfrm>
            <a:off x="3520440" y="4764024"/>
            <a:ext cx="8001000" cy="1097280"/>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ディーゼル発電機の代替(200島 + 追加420拠点 / 合計約620拠点)· 採択済み KRW 20億 · 潜在市場は年間 KRW 1,000億超。</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7.4  UNISTリバースエンジニアリング分析 v15</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47/55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UNISTリバースエンジニアリング v15 — 総合スコア 9.7/10</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UNIST Reverse Engineering · Score 9.7/10</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7200" y="1572768"/>
          <a:ext cx="11274552" cy="914400"/>
        </p:xfrm>
        <a:graphic>
          <a:graphicData uri="http://schemas.openxmlformats.org/drawingml/2006/table">
            <a:tbl>
              <a:tblPr/>
              <a:tblGrid>
                <a:gridCol w="2286000"/>
                <a:gridCol w="4572000"/>
                <a:gridCol w="4416552"/>
              </a:tblGrid>
              <a:tr h="411480">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分析手法</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結果</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結論</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r>
              <a:tr h="41148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V-プロファイル</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1.0C効率 99.02%、電圧降下なし</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キャパシタ的挙動</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1148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SEM / EDX</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負極:高比表面積カーボン</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EDLC構造を確認</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1148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XRD</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VGCF 6.5 wt%、多孔質カーボン</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表面吸脱着を最適化</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1148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DSC</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PEセパレータ 14.6 μm、融点 135.1°C</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リチウム系では危険域 — NLHCのみ成立</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1148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NMR</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支配イオンは非Li(Na⁺ / K⁺ / 多価)</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LiPF₆は参照塩に過ぎない</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1148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TGA</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VGCF 6.5 wt%(LIBの4倍)</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キャパシタ型と確認</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411480">
                <a:tc>
                  <a:txBody>
                    <a:bodyPr/>
                    <a:lstStyle/>
                    <a:p>
                      <a:pPr algn="l" indent="0" marL="0">
                        <a:buNone/>
                      </a:pPr>
                      <a:r>
                        <a:rPr lang="en-US" sz="950" b="1" dirty="0">
                          <a:solidFill>
                            <a:srgbClr val="1A1A1A"/>
                          </a:solidFill>
                          <a:latin typeface="Yu Gothic" pitchFamily="34" charset="0"/>
                          <a:ea typeface="Yu Gothic" pitchFamily="34" charset="-122"/>
                          <a:cs typeface="Yu Gothic" pitchFamily="34" charset="-120"/>
                        </a:rPr>
                        <a:t>ハーフセル</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正極 165 / 負極 305 mAh/g</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Yu Gothic" pitchFamily="34" charset="0"/>
                          <a:ea typeface="Yu Gothic" pitchFamily="34" charset="-122"/>
                          <a:cs typeface="Yu Gothic" pitchFamily="34" charset="-120"/>
                        </a:rPr>
                        <a:t>N/P 1.06 — Li非可逆</a:t>
                      </a:r>
                      <a:endParaRPr lang="en-US" sz="9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bl>
          </a:graphicData>
        </a:graphic>
      </p:graphicFrame>
      <p:sp>
        <p:nvSpPr>
          <p:cNvPr id="13" name="Shape 10"/>
          <p:cNvSpPr/>
          <p:nvPr/>
        </p:nvSpPr>
        <p:spPr>
          <a:xfrm>
            <a:off x="457200" y="5669280"/>
            <a:ext cx="11274552" cy="502920"/>
          </a:xfrm>
          <a:prstGeom prst="rect">
            <a:avLst/>
          </a:prstGeom>
          <a:solidFill>
            <a:srgbClr val="16324F"/>
          </a:solidFill>
          <a:ln/>
        </p:spPr>
      </p:sp>
      <p:sp>
        <p:nvSpPr>
          <p:cNvPr id="14" name="Text 11"/>
          <p:cNvSpPr/>
          <p:nvPr/>
        </p:nvSpPr>
        <p:spPr>
          <a:xfrm>
            <a:off x="685800" y="5669280"/>
            <a:ext cx="10881360" cy="502920"/>
          </a:xfrm>
          <a:prstGeom prst="rect">
            <a:avLst/>
          </a:prstGeom>
          <a:noFill/>
          <a:ln/>
        </p:spPr>
        <p:txBody>
          <a:bodyPr wrap="square" lIns="0" tIns="0" rIns="0" bIns="0" rtlCol="0" anchor="ctr"/>
          <a:lstStyle/>
          <a:p>
            <a:pPr indent="0" marL="0">
              <a:buNone/>
            </a:pPr>
            <a:r>
              <a:rPr lang="en-US" sz="1150" b="1" dirty="0">
                <a:solidFill>
                  <a:srgbClr val="C9A227"/>
                </a:solidFill>
                <a:latin typeface="Yu Gothic" pitchFamily="34" charset="0"/>
                <a:ea typeface="Yu Gothic" pitchFamily="34" charset="-122"/>
                <a:cs typeface="Yu Gothic" pitchFamily="34" charset="-120"/>
              </a:rPr>
              <a:t>UNIST共同結論:本セルはNLHC(第3カテゴリー)— LIB · LIC · EDLCのいずれでもない独立技術。総合スコア 9.7/10</a:t>
            </a:r>
            <a:endParaRPr lang="en-US" sz="11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7.5  学術論文と公認分析</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48/55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学術論文 — KIChE · KECS · Elsevier</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Academic Publications</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691640"/>
            <a:ext cx="1737360" cy="960120"/>
          </a:xfrm>
          <a:prstGeom prst="rect">
            <a:avLst/>
          </a:prstGeom>
          <a:solidFill>
            <a:srgbClr val="16324F"/>
          </a:solidFill>
          <a:ln/>
        </p:spPr>
      </p:sp>
      <p:sp>
        <p:nvSpPr>
          <p:cNvPr id="13" name="Text 11"/>
          <p:cNvSpPr/>
          <p:nvPr/>
        </p:nvSpPr>
        <p:spPr>
          <a:xfrm>
            <a:off x="457200" y="1691640"/>
            <a:ext cx="1737360" cy="960120"/>
          </a:xfrm>
          <a:prstGeom prst="rect">
            <a:avLst/>
          </a:prstGeom>
          <a:noFill/>
          <a:ln/>
        </p:spPr>
        <p:txBody>
          <a:bodyPr wrap="square" lIns="0" tIns="0" rIns="0" bIns="0" rtlCol="0" anchor="ctr"/>
          <a:lstStyle/>
          <a:p>
            <a:pPr algn="ctr" indent="0" marL="0">
              <a:buNone/>
            </a:pPr>
            <a:r>
              <a:rPr lang="en-US" sz="1200" b="1" dirty="0">
                <a:solidFill>
                  <a:srgbClr val="C9A227"/>
                </a:solidFill>
                <a:latin typeface="Arial" pitchFamily="34" charset="0"/>
                <a:ea typeface="Arial" pitchFamily="34" charset="-122"/>
                <a:cs typeface="Arial" pitchFamily="34" charset="-120"/>
              </a:rPr>
              <a:t>Paper 01</a:t>
            </a:r>
            <a:endParaRPr lang="en-US" sz="1200" dirty="0"/>
          </a:p>
        </p:txBody>
      </p:sp>
      <p:sp>
        <p:nvSpPr>
          <p:cNvPr id="14" name="Shape 12"/>
          <p:cNvSpPr/>
          <p:nvPr/>
        </p:nvSpPr>
        <p:spPr>
          <a:xfrm>
            <a:off x="2194560" y="1691640"/>
            <a:ext cx="9537192" cy="960120"/>
          </a:xfrm>
          <a:prstGeom prst="rect">
            <a:avLst/>
          </a:prstGeom>
          <a:solidFill>
            <a:srgbClr val="FFFFFF"/>
          </a:solidFill>
          <a:ln w="9525">
            <a:solidFill>
              <a:srgbClr val="C8C8C8"/>
            </a:solidFill>
            <a:prstDash val="solid"/>
          </a:ln>
        </p:spPr>
      </p:sp>
      <p:sp>
        <p:nvSpPr>
          <p:cNvPr id="15" name="Text 13"/>
          <p:cNvSpPr/>
          <p:nvPr/>
        </p:nvSpPr>
        <p:spPr>
          <a:xfrm>
            <a:off x="2423160" y="1783080"/>
            <a:ext cx="9144000" cy="347472"/>
          </a:xfrm>
          <a:prstGeom prst="rect">
            <a:avLst/>
          </a:prstGeom>
          <a:noFill/>
          <a:ln/>
        </p:spPr>
        <p:txBody>
          <a:bodyPr wrap="square" lIns="0" tIns="0" rIns="0" bIns="0" rtlCol="0" anchor="ctr"/>
          <a:lstStyle/>
          <a:p>
            <a:pPr indent="0" marL="0">
              <a:buNone/>
            </a:pPr>
            <a:r>
              <a:rPr lang="en-US" sz="1150" b="1" dirty="0">
                <a:solidFill>
                  <a:srgbClr val="16324F"/>
                </a:solidFill>
                <a:latin typeface="Yu Gothic" pitchFamily="34" charset="0"/>
                <a:ea typeface="Yu Gothic" pitchFamily="34" charset="-122"/>
                <a:cs typeface="Yu Gothic" pitchFamily="34" charset="-120"/>
              </a:rPr>
              <a:t>韓国化学工学会誌(KIChE)</a:t>
            </a:r>
            <a:endParaRPr lang="en-US" sz="1150" dirty="0"/>
          </a:p>
        </p:txBody>
      </p:sp>
      <p:sp>
        <p:nvSpPr>
          <p:cNvPr id="16" name="Text 14"/>
          <p:cNvSpPr/>
          <p:nvPr/>
        </p:nvSpPr>
        <p:spPr>
          <a:xfrm>
            <a:off x="2423160" y="2148840"/>
            <a:ext cx="9144000" cy="457200"/>
          </a:xfrm>
          <a:prstGeom prst="rect">
            <a:avLst/>
          </a:prstGeom>
          <a:noFill/>
          <a:ln/>
        </p:spPr>
        <p:txBody>
          <a:bodyPr wrap="square" lIns="0" tIns="0" rIns="0" bIns="0" rtlCol="0" anchor="ctr"/>
          <a:lstStyle/>
          <a:p>
            <a:pPr indent="0" marL="0">
              <a:buNone/>
            </a:pPr>
            <a:r>
              <a:rPr lang="en-US" sz="950" dirty="0">
                <a:solidFill>
                  <a:srgbClr val="5A5A5A"/>
                </a:solidFill>
                <a:latin typeface="Yu Gothic" pitchFamily="34" charset="0"/>
                <a:ea typeface="Yu Gothic" pitchFamily="34" charset="-122"/>
                <a:cs typeface="Yu Gothic" pitchFamily="34" charset="-120"/>
              </a:rPr>
              <a:t>犠牲テンプレートを用いた多段乾燥 — 多段乾燥 + NaClテンプレート(空隙率 32 → 68%)</a:t>
            </a:r>
            <a:endParaRPr lang="en-US" sz="950" dirty="0"/>
          </a:p>
        </p:txBody>
      </p:sp>
      <p:sp>
        <p:nvSpPr>
          <p:cNvPr id="17" name="Shape 15"/>
          <p:cNvSpPr/>
          <p:nvPr/>
        </p:nvSpPr>
        <p:spPr>
          <a:xfrm>
            <a:off x="457200" y="2807208"/>
            <a:ext cx="1737360" cy="960120"/>
          </a:xfrm>
          <a:prstGeom prst="rect">
            <a:avLst/>
          </a:prstGeom>
          <a:solidFill>
            <a:srgbClr val="16324F"/>
          </a:solidFill>
          <a:ln/>
        </p:spPr>
      </p:sp>
      <p:sp>
        <p:nvSpPr>
          <p:cNvPr id="18" name="Text 16"/>
          <p:cNvSpPr/>
          <p:nvPr/>
        </p:nvSpPr>
        <p:spPr>
          <a:xfrm>
            <a:off x="457200" y="2807208"/>
            <a:ext cx="1737360" cy="960120"/>
          </a:xfrm>
          <a:prstGeom prst="rect">
            <a:avLst/>
          </a:prstGeom>
          <a:noFill/>
          <a:ln/>
        </p:spPr>
        <p:txBody>
          <a:bodyPr wrap="square" lIns="0" tIns="0" rIns="0" bIns="0" rtlCol="0" anchor="ctr"/>
          <a:lstStyle/>
          <a:p>
            <a:pPr algn="ctr" indent="0" marL="0">
              <a:buNone/>
            </a:pPr>
            <a:r>
              <a:rPr lang="en-US" sz="1200" b="1" dirty="0">
                <a:solidFill>
                  <a:srgbClr val="C9A227"/>
                </a:solidFill>
                <a:latin typeface="Arial" pitchFamily="34" charset="0"/>
                <a:ea typeface="Arial" pitchFamily="34" charset="-122"/>
                <a:cs typeface="Arial" pitchFamily="34" charset="-120"/>
              </a:rPr>
              <a:t>Paper 02</a:t>
            </a:r>
            <a:endParaRPr lang="en-US" sz="1200" dirty="0"/>
          </a:p>
        </p:txBody>
      </p:sp>
      <p:sp>
        <p:nvSpPr>
          <p:cNvPr id="19" name="Shape 17"/>
          <p:cNvSpPr/>
          <p:nvPr/>
        </p:nvSpPr>
        <p:spPr>
          <a:xfrm>
            <a:off x="2194560" y="2807208"/>
            <a:ext cx="9537192" cy="960120"/>
          </a:xfrm>
          <a:prstGeom prst="rect">
            <a:avLst/>
          </a:prstGeom>
          <a:solidFill>
            <a:srgbClr val="FFFFFF"/>
          </a:solidFill>
          <a:ln w="9525">
            <a:solidFill>
              <a:srgbClr val="C8C8C8"/>
            </a:solidFill>
            <a:prstDash val="solid"/>
          </a:ln>
        </p:spPr>
      </p:sp>
      <p:sp>
        <p:nvSpPr>
          <p:cNvPr id="20" name="Text 18"/>
          <p:cNvSpPr/>
          <p:nvPr/>
        </p:nvSpPr>
        <p:spPr>
          <a:xfrm>
            <a:off x="2423160" y="2898648"/>
            <a:ext cx="9144000" cy="347472"/>
          </a:xfrm>
          <a:prstGeom prst="rect">
            <a:avLst/>
          </a:prstGeom>
          <a:noFill/>
          <a:ln/>
        </p:spPr>
        <p:txBody>
          <a:bodyPr wrap="square" lIns="0" tIns="0" rIns="0" bIns="0" rtlCol="0" anchor="ctr"/>
          <a:lstStyle/>
          <a:p>
            <a:pPr indent="0" marL="0">
              <a:buNone/>
            </a:pPr>
            <a:r>
              <a:rPr lang="en-US" sz="1150" b="1" dirty="0">
                <a:solidFill>
                  <a:srgbClr val="16324F"/>
                </a:solidFill>
                <a:latin typeface="Yu Gothic" pitchFamily="34" charset="0"/>
                <a:ea typeface="Yu Gothic" pitchFamily="34" charset="-122"/>
                <a:cs typeface="Yu Gothic" pitchFamily="34" charset="-120"/>
              </a:rPr>
              <a:t>韓国電気化学会誌(KECS)</a:t>
            </a:r>
            <a:endParaRPr lang="en-US" sz="1150" dirty="0"/>
          </a:p>
        </p:txBody>
      </p:sp>
      <p:sp>
        <p:nvSpPr>
          <p:cNvPr id="21" name="Text 19"/>
          <p:cNvSpPr/>
          <p:nvPr/>
        </p:nvSpPr>
        <p:spPr>
          <a:xfrm>
            <a:off x="2423160" y="3264408"/>
            <a:ext cx="9144000" cy="457200"/>
          </a:xfrm>
          <a:prstGeom prst="rect">
            <a:avLst/>
          </a:prstGeom>
          <a:noFill/>
          <a:ln/>
        </p:spPr>
        <p:txBody>
          <a:bodyPr wrap="square" lIns="0" tIns="0" rIns="0" bIns="0" rtlCol="0" anchor="ctr"/>
          <a:lstStyle/>
          <a:p>
            <a:pPr indent="0" marL="0">
              <a:buNone/>
            </a:pPr>
            <a:r>
              <a:rPr lang="en-US" sz="950" dirty="0">
                <a:solidFill>
                  <a:srgbClr val="5A5A5A"/>
                </a:solidFill>
                <a:latin typeface="Yu Gothic" pitchFamily="34" charset="0"/>
                <a:ea typeface="Yu Gothic" pitchFamily="34" charset="-122"/>
                <a:cs typeface="Yu Gothic" pitchFamily="34" charset="-120"/>
              </a:rPr>
              <a:t>同テーマをKECS誌に投稿 — 電気化学会への同時投稿</a:t>
            </a:r>
            <a:endParaRPr lang="en-US" sz="950" dirty="0"/>
          </a:p>
        </p:txBody>
      </p:sp>
      <p:sp>
        <p:nvSpPr>
          <p:cNvPr id="22" name="Shape 20"/>
          <p:cNvSpPr/>
          <p:nvPr/>
        </p:nvSpPr>
        <p:spPr>
          <a:xfrm>
            <a:off x="457200" y="3922776"/>
            <a:ext cx="1737360" cy="960120"/>
          </a:xfrm>
          <a:prstGeom prst="rect">
            <a:avLst/>
          </a:prstGeom>
          <a:solidFill>
            <a:srgbClr val="16324F"/>
          </a:solidFill>
          <a:ln/>
        </p:spPr>
      </p:sp>
      <p:sp>
        <p:nvSpPr>
          <p:cNvPr id="23" name="Text 21"/>
          <p:cNvSpPr/>
          <p:nvPr/>
        </p:nvSpPr>
        <p:spPr>
          <a:xfrm>
            <a:off x="457200" y="3922776"/>
            <a:ext cx="1737360" cy="960120"/>
          </a:xfrm>
          <a:prstGeom prst="rect">
            <a:avLst/>
          </a:prstGeom>
          <a:noFill/>
          <a:ln/>
        </p:spPr>
        <p:txBody>
          <a:bodyPr wrap="square" lIns="0" tIns="0" rIns="0" bIns="0" rtlCol="0" anchor="ctr"/>
          <a:lstStyle/>
          <a:p>
            <a:pPr algn="ctr" indent="0" marL="0">
              <a:buNone/>
            </a:pPr>
            <a:r>
              <a:rPr lang="en-US" sz="1200" b="1" dirty="0">
                <a:solidFill>
                  <a:srgbClr val="C9A227"/>
                </a:solidFill>
                <a:latin typeface="Arial" pitchFamily="34" charset="0"/>
                <a:ea typeface="Arial" pitchFamily="34" charset="-122"/>
                <a:cs typeface="Arial" pitchFamily="34" charset="-120"/>
              </a:rPr>
              <a:t>Paper 03</a:t>
            </a:r>
            <a:endParaRPr lang="en-US" sz="1200" dirty="0"/>
          </a:p>
        </p:txBody>
      </p:sp>
      <p:sp>
        <p:nvSpPr>
          <p:cNvPr id="24" name="Shape 22"/>
          <p:cNvSpPr/>
          <p:nvPr/>
        </p:nvSpPr>
        <p:spPr>
          <a:xfrm>
            <a:off x="2194560" y="3922776"/>
            <a:ext cx="9537192" cy="960120"/>
          </a:xfrm>
          <a:prstGeom prst="rect">
            <a:avLst/>
          </a:prstGeom>
          <a:solidFill>
            <a:srgbClr val="FFFFFF"/>
          </a:solidFill>
          <a:ln w="9525">
            <a:solidFill>
              <a:srgbClr val="C8C8C8"/>
            </a:solidFill>
            <a:prstDash val="solid"/>
          </a:ln>
        </p:spPr>
      </p:sp>
      <p:sp>
        <p:nvSpPr>
          <p:cNvPr id="25" name="Text 23"/>
          <p:cNvSpPr/>
          <p:nvPr/>
        </p:nvSpPr>
        <p:spPr>
          <a:xfrm>
            <a:off x="2423160" y="4014216"/>
            <a:ext cx="9144000" cy="347472"/>
          </a:xfrm>
          <a:prstGeom prst="rect">
            <a:avLst/>
          </a:prstGeom>
          <a:noFill/>
          <a:ln/>
        </p:spPr>
        <p:txBody>
          <a:bodyPr wrap="square" lIns="0" tIns="0" rIns="0" bIns="0" rtlCol="0" anchor="ctr"/>
          <a:lstStyle/>
          <a:p>
            <a:pPr indent="0" marL="0">
              <a:buNone/>
            </a:pPr>
            <a:r>
              <a:rPr lang="en-US" sz="1150" b="1" dirty="0">
                <a:solidFill>
                  <a:srgbClr val="16324F"/>
                </a:solidFill>
                <a:latin typeface="Yu Gothic" pitchFamily="34" charset="0"/>
                <a:ea typeface="Yu Gothic" pitchFamily="34" charset="-122"/>
                <a:cs typeface="Yu Gothic" pitchFamily="34" charset="-120"/>
              </a:rPr>
              <a:t>Elsevier · 原稿 BKDT-2026-MLCC-001</a:t>
            </a:r>
            <a:endParaRPr lang="en-US" sz="1150" dirty="0"/>
          </a:p>
        </p:txBody>
      </p:sp>
      <p:sp>
        <p:nvSpPr>
          <p:cNvPr id="26" name="Text 24"/>
          <p:cNvSpPr/>
          <p:nvPr/>
        </p:nvSpPr>
        <p:spPr>
          <a:xfrm>
            <a:off x="2423160" y="4379976"/>
            <a:ext cx="9144000" cy="457200"/>
          </a:xfrm>
          <a:prstGeom prst="rect">
            <a:avLst/>
          </a:prstGeom>
          <a:noFill/>
          <a:ln/>
        </p:spPr>
        <p:txBody>
          <a:bodyPr wrap="square" lIns="0" tIns="0" rIns="0" bIns="0" rtlCol="0" anchor="ctr"/>
          <a:lstStyle/>
          <a:p>
            <a:pPr indent="0" marL="0">
              <a:buNone/>
            </a:pPr>
            <a:r>
              <a:rPr lang="en-US" sz="950" dirty="0">
                <a:solidFill>
                  <a:srgbClr val="5A5A5A"/>
                </a:solidFill>
                <a:latin typeface="Yu Gothic" pitchFamily="34" charset="0"/>
                <a:ea typeface="Yu Gothic" pitchFamily="34" charset="-122"/>
                <a:cs typeface="Yu Gothic" pitchFamily="34" charset="-120"/>
              </a:rPr>
              <a:t>BaTiO₃-Nb誘電体へのリチウムフリーTiNb₂O₇コーティング — MLCC応用可能性(次世代誘電体)</a:t>
            </a:r>
            <a:endParaRPr lang="en-US" sz="950" dirty="0"/>
          </a:p>
        </p:txBody>
      </p:sp>
      <p:sp>
        <p:nvSpPr>
          <p:cNvPr id="27" name="Shape 25"/>
          <p:cNvSpPr/>
          <p:nvPr/>
        </p:nvSpPr>
        <p:spPr>
          <a:xfrm>
            <a:off x="457200" y="5038344"/>
            <a:ext cx="1737360" cy="960120"/>
          </a:xfrm>
          <a:prstGeom prst="rect">
            <a:avLst/>
          </a:prstGeom>
          <a:solidFill>
            <a:srgbClr val="16324F"/>
          </a:solidFill>
          <a:ln/>
        </p:spPr>
      </p:sp>
      <p:sp>
        <p:nvSpPr>
          <p:cNvPr id="28" name="Text 26"/>
          <p:cNvSpPr/>
          <p:nvPr/>
        </p:nvSpPr>
        <p:spPr>
          <a:xfrm>
            <a:off x="457200" y="5038344"/>
            <a:ext cx="1737360" cy="960120"/>
          </a:xfrm>
          <a:prstGeom prst="rect">
            <a:avLst/>
          </a:prstGeom>
          <a:noFill/>
          <a:ln/>
        </p:spPr>
        <p:txBody>
          <a:bodyPr wrap="square" lIns="0" tIns="0" rIns="0" bIns="0" rtlCol="0" anchor="ctr"/>
          <a:lstStyle/>
          <a:p>
            <a:pPr algn="ctr" indent="0" marL="0">
              <a:buNone/>
            </a:pPr>
            <a:r>
              <a:rPr lang="en-US" sz="1200" b="1" dirty="0">
                <a:solidFill>
                  <a:srgbClr val="C9A227"/>
                </a:solidFill>
                <a:latin typeface="Arial" pitchFamily="34" charset="0"/>
                <a:ea typeface="Arial" pitchFamily="34" charset="-122"/>
                <a:cs typeface="Arial" pitchFamily="34" charset="-120"/>
              </a:rPr>
              <a:t>Paper 04</a:t>
            </a:r>
            <a:endParaRPr lang="en-US" sz="1200" dirty="0"/>
          </a:p>
        </p:txBody>
      </p:sp>
      <p:sp>
        <p:nvSpPr>
          <p:cNvPr id="29" name="Shape 27"/>
          <p:cNvSpPr/>
          <p:nvPr/>
        </p:nvSpPr>
        <p:spPr>
          <a:xfrm>
            <a:off x="2194560" y="5038344"/>
            <a:ext cx="9537192" cy="960120"/>
          </a:xfrm>
          <a:prstGeom prst="rect">
            <a:avLst/>
          </a:prstGeom>
          <a:solidFill>
            <a:srgbClr val="FFFFFF"/>
          </a:solidFill>
          <a:ln w="9525">
            <a:solidFill>
              <a:srgbClr val="C8C8C8"/>
            </a:solidFill>
            <a:prstDash val="solid"/>
          </a:ln>
        </p:spPr>
      </p:sp>
      <p:sp>
        <p:nvSpPr>
          <p:cNvPr id="30" name="Text 28"/>
          <p:cNvSpPr/>
          <p:nvPr/>
        </p:nvSpPr>
        <p:spPr>
          <a:xfrm>
            <a:off x="2423160" y="5129784"/>
            <a:ext cx="9144000" cy="347472"/>
          </a:xfrm>
          <a:prstGeom prst="rect">
            <a:avLst/>
          </a:prstGeom>
          <a:noFill/>
          <a:ln/>
        </p:spPr>
        <p:txBody>
          <a:bodyPr wrap="square" lIns="0" tIns="0" rIns="0" bIns="0" rtlCol="0" anchor="ctr"/>
          <a:lstStyle/>
          <a:p>
            <a:pPr indent="0" marL="0">
              <a:buNone/>
            </a:pPr>
            <a:r>
              <a:rPr lang="en-US" sz="1150" b="1" dirty="0">
                <a:solidFill>
                  <a:srgbClr val="16324F"/>
                </a:solidFill>
                <a:latin typeface="Yu Gothic" pitchFamily="34" charset="0"/>
                <a:ea typeface="Yu Gothic" pitchFamily="34" charset="-122"/>
                <a:cs typeface="Yu Gothic" pitchFamily="34" charset="-120"/>
              </a:rPr>
              <a:t>韓英バイリンガル学術論文</a:t>
            </a:r>
            <a:endParaRPr lang="en-US" sz="1150" dirty="0"/>
          </a:p>
        </p:txBody>
      </p:sp>
      <p:sp>
        <p:nvSpPr>
          <p:cNvPr id="31" name="Text 29"/>
          <p:cNvSpPr/>
          <p:nvPr/>
        </p:nvSpPr>
        <p:spPr>
          <a:xfrm>
            <a:off x="2423160" y="5495544"/>
            <a:ext cx="9144000" cy="457200"/>
          </a:xfrm>
          <a:prstGeom prst="rect">
            <a:avLst/>
          </a:prstGeom>
          <a:noFill/>
          <a:ln/>
        </p:spPr>
        <p:txBody>
          <a:bodyPr wrap="square" lIns="0" tIns="0" rIns="0" bIns="0" rtlCol="0" anchor="ctr"/>
          <a:lstStyle/>
          <a:p>
            <a:pPr indent="0" marL="0">
              <a:buNone/>
            </a:pPr>
            <a:r>
              <a:rPr lang="en-US" sz="950" dirty="0">
                <a:solidFill>
                  <a:srgbClr val="5A5A5A"/>
                </a:solidFill>
                <a:latin typeface="Yu Gothic" pitchFamily="34" charset="0"/>
                <a:ea typeface="Yu Gothic" pitchFamily="34" charset="-122"/>
                <a:cs typeface="Yu Gothic" pitchFamily="34" charset="-120"/>
              </a:rPr>
              <a:t>ハイブリッドTNO対応セルの設計根拠 — フルシステム統合論文(Lee Ki Hong 他、著者10名)</a:t>
            </a:r>
            <a:endParaRPr lang="en-US" sz="9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6324F"/>
        </a:solidFill>
      </p:bgPr>
    </p:bg>
    <p:spTree>
      <p:nvGrpSpPr>
        <p:cNvPr id="1" name=""/>
        <p:cNvGrpSpPr/>
        <p:nvPr/>
      </p:nvGrpSpPr>
      <p:grpSpPr>
        <a:xfrm>
          <a:off x="0" y="0"/>
          <a:ext cx="0" cy="0"/>
          <a:chOff x="0" y="0"/>
          <a:chExt cx="0" cy="0"/>
        </a:xfrm>
      </p:grpSpPr>
      <p:sp>
        <p:nvSpPr>
          <p:cNvPr id="2" name="Text 0"/>
          <p:cNvSpPr/>
          <p:nvPr/>
        </p:nvSpPr>
        <p:spPr>
          <a:xfrm>
            <a:off x="457200" y="411480"/>
            <a:ext cx="274320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BK DONGYEOUNG TECH</a:t>
            </a:r>
            <a:endParaRPr lang="en-US" sz="900" dirty="0"/>
          </a:p>
        </p:txBody>
      </p:sp>
      <p:sp>
        <p:nvSpPr>
          <p:cNvPr id="3" name="Text 1"/>
          <p:cNvSpPr/>
          <p:nvPr/>
        </p:nvSpPr>
        <p:spPr>
          <a:xfrm>
            <a:off x="502920" y="1417320"/>
            <a:ext cx="4572000" cy="411480"/>
          </a:xfrm>
          <a:prstGeom prst="rect">
            <a:avLst/>
          </a:prstGeom>
          <a:noFill/>
          <a:ln/>
        </p:spPr>
        <p:txBody>
          <a:bodyPr wrap="square" lIns="0" tIns="0" rIns="0" bIns="0" rtlCol="0" anchor="ctr"/>
          <a:lstStyle/>
          <a:p>
            <a:pPr indent="0" marL="0">
              <a:buNone/>
            </a:pPr>
            <a:r>
              <a:rPr lang="en-US" sz="1800" b="1" dirty="0">
                <a:solidFill>
                  <a:srgbClr val="C9A227"/>
                </a:solidFill>
                <a:latin typeface="Arial" pitchFamily="34" charset="0"/>
                <a:ea typeface="Arial" pitchFamily="34" charset="-122"/>
                <a:cs typeface="Arial" pitchFamily="34" charset="-120"/>
              </a:rPr>
              <a:t>CHAPTER 08</a:t>
            </a:r>
            <a:endParaRPr lang="en-US" sz="1800" dirty="0"/>
          </a:p>
        </p:txBody>
      </p:sp>
      <p:sp>
        <p:nvSpPr>
          <p:cNvPr id="4" name="Shape 2"/>
          <p:cNvSpPr/>
          <p:nvPr/>
        </p:nvSpPr>
        <p:spPr>
          <a:xfrm>
            <a:off x="530352" y="1965960"/>
            <a:ext cx="502920" cy="64008"/>
          </a:xfrm>
          <a:prstGeom prst="rect">
            <a:avLst/>
          </a:prstGeom>
          <a:solidFill>
            <a:srgbClr val="C9A227"/>
          </a:solidFill>
          <a:ln/>
        </p:spPr>
      </p:sp>
      <p:sp>
        <p:nvSpPr>
          <p:cNvPr id="5" name="Text 3"/>
          <p:cNvSpPr/>
          <p:nvPr/>
        </p:nvSpPr>
        <p:spPr>
          <a:xfrm>
            <a:off x="457200" y="2148840"/>
            <a:ext cx="5852160" cy="2011680"/>
          </a:xfrm>
          <a:prstGeom prst="rect">
            <a:avLst/>
          </a:prstGeom>
          <a:noFill/>
          <a:ln/>
        </p:spPr>
        <p:txBody>
          <a:bodyPr wrap="square" lIns="0" tIns="0" rIns="0" bIns="0" rtlCol="0" anchor="t"/>
          <a:lstStyle/>
          <a:p>
            <a:pPr indent="0" marL="0">
              <a:buNone/>
            </a:pPr>
            <a:r>
              <a:rPr lang="en-US" sz="3400" b="1" dirty="0">
                <a:solidFill>
                  <a:srgbClr val="FFFFFF"/>
                </a:solidFill>
                <a:latin typeface="Yu Gothic" pitchFamily="34" charset="0"/>
                <a:ea typeface="Yu Gothic" pitchFamily="34" charset="-122"/>
                <a:cs typeface="Yu Gothic" pitchFamily="34" charset="-120"/>
              </a:rPr>
              <a:t>防衛調達</a:t>
            </a:r>
            <a:endParaRPr lang="en-US" sz="3400" dirty="0"/>
          </a:p>
          <a:p>
            <a:pPr indent="0" marL="0">
              <a:buNone/>
            </a:pPr>
            <a:r>
              <a:rPr lang="en-US" sz="3400" b="1" dirty="0">
                <a:solidFill>
                  <a:srgbClr val="FFFFFF"/>
                </a:solidFill>
                <a:latin typeface="Yu Gothic" pitchFamily="34" charset="0"/>
                <a:ea typeface="Yu Gothic" pitchFamily="34" charset="-122"/>
                <a:cs typeface="Yu Gothic" pitchFamily="34" charset="-120"/>
              </a:rPr>
              <a:t>適用アプローチ</a:t>
            </a:r>
            <a:endParaRPr lang="en-US" sz="3400" dirty="0"/>
          </a:p>
        </p:txBody>
      </p:sp>
      <p:sp>
        <p:nvSpPr>
          <p:cNvPr id="6" name="Text 4"/>
          <p:cNvSpPr/>
          <p:nvPr/>
        </p:nvSpPr>
        <p:spPr>
          <a:xfrm>
            <a:off x="502920" y="4434840"/>
            <a:ext cx="5394960" cy="1920240"/>
          </a:xfrm>
          <a:prstGeom prst="rect">
            <a:avLst/>
          </a:prstGeom>
          <a:noFill/>
          <a:ln/>
        </p:spPr>
        <p:txBody>
          <a:bodyPr wrap="square" lIns="0" tIns="0" rIns="0" bIns="0" rtlCol="0" anchor="t"/>
          <a:lstStyle/>
          <a:p>
            <a:pPr indent="0" marL="0">
              <a:buNone/>
            </a:pPr>
            <a:r>
              <a:rPr lang="en-US" sz="1150" dirty="0">
                <a:solidFill>
                  <a:srgbClr val="D8DEE8"/>
                </a:solidFill>
                <a:latin typeface="Yu Gothic" pitchFamily="34" charset="0"/>
                <a:ea typeface="Yu Gothic" pitchFamily="34" charset="-122"/>
                <a:cs typeface="Yu Gothic" pitchFamily="34" charset="-120"/>
              </a:rPr>
              <a:t>防衛取得手続きに基づくTNO-S採用フェーズ、MIL-STD適合、国内サプライチェーンへの貢献。</a:t>
            </a:r>
            <a:endParaRPr lang="en-US" sz="1150" dirty="0"/>
          </a:p>
          <a:p>
            <a:pPr indent="0" marL="0">
              <a:buNone/>
            </a:pPr>
            <a:endParaRPr lang="en-US" sz="1150" dirty="0"/>
          </a:p>
          <a:p>
            <a:pPr indent="0" marL="0">
              <a:buNone/>
            </a:pPr>
            <a:r>
              <a:rPr lang="en-US" sz="1150" dirty="0">
                <a:solidFill>
                  <a:srgbClr val="D8DEE8"/>
                </a:solidFill>
                <a:latin typeface="Yu Gothic" pitchFamily="34" charset="0"/>
                <a:ea typeface="Yu Gothic" pitchFamily="34" charset="-122"/>
                <a:cs typeface="Yu Gothic" pitchFamily="34" charset="-120"/>
              </a:rPr>
              <a:t>5年間の売上見通しと2030年IPOロードマップを提示し、防衛調達に必要な情報を提供する。</a:t>
            </a:r>
            <a:endParaRPr lang="en-US" sz="1150" dirty="0"/>
          </a:p>
        </p:txBody>
      </p:sp>
      <p:sp>
        <p:nvSpPr>
          <p:cNvPr id="7" name="Shape 5"/>
          <p:cNvSpPr/>
          <p:nvPr/>
        </p:nvSpPr>
        <p:spPr>
          <a:xfrm>
            <a:off x="6400800" y="914400"/>
            <a:ext cx="5330952" cy="5029200"/>
          </a:xfrm>
          <a:prstGeom prst="rect">
            <a:avLst/>
          </a:prstGeom>
          <a:solidFill>
            <a:srgbClr val="24466B"/>
          </a:solidFill>
          <a:ln/>
        </p:spPr>
      </p:sp>
      <p:sp>
        <p:nvSpPr>
          <p:cNvPr id="8" name="Shape 6"/>
          <p:cNvSpPr/>
          <p:nvPr/>
        </p:nvSpPr>
        <p:spPr>
          <a:xfrm>
            <a:off x="6400800" y="914400"/>
            <a:ext cx="5330952" cy="82296"/>
          </a:xfrm>
          <a:prstGeom prst="rect">
            <a:avLst/>
          </a:prstGeom>
          <a:solidFill>
            <a:srgbClr val="C9A227"/>
          </a:solidFill>
          <a:ln/>
        </p:spPr>
      </p:sp>
      <p:sp>
        <p:nvSpPr>
          <p:cNvPr id="9" name="Text 7"/>
          <p:cNvSpPr/>
          <p:nvPr/>
        </p:nvSpPr>
        <p:spPr>
          <a:xfrm>
            <a:off x="6400800" y="2743200"/>
            <a:ext cx="5330952"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TNO-S</a:t>
            </a:r>
            <a:endParaRPr lang="en-US" sz="4400" dirty="0"/>
          </a:p>
        </p:txBody>
      </p:sp>
      <p:sp>
        <p:nvSpPr>
          <p:cNvPr id="10" name="Text 8"/>
          <p:cNvSpPr/>
          <p:nvPr/>
        </p:nvSpPr>
        <p:spPr>
          <a:xfrm>
            <a:off x="6400800" y="3657600"/>
            <a:ext cx="5330952" cy="365760"/>
          </a:xfrm>
          <a:prstGeom prst="rect">
            <a:avLst/>
          </a:prstGeom>
          <a:noFill/>
          <a:ln/>
        </p:spPr>
        <p:txBody>
          <a:bodyPr wrap="square" lIns="0" tIns="0" rIns="0" bIns="0" rtlCol="0" anchor="ctr"/>
          <a:lstStyle/>
          <a:p>
            <a:pPr algn="ctr" indent="0" marL="0">
              <a:buNone/>
            </a:pPr>
            <a:r>
              <a:rPr lang="en-US" sz="1200" dirty="0">
                <a:solidFill>
                  <a:srgbClr val="C9A227"/>
                </a:solidFill>
                <a:latin typeface="Arial" pitchFamily="34" charset="0"/>
                <a:ea typeface="Arial" pitchFamily="34" charset="-122"/>
                <a:cs typeface="Arial" pitchFamily="34" charset="-120"/>
              </a:rPr>
              <a:t>Lithium-Free All-Solid-State Battery</a:t>
            </a:r>
            <a:endParaRPr lang="en-US" sz="1200" dirty="0"/>
          </a:p>
        </p:txBody>
      </p:sp>
      <p:sp>
        <p:nvSpPr>
          <p:cNvPr id="11" name="Text 9"/>
          <p:cNvSpPr/>
          <p:nvPr/>
        </p:nvSpPr>
        <p:spPr>
          <a:xfrm>
            <a:off x="10725912" y="6355080"/>
            <a:ext cx="1097280" cy="274320"/>
          </a:xfrm>
          <a:prstGeom prst="rect">
            <a:avLst/>
          </a:prstGeom>
          <a:noFill/>
          <a:ln/>
        </p:spPr>
        <p:txBody>
          <a:bodyPr wrap="square" lIns="0" tIns="0" rIns="0" bIns="0" rtlCol="0" anchor="ctr"/>
          <a:lstStyle/>
          <a:p>
            <a:pPr algn="r" indent="0" marL="0">
              <a:buNone/>
            </a:pPr>
            <a:r>
              <a:rPr lang="en-US" sz="1000" b="1" dirty="0">
                <a:solidFill>
                  <a:srgbClr val="C9A227"/>
                </a:solidFill>
                <a:latin typeface="Arial" pitchFamily="34" charset="0"/>
                <a:ea typeface="Arial" pitchFamily="34" charset="-122"/>
                <a:cs typeface="Arial" pitchFamily="34" charset="-120"/>
              </a:rPr>
              <a:t>p.49/55</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8.1  防衛取得の適用フェーズ</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50/55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4段階の防衛調達適用</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Four-Phase Defense Procurement Application</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691640"/>
            <a:ext cx="2377440" cy="960120"/>
          </a:xfrm>
          <a:prstGeom prst="rect">
            <a:avLst/>
          </a:prstGeom>
          <a:solidFill>
            <a:srgbClr val="16324F"/>
          </a:solidFill>
          <a:ln/>
        </p:spPr>
      </p:sp>
      <p:sp>
        <p:nvSpPr>
          <p:cNvPr id="13" name="Text 11"/>
          <p:cNvSpPr/>
          <p:nvPr/>
        </p:nvSpPr>
        <p:spPr>
          <a:xfrm>
            <a:off x="457200" y="1764792"/>
            <a:ext cx="2377440" cy="292608"/>
          </a:xfrm>
          <a:prstGeom prst="rect">
            <a:avLst/>
          </a:prstGeom>
          <a:noFill/>
          <a:ln/>
        </p:spPr>
        <p:txBody>
          <a:bodyPr wrap="square" lIns="0" tIns="0" rIns="0" bIns="0" rtlCol="0" anchor="ctr"/>
          <a:lstStyle/>
          <a:p>
            <a:pPr algn="ctr" indent="0" marL="0">
              <a:buNone/>
            </a:pPr>
            <a:r>
              <a:rPr lang="en-US" sz="1100" b="1" dirty="0">
                <a:solidFill>
                  <a:srgbClr val="C9A227"/>
                </a:solidFill>
                <a:latin typeface="Arial" pitchFamily="34" charset="0"/>
                <a:ea typeface="Arial" pitchFamily="34" charset="-122"/>
                <a:cs typeface="Arial" pitchFamily="34" charset="-120"/>
              </a:rPr>
              <a:t>PHASE 1</a:t>
            </a:r>
            <a:endParaRPr lang="en-US" sz="1100" dirty="0"/>
          </a:p>
        </p:txBody>
      </p:sp>
      <p:sp>
        <p:nvSpPr>
          <p:cNvPr id="14" name="Text 12"/>
          <p:cNvSpPr/>
          <p:nvPr/>
        </p:nvSpPr>
        <p:spPr>
          <a:xfrm>
            <a:off x="457200" y="2057400"/>
            <a:ext cx="2377440" cy="320040"/>
          </a:xfrm>
          <a:prstGeom prst="rect">
            <a:avLst/>
          </a:prstGeom>
          <a:noFill/>
          <a:ln/>
        </p:spPr>
        <p:txBody>
          <a:bodyPr wrap="square" lIns="0" tIns="0" rIns="0" bIns="0" rtlCol="0" anchor="ctr"/>
          <a:lstStyle/>
          <a:p>
            <a:pPr algn="ctr" indent="0" marL="0">
              <a:buNone/>
            </a:pPr>
            <a:r>
              <a:rPr lang="en-US" sz="1150" b="1" dirty="0">
                <a:solidFill>
                  <a:srgbClr val="FFFFFF"/>
                </a:solidFill>
                <a:latin typeface="Yu Gothic" pitchFamily="34" charset="0"/>
                <a:ea typeface="Yu Gothic" pitchFamily="34" charset="-122"/>
                <a:cs typeface="Yu Gothic" pitchFamily="34" charset="-120"/>
              </a:rPr>
              <a:t>技術審査</a:t>
            </a:r>
            <a:endParaRPr lang="en-US" sz="1150" dirty="0"/>
          </a:p>
        </p:txBody>
      </p:sp>
      <p:sp>
        <p:nvSpPr>
          <p:cNvPr id="15" name="Text 13"/>
          <p:cNvSpPr/>
          <p:nvPr/>
        </p:nvSpPr>
        <p:spPr>
          <a:xfrm>
            <a:off x="457200" y="2368296"/>
            <a:ext cx="2377440" cy="256032"/>
          </a:xfrm>
          <a:prstGeom prst="rect">
            <a:avLst/>
          </a:prstGeom>
          <a:noFill/>
          <a:ln/>
        </p:spPr>
        <p:txBody>
          <a:bodyPr wrap="square" lIns="0" tIns="0" rIns="0" bIns="0" rtlCol="0" anchor="ctr"/>
          <a:lstStyle/>
          <a:p>
            <a:pPr algn="ctr" indent="0" marL="0">
              <a:buNone/>
            </a:pPr>
            <a:r>
              <a:rPr lang="en-US" sz="900" dirty="0">
                <a:solidFill>
                  <a:srgbClr val="C9A227"/>
                </a:solidFill>
                <a:latin typeface="Arial" pitchFamily="34" charset="0"/>
                <a:ea typeface="Arial" pitchFamily="34" charset="-122"/>
                <a:cs typeface="Arial" pitchFamily="34" charset="-120"/>
              </a:rPr>
              <a:t>2026 Q3-Q4</a:t>
            </a:r>
            <a:endParaRPr lang="en-US" sz="900" dirty="0"/>
          </a:p>
        </p:txBody>
      </p:sp>
      <p:sp>
        <p:nvSpPr>
          <p:cNvPr id="16" name="Shape 14"/>
          <p:cNvSpPr/>
          <p:nvPr/>
        </p:nvSpPr>
        <p:spPr>
          <a:xfrm>
            <a:off x="2834640" y="1691640"/>
            <a:ext cx="8897112" cy="960120"/>
          </a:xfrm>
          <a:prstGeom prst="rect">
            <a:avLst/>
          </a:prstGeom>
          <a:solidFill>
            <a:srgbClr val="FFFFFF"/>
          </a:solidFill>
          <a:ln w="9525">
            <a:solidFill>
              <a:srgbClr val="C8C8C8"/>
            </a:solidFill>
            <a:prstDash val="solid"/>
          </a:ln>
        </p:spPr>
      </p:sp>
      <p:sp>
        <p:nvSpPr>
          <p:cNvPr id="17" name="Text 15"/>
          <p:cNvSpPr/>
          <p:nvPr/>
        </p:nvSpPr>
        <p:spPr>
          <a:xfrm>
            <a:off x="3063240" y="1691640"/>
            <a:ext cx="8458200" cy="960120"/>
          </a:xfrm>
          <a:prstGeom prst="rect">
            <a:avLst/>
          </a:prstGeom>
          <a:noFill/>
          <a:ln/>
        </p:spPr>
        <p:txBody>
          <a:bodyPr wrap="square" lIns="0" tIns="0" rIns="0" bIns="0" rtlCol="0" anchor="ctr"/>
          <a:lstStyle/>
          <a:p>
            <a:pPr indent="0" marL="0">
              <a:buNone/>
            </a:pPr>
            <a:r>
              <a:rPr lang="en-US" sz="1100" dirty="0">
                <a:solidFill>
                  <a:srgbClr val="1A1A1A"/>
                </a:solidFill>
                <a:latin typeface="Yu Gothic" pitchFamily="34" charset="0"/>
                <a:ea typeface="Yu Gothic" pitchFamily="34" charset="-122"/>
                <a:cs typeface="Yu Gothic" pitchFamily="34" charset="-120"/>
              </a:rPr>
              <a:t>TNO-S技術適合性評価 · サンプル供給 · MIL-STD-810/167試験</a:t>
            </a:r>
            <a:endParaRPr lang="en-US" sz="1100" dirty="0"/>
          </a:p>
        </p:txBody>
      </p:sp>
      <p:sp>
        <p:nvSpPr>
          <p:cNvPr id="18" name="Shape 16"/>
          <p:cNvSpPr/>
          <p:nvPr/>
        </p:nvSpPr>
        <p:spPr>
          <a:xfrm>
            <a:off x="457200" y="2807208"/>
            <a:ext cx="2377440" cy="960120"/>
          </a:xfrm>
          <a:prstGeom prst="rect">
            <a:avLst/>
          </a:prstGeom>
          <a:solidFill>
            <a:srgbClr val="16324F"/>
          </a:solidFill>
          <a:ln/>
        </p:spPr>
      </p:sp>
      <p:sp>
        <p:nvSpPr>
          <p:cNvPr id="19" name="Text 17"/>
          <p:cNvSpPr/>
          <p:nvPr/>
        </p:nvSpPr>
        <p:spPr>
          <a:xfrm>
            <a:off x="457200" y="2880360"/>
            <a:ext cx="2377440" cy="292608"/>
          </a:xfrm>
          <a:prstGeom prst="rect">
            <a:avLst/>
          </a:prstGeom>
          <a:noFill/>
          <a:ln/>
        </p:spPr>
        <p:txBody>
          <a:bodyPr wrap="square" lIns="0" tIns="0" rIns="0" bIns="0" rtlCol="0" anchor="ctr"/>
          <a:lstStyle/>
          <a:p>
            <a:pPr algn="ctr" indent="0" marL="0">
              <a:buNone/>
            </a:pPr>
            <a:r>
              <a:rPr lang="en-US" sz="1100" b="1" dirty="0">
                <a:solidFill>
                  <a:srgbClr val="C9A227"/>
                </a:solidFill>
                <a:latin typeface="Arial" pitchFamily="34" charset="0"/>
                <a:ea typeface="Arial" pitchFamily="34" charset="-122"/>
                <a:cs typeface="Arial" pitchFamily="34" charset="-120"/>
              </a:rPr>
              <a:t>PHASE 2</a:t>
            </a:r>
            <a:endParaRPr lang="en-US" sz="1100" dirty="0"/>
          </a:p>
        </p:txBody>
      </p:sp>
      <p:sp>
        <p:nvSpPr>
          <p:cNvPr id="20" name="Text 18"/>
          <p:cNvSpPr/>
          <p:nvPr/>
        </p:nvSpPr>
        <p:spPr>
          <a:xfrm>
            <a:off x="457200" y="3172968"/>
            <a:ext cx="2377440" cy="320040"/>
          </a:xfrm>
          <a:prstGeom prst="rect">
            <a:avLst/>
          </a:prstGeom>
          <a:noFill/>
          <a:ln/>
        </p:spPr>
        <p:txBody>
          <a:bodyPr wrap="square" lIns="0" tIns="0" rIns="0" bIns="0" rtlCol="0" anchor="ctr"/>
          <a:lstStyle/>
          <a:p>
            <a:pPr algn="ctr" indent="0" marL="0">
              <a:buNone/>
            </a:pPr>
            <a:r>
              <a:rPr lang="en-US" sz="1150" b="1" dirty="0">
                <a:solidFill>
                  <a:srgbClr val="FFFFFF"/>
                </a:solidFill>
                <a:latin typeface="Yu Gothic" pitchFamily="34" charset="0"/>
                <a:ea typeface="Yu Gothic" pitchFamily="34" charset="-122"/>
                <a:cs typeface="Yu Gothic" pitchFamily="34" charset="-120"/>
              </a:rPr>
              <a:t>パイロット運用</a:t>
            </a:r>
            <a:endParaRPr lang="en-US" sz="1150" dirty="0"/>
          </a:p>
        </p:txBody>
      </p:sp>
      <p:sp>
        <p:nvSpPr>
          <p:cNvPr id="21" name="Text 19"/>
          <p:cNvSpPr/>
          <p:nvPr/>
        </p:nvSpPr>
        <p:spPr>
          <a:xfrm>
            <a:off x="457200" y="3483864"/>
            <a:ext cx="2377440" cy="256032"/>
          </a:xfrm>
          <a:prstGeom prst="rect">
            <a:avLst/>
          </a:prstGeom>
          <a:noFill/>
          <a:ln/>
        </p:spPr>
        <p:txBody>
          <a:bodyPr wrap="square" lIns="0" tIns="0" rIns="0" bIns="0" rtlCol="0" anchor="ctr"/>
          <a:lstStyle/>
          <a:p>
            <a:pPr algn="ctr" indent="0" marL="0">
              <a:buNone/>
            </a:pPr>
            <a:r>
              <a:rPr lang="en-US" sz="900" dirty="0">
                <a:solidFill>
                  <a:srgbClr val="C9A227"/>
                </a:solidFill>
                <a:latin typeface="Arial" pitchFamily="34" charset="0"/>
                <a:ea typeface="Arial" pitchFamily="34" charset="-122"/>
                <a:cs typeface="Arial" pitchFamily="34" charset="-120"/>
              </a:rPr>
              <a:t>2027 Q1-Q3</a:t>
            </a:r>
            <a:endParaRPr lang="en-US" sz="900" dirty="0"/>
          </a:p>
        </p:txBody>
      </p:sp>
      <p:sp>
        <p:nvSpPr>
          <p:cNvPr id="22" name="Shape 20"/>
          <p:cNvSpPr/>
          <p:nvPr/>
        </p:nvSpPr>
        <p:spPr>
          <a:xfrm>
            <a:off x="2834640" y="2807208"/>
            <a:ext cx="8897112" cy="960120"/>
          </a:xfrm>
          <a:prstGeom prst="rect">
            <a:avLst/>
          </a:prstGeom>
          <a:solidFill>
            <a:srgbClr val="FFFFFF"/>
          </a:solidFill>
          <a:ln w="9525">
            <a:solidFill>
              <a:srgbClr val="C8C8C8"/>
            </a:solidFill>
            <a:prstDash val="solid"/>
          </a:ln>
        </p:spPr>
      </p:sp>
      <p:sp>
        <p:nvSpPr>
          <p:cNvPr id="23" name="Text 21"/>
          <p:cNvSpPr/>
          <p:nvPr/>
        </p:nvSpPr>
        <p:spPr>
          <a:xfrm>
            <a:off x="3063240" y="2807208"/>
            <a:ext cx="8458200" cy="960120"/>
          </a:xfrm>
          <a:prstGeom prst="rect">
            <a:avLst/>
          </a:prstGeom>
          <a:noFill/>
          <a:ln/>
        </p:spPr>
        <p:txBody>
          <a:bodyPr wrap="square" lIns="0" tIns="0" rIns="0" bIns="0" rtlCol="0" anchor="ctr"/>
          <a:lstStyle/>
          <a:p>
            <a:pPr indent="0" marL="0">
              <a:buNone/>
            </a:pPr>
            <a:r>
              <a:rPr lang="en-US" sz="1100" dirty="0">
                <a:solidFill>
                  <a:srgbClr val="1A1A1A"/>
                </a:solidFill>
                <a:latin typeface="Yu Gothic" pitchFamily="34" charset="0"/>
                <a:ea typeface="Yu Gothic" pitchFamily="34" charset="-122"/>
                <a:cs typeface="Yu Gothic" pitchFamily="34" charset="-120"/>
              </a:rPr>
              <a:t>特定部隊 / プラットフォームへの試験配備 · 運用データ収集 · ギャップ分析</a:t>
            </a:r>
            <a:endParaRPr lang="en-US" sz="1100" dirty="0"/>
          </a:p>
        </p:txBody>
      </p:sp>
      <p:sp>
        <p:nvSpPr>
          <p:cNvPr id="24" name="Shape 22"/>
          <p:cNvSpPr/>
          <p:nvPr/>
        </p:nvSpPr>
        <p:spPr>
          <a:xfrm>
            <a:off x="457200" y="3922776"/>
            <a:ext cx="2377440" cy="960120"/>
          </a:xfrm>
          <a:prstGeom prst="rect">
            <a:avLst/>
          </a:prstGeom>
          <a:solidFill>
            <a:srgbClr val="16324F"/>
          </a:solidFill>
          <a:ln/>
        </p:spPr>
      </p:sp>
      <p:sp>
        <p:nvSpPr>
          <p:cNvPr id="25" name="Text 23"/>
          <p:cNvSpPr/>
          <p:nvPr/>
        </p:nvSpPr>
        <p:spPr>
          <a:xfrm>
            <a:off x="457200" y="3995928"/>
            <a:ext cx="2377440" cy="292608"/>
          </a:xfrm>
          <a:prstGeom prst="rect">
            <a:avLst/>
          </a:prstGeom>
          <a:noFill/>
          <a:ln/>
        </p:spPr>
        <p:txBody>
          <a:bodyPr wrap="square" lIns="0" tIns="0" rIns="0" bIns="0" rtlCol="0" anchor="ctr"/>
          <a:lstStyle/>
          <a:p>
            <a:pPr algn="ctr" indent="0" marL="0">
              <a:buNone/>
            </a:pPr>
            <a:r>
              <a:rPr lang="en-US" sz="1100" b="1" dirty="0">
                <a:solidFill>
                  <a:srgbClr val="C9A227"/>
                </a:solidFill>
                <a:latin typeface="Arial" pitchFamily="34" charset="0"/>
                <a:ea typeface="Arial" pitchFamily="34" charset="-122"/>
                <a:cs typeface="Arial" pitchFamily="34" charset="-120"/>
              </a:rPr>
              <a:t>PHASE 3</a:t>
            </a:r>
            <a:endParaRPr lang="en-US" sz="1100" dirty="0"/>
          </a:p>
        </p:txBody>
      </p:sp>
      <p:sp>
        <p:nvSpPr>
          <p:cNvPr id="26" name="Text 24"/>
          <p:cNvSpPr/>
          <p:nvPr/>
        </p:nvSpPr>
        <p:spPr>
          <a:xfrm>
            <a:off x="457200" y="4288536"/>
            <a:ext cx="2377440" cy="320040"/>
          </a:xfrm>
          <a:prstGeom prst="rect">
            <a:avLst/>
          </a:prstGeom>
          <a:noFill/>
          <a:ln/>
        </p:spPr>
        <p:txBody>
          <a:bodyPr wrap="square" lIns="0" tIns="0" rIns="0" bIns="0" rtlCol="0" anchor="ctr"/>
          <a:lstStyle/>
          <a:p>
            <a:pPr algn="ctr" indent="0" marL="0">
              <a:buNone/>
            </a:pPr>
            <a:r>
              <a:rPr lang="en-US" sz="1150" b="1" dirty="0">
                <a:solidFill>
                  <a:srgbClr val="FFFFFF"/>
                </a:solidFill>
                <a:latin typeface="Yu Gothic" pitchFamily="34" charset="0"/>
                <a:ea typeface="Yu Gothic" pitchFamily="34" charset="-122"/>
                <a:cs typeface="Yu Gothic" pitchFamily="34" charset="-120"/>
              </a:rPr>
              <a:t>本格採用</a:t>
            </a:r>
            <a:endParaRPr lang="en-US" sz="1150" dirty="0"/>
          </a:p>
        </p:txBody>
      </p:sp>
      <p:sp>
        <p:nvSpPr>
          <p:cNvPr id="27" name="Text 25"/>
          <p:cNvSpPr/>
          <p:nvPr/>
        </p:nvSpPr>
        <p:spPr>
          <a:xfrm>
            <a:off x="457200" y="4599432"/>
            <a:ext cx="2377440" cy="256032"/>
          </a:xfrm>
          <a:prstGeom prst="rect">
            <a:avLst/>
          </a:prstGeom>
          <a:noFill/>
          <a:ln/>
        </p:spPr>
        <p:txBody>
          <a:bodyPr wrap="square" lIns="0" tIns="0" rIns="0" bIns="0" rtlCol="0" anchor="ctr"/>
          <a:lstStyle/>
          <a:p>
            <a:pPr algn="ctr" indent="0" marL="0">
              <a:buNone/>
            </a:pPr>
            <a:r>
              <a:rPr lang="en-US" sz="900" dirty="0">
                <a:solidFill>
                  <a:srgbClr val="C9A227"/>
                </a:solidFill>
                <a:latin typeface="Arial" pitchFamily="34" charset="0"/>
                <a:ea typeface="Arial" pitchFamily="34" charset="-122"/>
                <a:cs typeface="Arial" pitchFamily="34" charset="-120"/>
              </a:rPr>
              <a:t>2027 Q4-2028</a:t>
            </a:r>
            <a:endParaRPr lang="en-US" sz="900" dirty="0"/>
          </a:p>
        </p:txBody>
      </p:sp>
      <p:sp>
        <p:nvSpPr>
          <p:cNvPr id="28" name="Shape 26"/>
          <p:cNvSpPr/>
          <p:nvPr/>
        </p:nvSpPr>
        <p:spPr>
          <a:xfrm>
            <a:off x="2834640" y="3922776"/>
            <a:ext cx="8897112" cy="960120"/>
          </a:xfrm>
          <a:prstGeom prst="rect">
            <a:avLst/>
          </a:prstGeom>
          <a:solidFill>
            <a:srgbClr val="FFFFFF"/>
          </a:solidFill>
          <a:ln w="9525">
            <a:solidFill>
              <a:srgbClr val="C8C8C8"/>
            </a:solidFill>
            <a:prstDash val="solid"/>
          </a:ln>
        </p:spPr>
      </p:sp>
      <p:sp>
        <p:nvSpPr>
          <p:cNvPr id="29" name="Text 27"/>
          <p:cNvSpPr/>
          <p:nvPr/>
        </p:nvSpPr>
        <p:spPr>
          <a:xfrm>
            <a:off x="3063240" y="3922776"/>
            <a:ext cx="8458200" cy="960120"/>
          </a:xfrm>
          <a:prstGeom prst="rect">
            <a:avLst/>
          </a:prstGeom>
          <a:noFill/>
          <a:ln/>
        </p:spPr>
        <p:txBody>
          <a:bodyPr wrap="square" lIns="0" tIns="0" rIns="0" bIns="0" rtlCol="0" anchor="ctr"/>
          <a:lstStyle/>
          <a:p>
            <a:pPr indent="0" marL="0">
              <a:buNone/>
            </a:pPr>
            <a:r>
              <a:rPr lang="en-US" sz="1100" dirty="0">
                <a:solidFill>
                  <a:srgbClr val="1A1A1A"/>
                </a:solidFill>
                <a:latin typeface="Yu Gothic" pitchFamily="34" charset="0"/>
                <a:ea typeface="Yu Gothic" pitchFamily="34" charset="-122"/>
                <a:cs typeface="Yu Gothic" pitchFamily="34" charset="-120"/>
              </a:rPr>
              <a:t>正式調達契約 · 量産供給の開始 · 運用マニュアルの整備</a:t>
            </a:r>
            <a:endParaRPr lang="en-US" sz="1100" dirty="0"/>
          </a:p>
        </p:txBody>
      </p:sp>
      <p:sp>
        <p:nvSpPr>
          <p:cNvPr id="30" name="Shape 28"/>
          <p:cNvSpPr/>
          <p:nvPr/>
        </p:nvSpPr>
        <p:spPr>
          <a:xfrm>
            <a:off x="457200" y="5038344"/>
            <a:ext cx="2377440" cy="960120"/>
          </a:xfrm>
          <a:prstGeom prst="rect">
            <a:avLst/>
          </a:prstGeom>
          <a:solidFill>
            <a:srgbClr val="16324F"/>
          </a:solidFill>
          <a:ln/>
        </p:spPr>
      </p:sp>
      <p:sp>
        <p:nvSpPr>
          <p:cNvPr id="31" name="Text 29"/>
          <p:cNvSpPr/>
          <p:nvPr/>
        </p:nvSpPr>
        <p:spPr>
          <a:xfrm>
            <a:off x="457200" y="5111496"/>
            <a:ext cx="2377440" cy="292608"/>
          </a:xfrm>
          <a:prstGeom prst="rect">
            <a:avLst/>
          </a:prstGeom>
          <a:noFill/>
          <a:ln/>
        </p:spPr>
        <p:txBody>
          <a:bodyPr wrap="square" lIns="0" tIns="0" rIns="0" bIns="0" rtlCol="0" anchor="ctr"/>
          <a:lstStyle/>
          <a:p>
            <a:pPr algn="ctr" indent="0" marL="0">
              <a:buNone/>
            </a:pPr>
            <a:r>
              <a:rPr lang="en-US" sz="1100" b="1" dirty="0">
                <a:solidFill>
                  <a:srgbClr val="C9A227"/>
                </a:solidFill>
                <a:latin typeface="Arial" pitchFamily="34" charset="0"/>
                <a:ea typeface="Arial" pitchFamily="34" charset="-122"/>
                <a:cs typeface="Arial" pitchFamily="34" charset="-120"/>
              </a:rPr>
              <a:t>PHASE 4</a:t>
            </a:r>
            <a:endParaRPr lang="en-US" sz="1100" dirty="0"/>
          </a:p>
        </p:txBody>
      </p:sp>
      <p:sp>
        <p:nvSpPr>
          <p:cNvPr id="32" name="Text 30"/>
          <p:cNvSpPr/>
          <p:nvPr/>
        </p:nvSpPr>
        <p:spPr>
          <a:xfrm>
            <a:off x="457200" y="5404104"/>
            <a:ext cx="2377440" cy="320040"/>
          </a:xfrm>
          <a:prstGeom prst="rect">
            <a:avLst/>
          </a:prstGeom>
          <a:noFill/>
          <a:ln/>
        </p:spPr>
        <p:txBody>
          <a:bodyPr wrap="square" lIns="0" tIns="0" rIns="0" bIns="0" rtlCol="0" anchor="ctr"/>
          <a:lstStyle/>
          <a:p>
            <a:pPr algn="ctr" indent="0" marL="0">
              <a:buNone/>
            </a:pPr>
            <a:r>
              <a:rPr lang="en-US" sz="1150" b="1" dirty="0">
                <a:solidFill>
                  <a:srgbClr val="FFFFFF"/>
                </a:solidFill>
                <a:latin typeface="Yu Gothic" pitchFamily="34" charset="0"/>
                <a:ea typeface="Yu Gothic" pitchFamily="34" charset="-122"/>
                <a:cs typeface="Yu Gothic" pitchFamily="34" charset="-120"/>
              </a:rPr>
              <a:t>拡大運用</a:t>
            </a:r>
            <a:endParaRPr lang="en-US" sz="1150" dirty="0"/>
          </a:p>
        </p:txBody>
      </p:sp>
      <p:sp>
        <p:nvSpPr>
          <p:cNvPr id="33" name="Text 31"/>
          <p:cNvSpPr/>
          <p:nvPr/>
        </p:nvSpPr>
        <p:spPr>
          <a:xfrm>
            <a:off x="457200" y="5715000"/>
            <a:ext cx="2377440" cy="256032"/>
          </a:xfrm>
          <a:prstGeom prst="rect">
            <a:avLst/>
          </a:prstGeom>
          <a:noFill/>
          <a:ln/>
        </p:spPr>
        <p:txBody>
          <a:bodyPr wrap="square" lIns="0" tIns="0" rIns="0" bIns="0" rtlCol="0" anchor="ctr"/>
          <a:lstStyle/>
          <a:p>
            <a:pPr algn="ctr" indent="0" marL="0">
              <a:buNone/>
            </a:pPr>
            <a:r>
              <a:rPr lang="en-US" sz="900" dirty="0">
                <a:solidFill>
                  <a:srgbClr val="C9A227"/>
                </a:solidFill>
                <a:latin typeface="Arial" pitchFamily="34" charset="0"/>
                <a:ea typeface="Arial" pitchFamily="34" charset="-122"/>
                <a:cs typeface="Arial" pitchFamily="34" charset="-120"/>
              </a:rPr>
              <a:t>2029以降</a:t>
            </a:r>
            <a:endParaRPr lang="en-US" sz="900" dirty="0"/>
          </a:p>
        </p:txBody>
      </p:sp>
      <p:sp>
        <p:nvSpPr>
          <p:cNvPr id="34" name="Shape 32"/>
          <p:cNvSpPr/>
          <p:nvPr/>
        </p:nvSpPr>
        <p:spPr>
          <a:xfrm>
            <a:off x="2834640" y="5038344"/>
            <a:ext cx="8897112" cy="960120"/>
          </a:xfrm>
          <a:prstGeom prst="rect">
            <a:avLst/>
          </a:prstGeom>
          <a:solidFill>
            <a:srgbClr val="FFFFFF"/>
          </a:solidFill>
          <a:ln w="9525">
            <a:solidFill>
              <a:srgbClr val="C8C8C8"/>
            </a:solidFill>
            <a:prstDash val="solid"/>
          </a:ln>
        </p:spPr>
      </p:sp>
      <p:sp>
        <p:nvSpPr>
          <p:cNvPr id="35" name="Text 33"/>
          <p:cNvSpPr/>
          <p:nvPr/>
        </p:nvSpPr>
        <p:spPr>
          <a:xfrm>
            <a:off x="3063240" y="5038344"/>
            <a:ext cx="8458200" cy="960120"/>
          </a:xfrm>
          <a:prstGeom prst="rect">
            <a:avLst/>
          </a:prstGeom>
          <a:noFill/>
          <a:ln/>
        </p:spPr>
        <p:txBody>
          <a:bodyPr wrap="square" lIns="0" tIns="0" rIns="0" bIns="0" rtlCol="0" anchor="ctr"/>
          <a:lstStyle/>
          <a:p>
            <a:pPr indent="0" marL="0">
              <a:buNone/>
            </a:pPr>
            <a:r>
              <a:rPr lang="en-US" sz="1100" dirty="0">
                <a:solidFill>
                  <a:srgbClr val="1A1A1A"/>
                </a:solidFill>
                <a:latin typeface="Yu Gothic" pitchFamily="34" charset="0"/>
                <a:ea typeface="Yu Gothic" pitchFamily="34" charset="-122"/>
                <a:cs typeface="Yu Gothic" pitchFamily="34" charset="-120"/>
              </a:rPr>
              <a:t>全軍展開 · MROインフラの構築 · 次世代モデルの共同開発</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8.2  防衛規格への適合</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51/55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防衛規格(MIL-STD)への適合</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Military Standard Compliance</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7200" y="1572768"/>
          <a:ext cx="11274552" cy="914400"/>
        </p:xfrm>
        <a:graphic>
          <a:graphicData uri="http://schemas.openxmlformats.org/drawingml/2006/table">
            <a:tbl>
              <a:tblPr/>
              <a:tblGrid>
                <a:gridCol w="4023360"/>
                <a:gridCol w="3108960"/>
                <a:gridCol w="4142232"/>
              </a:tblGrid>
              <a:tr h="365760">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防衛規格</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試験内容</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TNO-S 適合状況</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r>
              <a:tr h="365760">
                <a:tc>
                  <a:txBody>
                    <a:bodyPr/>
                    <a:lstStyle/>
                    <a:p>
                      <a:pPr algn="l" indent="0" marL="0">
                        <a:buNone/>
                      </a:pPr>
                      <a:r>
                        <a:rPr lang="en-US" sz="900" b="1" dirty="0">
                          <a:solidFill>
                            <a:srgbClr val="1A1A1A"/>
                          </a:solidFill>
                          <a:latin typeface="Yu Gothic" pitchFamily="34" charset="0"/>
                          <a:ea typeface="Yu Gothic" pitchFamily="34" charset="-122"/>
                          <a:cs typeface="Yu Gothic" pitchFamily="34" charset="-120"/>
                        </a:rPr>
                        <a:t>MIL-STD-810H Method 501</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Yu Gothic" pitchFamily="34" charset="0"/>
                          <a:ea typeface="Yu Gothic" pitchFamily="34" charset="-122"/>
                          <a:cs typeface="Yu Gothic" pitchFamily="34" charset="-120"/>
                        </a:rPr>
                        <a:t>高温(+71°C)</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Yu Gothic" pitchFamily="34" charset="0"/>
                          <a:ea typeface="Yu Gothic" pitchFamily="34" charset="-122"/>
                          <a:cs typeface="Yu Gothic" pitchFamily="34" charset="-120"/>
                        </a:rPr>
                        <a:t>✓ 適合(放電 +80°C)</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65760">
                <a:tc>
                  <a:txBody>
                    <a:bodyPr/>
                    <a:lstStyle/>
                    <a:p>
                      <a:pPr algn="l" indent="0" marL="0">
                        <a:buNone/>
                      </a:pPr>
                      <a:r>
                        <a:rPr lang="en-US" sz="900" b="1" dirty="0">
                          <a:solidFill>
                            <a:srgbClr val="1A1A1A"/>
                          </a:solidFill>
                          <a:latin typeface="Yu Gothic" pitchFamily="34" charset="0"/>
                          <a:ea typeface="Yu Gothic" pitchFamily="34" charset="-122"/>
                          <a:cs typeface="Yu Gothic" pitchFamily="34" charset="-120"/>
                        </a:rPr>
                        <a:t>MIL-STD-810H Method 502</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00" dirty="0">
                          <a:solidFill>
                            <a:srgbClr val="1A1A1A"/>
                          </a:solidFill>
                          <a:latin typeface="Yu Gothic" pitchFamily="34" charset="0"/>
                          <a:ea typeface="Yu Gothic" pitchFamily="34" charset="-122"/>
                          <a:cs typeface="Yu Gothic" pitchFamily="34" charset="-120"/>
                        </a:rPr>
                        <a:t>低温(-46°C)</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00" dirty="0">
                          <a:solidFill>
                            <a:srgbClr val="1A1A1A"/>
                          </a:solidFill>
                          <a:latin typeface="Yu Gothic" pitchFamily="34" charset="0"/>
                          <a:ea typeface="Yu Gothic" pitchFamily="34" charset="-122"/>
                          <a:cs typeface="Yu Gothic" pitchFamily="34" charset="-120"/>
                        </a:rPr>
                        <a:t>✓ 適合(放電 -36.8°C、拡張 -40°C)</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365760">
                <a:tc>
                  <a:txBody>
                    <a:bodyPr/>
                    <a:lstStyle/>
                    <a:p>
                      <a:pPr algn="l" indent="0" marL="0">
                        <a:buNone/>
                      </a:pPr>
                      <a:r>
                        <a:rPr lang="en-US" sz="900" b="1" dirty="0">
                          <a:solidFill>
                            <a:srgbClr val="1A1A1A"/>
                          </a:solidFill>
                          <a:latin typeface="Yu Gothic" pitchFamily="34" charset="0"/>
                          <a:ea typeface="Yu Gothic" pitchFamily="34" charset="-122"/>
                          <a:cs typeface="Yu Gothic" pitchFamily="34" charset="-120"/>
                        </a:rPr>
                        <a:t>MIL-STD-810H Method 503</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Yu Gothic" pitchFamily="34" charset="0"/>
                          <a:ea typeface="Yu Gothic" pitchFamily="34" charset="-122"/>
                          <a:cs typeface="Yu Gothic" pitchFamily="34" charset="-120"/>
                        </a:rPr>
                        <a:t>熱衝撃</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Yu Gothic" pitchFamily="34" charset="0"/>
                          <a:ea typeface="Yu Gothic" pitchFamily="34" charset="-122"/>
                          <a:cs typeface="Yu Gothic" pitchFamily="34" charset="-120"/>
                        </a:rPr>
                        <a:t>✓ 適合(全固体)</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65760">
                <a:tc>
                  <a:txBody>
                    <a:bodyPr/>
                    <a:lstStyle/>
                    <a:p>
                      <a:pPr algn="l" indent="0" marL="0">
                        <a:buNone/>
                      </a:pPr>
                      <a:r>
                        <a:rPr lang="en-US" sz="900" b="1" dirty="0">
                          <a:solidFill>
                            <a:srgbClr val="1A1A1A"/>
                          </a:solidFill>
                          <a:latin typeface="Yu Gothic" pitchFamily="34" charset="0"/>
                          <a:ea typeface="Yu Gothic" pitchFamily="34" charset="-122"/>
                          <a:cs typeface="Yu Gothic" pitchFamily="34" charset="-120"/>
                        </a:rPr>
                        <a:t>MIL-STD-810H Method 514</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00" dirty="0">
                          <a:solidFill>
                            <a:srgbClr val="1A1A1A"/>
                          </a:solidFill>
                          <a:latin typeface="Yu Gothic" pitchFamily="34" charset="0"/>
                          <a:ea typeface="Yu Gothic" pitchFamily="34" charset="-122"/>
                          <a:cs typeface="Yu Gothic" pitchFamily="34" charset="-120"/>
                        </a:rPr>
                        <a:t>振動</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00" dirty="0">
                          <a:solidFill>
                            <a:srgbClr val="1A1A1A"/>
                          </a:solidFill>
                          <a:latin typeface="Yu Gothic" pitchFamily="34" charset="0"/>
                          <a:ea typeface="Yu Gothic" pitchFamily="34" charset="-122"/>
                          <a:cs typeface="Yu Gothic" pitchFamily="34" charset="-120"/>
                        </a:rPr>
                        <a:t>✓ 適合(全固体)</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365760">
                <a:tc>
                  <a:txBody>
                    <a:bodyPr/>
                    <a:lstStyle/>
                    <a:p>
                      <a:pPr algn="l" indent="0" marL="0">
                        <a:buNone/>
                      </a:pPr>
                      <a:r>
                        <a:rPr lang="en-US" sz="900" b="1" dirty="0">
                          <a:solidFill>
                            <a:srgbClr val="1A1A1A"/>
                          </a:solidFill>
                          <a:latin typeface="Yu Gothic" pitchFamily="34" charset="0"/>
                          <a:ea typeface="Yu Gothic" pitchFamily="34" charset="-122"/>
                          <a:cs typeface="Yu Gothic" pitchFamily="34" charset="-120"/>
                        </a:rPr>
                        <a:t>MIL-STD-810H Method 516</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Yu Gothic" pitchFamily="34" charset="0"/>
                          <a:ea typeface="Yu Gothic" pitchFamily="34" charset="-122"/>
                          <a:cs typeface="Yu Gothic" pitchFamily="34" charset="-120"/>
                        </a:rPr>
                        <a:t>衝撃</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Yu Gothic" pitchFamily="34" charset="0"/>
                          <a:ea typeface="Yu Gothic" pitchFamily="34" charset="-122"/>
                          <a:cs typeface="Yu Gothic" pitchFamily="34" charset="-120"/>
                        </a:rPr>
                        <a:t>✓ 適合(NATO 7.62 mm合格)</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65760">
                <a:tc>
                  <a:txBody>
                    <a:bodyPr/>
                    <a:lstStyle/>
                    <a:p>
                      <a:pPr algn="l" indent="0" marL="0">
                        <a:buNone/>
                      </a:pPr>
                      <a:r>
                        <a:rPr lang="en-US" sz="900" b="1" dirty="0">
                          <a:solidFill>
                            <a:srgbClr val="1A1A1A"/>
                          </a:solidFill>
                          <a:latin typeface="Yu Gothic" pitchFamily="34" charset="0"/>
                          <a:ea typeface="Yu Gothic" pitchFamily="34" charset="-122"/>
                          <a:cs typeface="Yu Gothic" pitchFamily="34" charset="-120"/>
                        </a:rPr>
                        <a:t>MIL-STD-167-1</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00" dirty="0">
                          <a:solidFill>
                            <a:srgbClr val="1A1A1A"/>
                          </a:solidFill>
                          <a:latin typeface="Yu Gothic" pitchFamily="34" charset="0"/>
                          <a:ea typeface="Yu Gothic" pitchFamily="34" charset="-122"/>
                          <a:cs typeface="Yu Gothic" pitchFamily="34" charset="-120"/>
                        </a:rPr>
                        <a:t>艦艇振動</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00" dirty="0">
                          <a:solidFill>
                            <a:srgbClr val="1A1A1A"/>
                          </a:solidFill>
                          <a:latin typeface="Yu Gothic" pitchFamily="34" charset="0"/>
                          <a:ea typeface="Yu Gothic" pitchFamily="34" charset="-122"/>
                          <a:cs typeface="Yu Gothic" pitchFamily="34" charset="-120"/>
                        </a:rPr>
                        <a:t>✓ 適合</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365760">
                <a:tc>
                  <a:txBody>
                    <a:bodyPr/>
                    <a:lstStyle/>
                    <a:p>
                      <a:pPr algn="l" indent="0" marL="0">
                        <a:buNone/>
                      </a:pPr>
                      <a:r>
                        <a:rPr lang="en-US" sz="900" b="1" dirty="0">
                          <a:solidFill>
                            <a:srgbClr val="1A1A1A"/>
                          </a:solidFill>
                          <a:latin typeface="Yu Gothic" pitchFamily="34" charset="0"/>
                          <a:ea typeface="Yu Gothic" pitchFamily="34" charset="-122"/>
                          <a:cs typeface="Yu Gothic" pitchFamily="34" charset="-120"/>
                        </a:rPr>
                        <a:t>MIL-PRF-32383</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Yu Gothic" pitchFamily="34" charset="0"/>
                          <a:ea typeface="Yu Gothic" pitchFamily="34" charset="-122"/>
                          <a:cs typeface="Yu Gothic" pitchFamily="34" charset="-120"/>
                        </a:rPr>
                        <a:t>電池一般要件</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Yu Gothic" pitchFamily="34" charset="0"/>
                          <a:ea typeface="Yu Gothic" pitchFamily="34" charset="-122"/>
                          <a:cs typeface="Yu Gothic" pitchFamily="34" charset="-120"/>
                        </a:rPr>
                        <a:t>✓ 適合</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65760">
                <a:tc>
                  <a:txBody>
                    <a:bodyPr/>
                    <a:lstStyle/>
                    <a:p>
                      <a:pPr algn="l" indent="0" marL="0">
                        <a:buNone/>
                      </a:pPr>
                      <a:r>
                        <a:rPr lang="en-US" sz="900" b="1" dirty="0">
                          <a:solidFill>
                            <a:srgbClr val="1A1A1A"/>
                          </a:solidFill>
                          <a:latin typeface="Yu Gothic" pitchFamily="34" charset="0"/>
                          <a:ea typeface="Yu Gothic" pitchFamily="34" charset="-122"/>
                          <a:cs typeface="Yu Gothic" pitchFamily="34" charset="-120"/>
                        </a:rPr>
                        <a:t>UN 38.3</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00" dirty="0">
                          <a:solidFill>
                            <a:srgbClr val="1A1A1A"/>
                          </a:solidFill>
                          <a:latin typeface="Yu Gothic" pitchFamily="34" charset="0"/>
                          <a:ea typeface="Yu Gothic" pitchFamily="34" charset="-122"/>
                          <a:cs typeface="Yu Gothic" pitchFamily="34" charset="-120"/>
                        </a:rPr>
                        <a:t>輸送安全</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00" dirty="0">
                          <a:solidFill>
                            <a:srgbClr val="1A1A1A"/>
                          </a:solidFill>
                          <a:latin typeface="Yu Gothic" pitchFamily="34" charset="0"/>
                          <a:ea typeface="Yu Gothic" pitchFamily="34" charset="-122"/>
                          <a:cs typeface="Yu Gothic" pitchFamily="34" charset="-120"/>
                        </a:rPr>
                        <a:t>✓ 適合(UL検証)</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365760">
                <a:tc>
                  <a:txBody>
                    <a:bodyPr/>
                    <a:lstStyle/>
                    <a:p>
                      <a:pPr algn="l" indent="0" marL="0">
                        <a:buNone/>
                      </a:pPr>
                      <a:r>
                        <a:rPr lang="en-US" sz="900" b="1" dirty="0">
                          <a:solidFill>
                            <a:srgbClr val="1A1A1A"/>
                          </a:solidFill>
                          <a:latin typeface="Yu Gothic" pitchFamily="34" charset="0"/>
                          <a:ea typeface="Yu Gothic" pitchFamily="34" charset="-122"/>
                          <a:cs typeface="Yu Gothic" pitchFamily="34" charset="-120"/>
                        </a:rPr>
                        <a:t>STANAG 4569 Level 2</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Yu Gothic" pitchFamily="34" charset="0"/>
                          <a:ea typeface="Yu Gothic" pitchFamily="34" charset="-122"/>
                          <a:cs typeface="Yu Gothic" pitchFamily="34" charset="-120"/>
                        </a:rPr>
                        <a:t>弾道防護(小火器)</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Yu Gothic" pitchFamily="34" charset="0"/>
                          <a:ea typeface="Yu Gothic" pitchFamily="34" charset="-122"/>
                          <a:cs typeface="Yu Gothic" pitchFamily="34" charset="-120"/>
                        </a:rPr>
                        <a:t>✓ 適合(7.62 mm合格)</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65760">
                <a:tc>
                  <a:txBody>
                    <a:bodyPr/>
                    <a:lstStyle/>
                    <a:p>
                      <a:pPr algn="l" indent="0" marL="0">
                        <a:buNone/>
                      </a:pPr>
                      <a:r>
                        <a:rPr lang="en-US" sz="900" b="1" dirty="0">
                          <a:solidFill>
                            <a:srgbClr val="1A1A1A"/>
                          </a:solidFill>
                          <a:latin typeface="Yu Gothic" pitchFamily="34" charset="0"/>
                          <a:ea typeface="Yu Gothic" pitchFamily="34" charset="-122"/>
                          <a:cs typeface="Yu Gothic" pitchFamily="34" charset="-120"/>
                        </a:rPr>
                        <a:t>MIL-STD-810H Method 507 / 461G / TRL</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00" dirty="0">
                          <a:solidFill>
                            <a:srgbClr val="1A1A1A"/>
                          </a:solidFill>
                          <a:latin typeface="Yu Gothic" pitchFamily="34" charset="0"/>
                          <a:ea typeface="Yu Gothic" pitchFamily="34" charset="-122"/>
                          <a:cs typeface="Yu Gothic" pitchFamily="34" charset="-120"/>
                        </a:rPr>
                        <a:t>湿度 / EMC · EMI / 技術成熟度</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900" dirty="0">
                          <a:solidFill>
                            <a:srgbClr val="1A1A1A"/>
                          </a:solidFill>
                          <a:latin typeface="Yu Gothic" pitchFamily="34" charset="0"/>
                          <a:ea typeface="Yu Gothic" pitchFamily="34" charset="-122"/>
                          <a:cs typeface="Yu Gothic" pitchFamily="34" charset="-120"/>
                        </a:rPr>
                        <a:t>機密保持 · 開示不可</a:t>
                      </a:r>
                      <a:endParaRPr lang="en-US" sz="9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bl>
          </a:graphicData>
        </a:graphic>
      </p:graphicFrame>
      <p:sp>
        <p:nvSpPr>
          <p:cNvPr id="13" name="Shape 10"/>
          <p:cNvSpPr/>
          <p:nvPr/>
        </p:nvSpPr>
        <p:spPr>
          <a:xfrm>
            <a:off x="457200" y="5806440"/>
            <a:ext cx="11274552" cy="457200"/>
          </a:xfrm>
          <a:prstGeom prst="rect">
            <a:avLst/>
          </a:prstGeom>
          <a:solidFill>
            <a:srgbClr val="16324F"/>
          </a:solidFill>
          <a:ln/>
        </p:spPr>
      </p:sp>
      <p:sp>
        <p:nvSpPr>
          <p:cNvPr id="14" name="Text 11"/>
          <p:cNvSpPr/>
          <p:nvPr/>
        </p:nvSpPr>
        <p:spPr>
          <a:xfrm>
            <a:off x="685800" y="5806440"/>
            <a:ext cx="10881360" cy="457200"/>
          </a:xfrm>
          <a:prstGeom prst="rect">
            <a:avLst/>
          </a:prstGeom>
          <a:noFill/>
          <a:ln/>
        </p:spPr>
        <p:txBody>
          <a:bodyPr wrap="square" lIns="0" tIns="0" rIns="0" bIns="0" rtlCol="0" anchor="ctr"/>
          <a:lstStyle/>
          <a:p>
            <a:pPr indent="0" marL="0">
              <a:buNone/>
            </a:pPr>
            <a:r>
              <a:rPr lang="en-US" sz="1150" b="1" dirty="0">
                <a:solidFill>
                  <a:srgbClr val="C9A227"/>
                </a:solidFill>
                <a:latin typeface="Yu Gothic" pitchFamily="34" charset="0"/>
                <a:ea typeface="Yu Gothic" pitchFamily="34" charset="-122"/>
                <a:cs typeface="Yu Gothic" pitchFamily="34" charset="-120"/>
              </a:rPr>
              <a:t>9つの主要防衛規格すべてに適合 — 正式な認証手続きへ移行可能</a:t>
            </a:r>
            <a:endParaRPr lang="en-US" sz="11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8.3  防衛経済性 — 5年間の見通し</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52/55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防衛適用の経済性 — 5年間の見通し</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Defense Economics — 5-Year Outlook</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74552" cy="914400"/>
        </p:xfrm>
        <a:graphic>
          <a:graphicData uri="http://schemas.openxmlformats.org/drawingml/2006/table">
            <a:tbl>
              <a:tblPr/>
              <a:tblGrid>
                <a:gridCol w="1463040"/>
                <a:gridCol w="2377440"/>
                <a:gridCol w="1463040"/>
                <a:gridCol w="5971032"/>
              </a:tblGrid>
              <a:tr h="502920">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年度</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売上高</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防衛比率</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主要ドライバー</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r>
              <a:tr h="502920">
                <a:tc>
                  <a:txBody>
                    <a:bodyPr/>
                    <a:lstStyle/>
                    <a:p>
                      <a:pPr algn="ctr" indent="0" marL="0">
                        <a:buNone/>
                      </a:pPr>
                      <a:r>
                        <a:rPr lang="en-US" sz="1000" b="1" dirty="0">
                          <a:solidFill>
                            <a:srgbClr val="1A1A1A"/>
                          </a:solidFill>
                          <a:latin typeface="Yu Gothic" pitchFamily="34" charset="0"/>
                          <a:ea typeface="Yu Gothic" pitchFamily="34" charset="-122"/>
                          <a:cs typeface="Yu Gothic" pitchFamily="34" charset="-120"/>
                        </a:rPr>
                        <a:t>2026</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KRW 73.5億</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約50%</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Yu Gothic" pitchFamily="34" charset="0"/>
                          <a:ea typeface="Yu Gothic" pitchFamily="34" charset="-122"/>
                          <a:cs typeface="Yu Gothic" pitchFamily="34" charset="-120"/>
                        </a:rPr>
                        <a:t>NATOノルウェー + 消防 / 農業</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502920">
                <a:tc>
                  <a:txBody>
                    <a:bodyPr/>
                    <a:lstStyle/>
                    <a:p>
                      <a:pPr algn="ctr" indent="0" marL="0">
                        <a:buNone/>
                      </a:pPr>
                      <a:r>
                        <a:rPr lang="en-US" sz="1000" b="1" dirty="0">
                          <a:solidFill>
                            <a:srgbClr val="1A1A1A"/>
                          </a:solidFill>
                          <a:latin typeface="Yu Gothic" pitchFamily="34" charset="0"/>
                          <a:ea typeface="Yu Gothic" pitchFamily="34" charset="-122"/>
                          <a:cs typeface="Yu Gothic" pitchFamily="34" charset="-120"/>
                        </a:rPr>
                        <a:t>2027</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KRW 170億</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約40%</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1000" dirty="0">
                          <a:solidFill>
                            <a:srgbClr val="1A1A1A"/>
                          </a:solidFill>
                          <a:latin typeface="Yu Gothic" pitchFamily="34" charset="0"/>
                          <a:ea typeface="Yu Gothic" pitchFamily="34" charset="-122"/>
                          <a:cs typeface="Yu Gothic" pitchFamily="34" charset="-120"/>
                        </a:rPr>
                        <a:t>JATCO量産 + 追加防衛契約</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502920">
                <a:tc>
                  <a:txBody>
                    <a:bodyPr/>
                    <a:lstStyle/>
                    <a:p>
                      <a:pPr algn="ctr" indent="0" marL="0">
                        <a:buNone/>
                      </a:pPr>
                      <a:r>
                        <a:rPr lang="en-US" sz="1000" b="1" dirty="0">
                          <a:solidFill>
                            <a:srgbClr val="1A1A1A"/>
                          </a:solidFill>
                          <a:latin typeface="Yu Gothic" pitchFamily="34" charset="0"/>
                          <a:ea typeface="Yu Gothic" pitchFamily="34" charset="-122"/>
                          <a:cs typeface="Yu Gothic" pitchFamily="34" charset="-120"/>
                        </a:rPr>
                        <a:t>2028</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KRW 280億</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約30%</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Yu Gothic" pitchFamily="34" charset="0"/>
                          <a:ea typeface="Yu Gothic" pitchFamily="34" charset="-122"/>
                          <a:cs typeface="Yu Gothic" pitchFamily="34" charset="-120"/>
                        </a:rPr>
                        <a:t>戸田建設 日本350拠点 + 軍採用拡大</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502920">
                <a:tc>
                  <a:txBody>
                    <a:bodyPr/>
                    <a:lstStyle/>
                    <a:p>
                      <a:pPr algn="ctr" indent="0" marL="0">
                        <a:buNone/>
                      </a:pPr>
                      <a:r>
                        <a:rPr lang="en-US" sz="1000" b="1" dirty="0">
                          <a:solidFill>
                            <a:srgbClr val="1A1A1A"/>
                          </a:solidFill>
                          <a:latin typeface="Yu Gothic" pitchFamily="34" charset="0"/>
                          <a:ea typeface="Yu Gothic" pitchFamily="34" charset="-122"/>
                          <a:cs typeface="Yu Gothic" pitchFamily="34" charset="-120"/>
                        </a:rPr>
                        <a:t>2029</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KRW 680億</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約25%</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1000" dirty="0">
                          <a:solidFill>
                            <a:srgbClr val="1A1A1A"/>
                          </a:solidFill>
                          <a:latin typeface="Yu Gothic" pitchFamily="34" charset="0"/>
                          <a:ea typeface="Yu Gothic" pitchFamily="34" charset="-122"/>
                          <a:cs typeface="Yu Gothic" pitchFamily="34" charset="-120"/>
                        </a:rPr>
                        <a:t>KEPCO島嶼 + EV / ドローン量産</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502920">
                <a:tc>
                  <a:txBody>
                    <a:bodyPr/>
                    <a:lstStyle/>
                    <a:p>
                      <a:pPr algn="ctr" indent="0" marL="0">
                        <a:buNone/>
                      </a:pPr>
                      <a:r>
                        <a:rPr lang="en-US" sz="1000" b="1" dirty="0">
                          <a:solidFill>
                            <a:srgbClr val="1A1A1A"/>
                          </a:solidFill>
                          <a:latin typeface="Yu Gothic" pitchFamily="34" charset="0"/>
                          <a:ea typeface="Yu Gothic" pitchFamily="34" charset="-122"/>
                          <a:cs typeface="Yu Gothic" pitchFamily="34" charset="-120"/>
                        </a:rPr>
                        <a:t>2030</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KRW 1兆7,460億</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約15%</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Yu Gothic" pitchFamily="34" charset="0"/>
                          <a:ea typeface="Yu Gothic" pitchFamily="34" charset="-122"/>
                          <a:cs typeface="Yu Gothic" pitchFamily="34" charset="-120"/>
                        </a:rPr>
                        <a:t>全セグメント拡大(防衛の絶対額も増加)</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502920">
                <a:tc>
                  <a:txBody>
                    <a:bodyPr/>
                    <a:lstStyle/>
                    <a:p>
                      <a:pPr algn="ctr" indent="0" marL="0">
                        <a:buNone/>
                      </a:pPr>
                      <a:r>
                        <a:rPr lang="en-US" sz="1000" b="1" dirty="0">
                          <a:solidFill>
                            <a:srgbClr val="1A1A1A"/>
                          </a:solidFill>
                          <a:latin typeface="Yu Gothic" pitchFamily="34" charset="0"/>
                          <a:ea typeface="Yu Gothic" pitchFamily="34" charset="-122"/>
                          <a:cs typeface="Yu Gothic" pitchFamily="34" charset="-120"/>
                        </a:rPr>
                        <a:t>5年累計</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KRW 2兆9,500億</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ctr" indent="0" marL="0">
                        <a:buNone/>
                      </a:pPr>
                      <a:r>
                        <a:rPr lang="en-US" sz="1000" dirty="0">
                          <a:solidFill>
                            <a:srgbClr val="1A1A1A"/>
                          </a:solidFill>
                          <a:latin typeface="Yu Gothic" pitchFamily="34" charset="0"/>
                          <a:ea typeface="Yu Gothic" pitchFamily="34" charset="-122"/>
                          <a:cs typeface="Yu Gothic" pitchFamily="34" charset="-120"/>
                        </a:rPr>
                        <a:t>—</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1000" dirty="0">
                          <a:solidFill>
                            <a:srgbClr val="1A1A1A"/>
                          </a:solidFill>
                          <a:latin typeface="Yu Gothic" pitchFamily="34" charset="0"/>
                          <a:ea typeface="Yu Gothic" pitchFamily="34" charset="-122"/>
                          <a:cs typeface="Yu Gothic" pitchFamily="34" charset="-120"/>
                        </a:rPr>
                        <a:t>CAGR 88% · 防衛累計 KRW 5,000億超</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bl>
          </a:graphicData>
        </a:graphic>
      </p:graphicFrame>
      <p:sp>
        <p:nvSpPr>
          <p:cNvPr id="13" name="Shape 10"/>
          <p:cNvSpPr/>
          <p:nvPr/>
        </p:nvSpPr>
        <p:spPr>
          <a:xfrm>
            <a:off x="457200" y="5029200"/>
            <a:ext cx="11274552" cy="548640"/>
          </a:xfrm>
          <a:prstGeom prst="rect">
            <a:avLst/>
          </a:prstGeom>
          <a:solidFill>
            <a:srgbClr val="16324F"/>
          </a:solidFill>
          <a:ln/>
        </p:spPr>
      </p:sp>
      <p:sp>
        <p:nvSpPr>
          <p:cNvPr id="14" name="Text 11"/>
          <p:cNvSpPr/>
          <p:nvPr/>
        </p:nvSpPr>
        <p:spPr>
          <a:xfrm>
            <a:off x="685800" y="5029200"/>
            <a:ext cx="10881360" cy="548640"/>
          </a:xfrm>
          <a:prstGeom prst="rect">
            <a:avLst/>
          </a:prstGeom>
          <a:noFill/>
          <a:ln/>
        </p:spPr>
        <p:txBody>
          <a:bodyPr wrap="square" lIns="0" tIns="0" rIns="0" bIns="0" rtlCol="0" anchor="ctr"/>
          <a:lstStyle/>
          <a:p>
            <a:pPr indent="0" marL="0">
              <a:buNone/>
            </a:pPr>
            <a:r>
              <a:rPr lang="en-US" sz="1150" b="1" dirty="0">
                <a:solidFill>
                  <a:srgbClr val="C9A227"/>
                </a:solidFill>
                <a:latin typeface="Yu Gothic" pitchFamily="34" charset="0"/>
                <a:ea typeface="Yu Gothic" pitchFamily="34" charset="-122"/>
                <a:cs typeface="Yu Gothic" pitchFamily="34" charset="-120"/>
              </a:rPr>
              <a:t>コスト競争力:46,550ウォン/kWh(2023年理論生産基準、2.5 MWh)— Li-ionの約1/2~1/3 · KOSDAQ IPO 2030 · プレマネー KRW 300億(シリーズB)</a:t>
            </a:r>
            <a:endParaRPr lang="en-US" sz="11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9.1  会社概要とコアチーム</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53/55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会社概要とコアR&amp;Dチーム(9名)</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Company Overview &amp; Core R&amp;D Team</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645920"/>
            <a:ext cx="4206240" cy="4480560"/>
          </a:xfrm>
          <a:prstGeom prst="rect">
            <a:avLst/>
          </a:prstGeom>
          <a:solidFill>
            <a:srgbClr val="FFFFFF"/>
          </a:solidFill>
          <a:ln w="9525">
            <a:solidFill>
              <a:srgbClr val="C8C8C8"/>
            </a:solidFill>
            <a:prstDash val="solid"/>
          </a:ln>
        </p:spPr>
      </p:sp>
      <p:sp>
        <p:nvSpPr>
          <p:cNvPr id="13" name="Shape 11"/>
          <p:cNvSpPr/>
          <p:nvPr/>
        </p:nvSpPr>
        <p:spPr>
          <a:xfrm>
            <a:off x="457200" y="1645920"/>
            <a:ext cx="4206240" cy="82296"/>
          </a:xfrm>
          <a:prstGeom prst="rect">
            <a:avLst/>
          </a:prstGeom>
          <a:solidFill>
            <a:srgbClr val="C9A227"/>
          </a:solidFill>
          <a:ln/>
        </p:spPr>
      </p:sp>
      <p:sp>
        <p:nvSpPr>
          <p:cNvPr id="14" name="Text 12"/>
          <p:cNvSpPr/>
          <p:nvPr/>
        </p:nvSpPr>
        <p:spPr>
          <a:xfrm>
            <a:off x="685800" y="1828800"/>
            <a:ext cx="3794760" cy="365760"/>
          </a:xfrm>
          <a:prstGeom prst="rect">
            <a:avLst/>
          </a:prstGeom>
          <a:noFill/>
          <a:ln/>
        </p:spPr>
        <p:txBody>
          <a:bodyPr wrap="square" lIns="0" tIns="0" rIns="0" bIns="0" rtlCol="0" anchor="ctr"/>
          <a:lstStyle/>
          <a:p>
            <a:pPr indent="0" marL="0">
              <a:buNone/>
            </a:pPr>
            <a:r>
              <a:rPr lang="en-US" sz="1300" b="1" dirty="0">
                <a:solidFill>
                  <a:srgbClr val="16324F"/>
                </a:solidFill>
                <a:latin typeface="Arial" pitchFamily="34" charset="0"/>
                <a:ea typeface="Arial" pitchFamily="34" charset="-122"/>
                <a:cs typeface="Arial" pitchFamily="34" charset="-120"/>
              </a:rPr>
              <a:t>BK Dongyeoung Tech Co., Ltd.</a:t>
            </a:r>
            <a:endParaRPr lang="en-US" sz="1300" dirty="0"/>
          </a:p>
        </p:txBody>
      </p:sp>
      <p:sp>
        <p:nvSpPr>
          <p:cNvPr id="15" name="Text 13"/>
          <p:cNvSpPr/>
          <p:nvPr/>
        </p:nvSpPr>
        <p:spPr>
          <a:xfrm>
            <a:off x="731520" y="2331720"/>
            <a:ext cx="3749040" cy="347472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本社:京畿道水原市権善区梧木川路75、3F</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工場:全羅北道 金堤(現在300 MWh → 2030年 1.3 GWh)</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CEO:Lee Ki Hong(イ・ギホン)</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Tel:+82-31-295-4046</a:t>
            </a:r>
            <a:endParaRPr lang="en-US" sz="1000" dirty="0"/>
          </a:p>
          <a:p>
            <a:pPr marL="342900" indent="-342900">
              <a:spcAft>
                <a:spcPts val="600"/>
              </a:spcAft>
              <a:buSzPct val="100000"/>
              <a:buChar char="•"/>
            </a:pPr>
            <a:r>
              <a:rPr lang="en-US" sz="1000" dirty="0">
                <a:solidFill>
                  <a:srgbClr val="1A1A1A"/>
                </a:solidFill>
                <a:latin typeface="Yu Gothic" pitchFamily="34" charset="0"/>
                <a:ea typeface="Yu Gothic" pitchFamily="34" charset="-122"/>
                <a:cs typeface="Yu Gothic" pitchFamily="34" charset="-120"/>
              </a:rPr>
              <a:t>Mail:lkhong38@naver.com</a:t>
            </a:r>
            <a:endParaRPr lang="en-US" sz="1000" dirty="0"/>
          </a:p>
        </p:txBody>
      </p:sp>
      <p:sp>
        <p:nvSpPr>
          <p:cNvPr id="16" name="Shape 14"/>
          <p:cNvSpPr/>
          <p:nvPr/>
        </p:nvSpPr>
        <p:spPr>
          <a:xfrm>
            <a:off x="4937760" y="1645920"/>
            <a:ext cx="6793992" cy="457200"/>
          </a:xfrm>
          <a:prstGeom prst="rect">
            <a:avLst/>
          </a:prstGeom>
          <a:solidFill>
            <a:srgbClr val="16324F"/>
          </a:solidFill>
          <a:ln/>
        </p:spPr>
      </p:sp>
      <p:sp>
        <p:nvSpPr>
          <p:cNvPr id="17" name="Text 15"/>
          <p:cNvSpPr/>
          <p:nvPr/>
        </p:nvSpPr>
        <p:spPr>
          <a:xfrm>
            <a:off x="4937760" y="1645920"/>
            <a:ext cx="6793992" cy="457200"/>
          </a:xfrm>
          <a:prstGeom prst="rect">
            <a:avLst/>
          </a:prstGeom>
          <a:noFill/>
          <a:ln/>
        </p:spPr>
        <p:txBody>
          <a:bodyPr wrap="square" lIns="0" tIns="0" rIns="0" bIns="0" rtlCol="0" anchor="ctr"/>
          <a:lstStyle/>
          <a:p>
            <a:pPr algn="ctr" indent="0" marL="0">
              <a:buNone/>
            </a:pPr>
            <a:r>
              <a:rPr lang="en-US" sz="1200" b="1" dirty="0">
                <a:solidFill>
                  <a:srgbClr val="C9A227"/>
                </a:solidFill>
                <a:latin typeface="Yu Gothic" pitchFamily="34" charset="0"/>
                <a:ea typeface="Yu Gothic" pitchFamily="34" charset="-122"/>
                <a:cs typeface="Yu Gothic" pitchFamily="34" charset="-120"/>
              </a:rPr>
              <a:t>コアR&amp;Dチーム(9名)</a:t>
            </a:r>
            <a:endParaRPr lang="en-US" sz="1200" dirty="0"/>
          </a:p>
        </p:txBody>
      </p:sp>
      <p:sp>
        <p:nvSpPr>
          <p:cNvPr id="18" name="Shape 16"/>
          <p:cNvSpPr/>
          <p:nvPr/>
        </p:nvSpPr>
        <p:spPr>
          <a:xfrm>
            <a:off x="4937760" y="2240280"/>
            <a:ext cx="2157984" cy="1170432"/>
          </a:xfrm>
          <a:prstGeom prst="rect">
            <a:avLst/>
          </a:prstGeom>
          <a:solidFill>
            <a:srgbClr val="FFFFFF"/>
          </a:solidFill>
          <a:ln w="9525">
            <a:solidFill>
              <a:srgbClr val="C8C8C8"/>
            </a:solidFill>
            <a:prstDash val="solid"/>
          </a:ln>
        </p:spPr>
      </p:sp>
      <p:sp>
        <p:nvSpPr>
          <p:cNvPr id="19" name="Text 17"/>
          <p:cNvSpPr/>
          <p:nvPr/>
        </p:nvSpPr>
        <p:spPr>
          <a:xfrm>
            <a:off x="5010912" y="2404872"/>
            <a:ext cx="2011680" cy="411480"/>
          </a:xfrm>
          <a:prstGeom prst="rect">
            <a:avLst/>
          </a:prstGeom>
          <a:noFill/>
          <a:ln/>
        </p:spPr>
        <p:txBody>
          <a:bodyPr wrap="square" lIns="0" tIns="0" rIns="0" bIns="0" rtlCol="0" anchor="ctr"/>
          <a:lstStyle/>
          <a:p>
            <a:pPr algn="ctr" indent="0" marL="0">
              <a:buNone/>
            </a:pPr>
            <a:r>
              <a:rPr lang="en-US" sz="1100" b="1" dirty="0">
                <a:solidFill>
                  <a:srgbClr val="16324F"/>
                </a:solidFill>
                <a:latin typeface="Yu Gothic" pitchFamily="34" charset="0"/>
                <a:ea typeface="Yu Gothic" pitchFamily="34" charset="-122"/>
                <a:cs typeface="Yu Gothic" pitchFamily="34" charset="-120"/>
              </a:rPr>
              <a:t>イ・ギホン</a:t>
            </a:r>
            <a:endParaRPr lang="en-US" sz="1100" dirty="0"/>
          </a:p>
        </p:txBody>
      </p:sp>
      <p:sp>
        <p:nvSpPr>
          <p:cNvPr id="20" name="Text 18"/>
          <p:cNvSpPr/>
          <p:nvPr/>
        </p:nvSpPr>
        <p:spPr>
          <a:xfrm>
            <a:off x="5010912" y="2862072"/>
            <a:ext cx="2011680" cy="365760"/>
          </a:xfrm>
          <a:prstGeom prst="rect">
            <a:avLst/>
          </a:prstGeom>
          <a:noFill/>
          <a:ln/>
        </p:spPr>
        <p:txBody>
          <a:bodyPr wrap="square" lIns="0" tIns="0" rIns="0" bIns="0" rtlCol="0" anchor="ctr"/>
          <a:lstStyle/>
          <a:p>
            <a:pPr algn="ctr" indent="0" marL="0">
              <a:buNone/>
            </a:pPr>
            <a:r>
              <a:rPr lang="en-US" sz="950" dirty="0">
                <a:solidFill>
                  <a:srgbClr val="C9A227"/>
                </a:solidFill>
                <a:latin typeface="Yu Gothic" pitchFamily="34" charset="0"/>
                <a:ea typeface="Yu Gothic" pitchFamily="34" charset="-122"/>
                <a:cs typeface="Yu Gothic" pitchFamily="34" charset="-120"/>
              </a:rPr>
              <a:t>CEO · 総括責任者</a:t>
            </a:r>
            <a:endParaRPr lang="en-US" sz="950" dirty="0"/>
          </a:p>
        </p:txBody>
      </p:sp>
      <p:sp>
        <p:nvSpPr>
          <p:cNvPr id="21" name="Shape 19"/>
          <p:cNvSpPr/>
          <p:nvPr/>
        </p:nvSpPr>
        <p:spPr>
          <a:xfrm>
            <a:off x="7251192" y="2240280"/>
            <a:ext cx="2157984" cy="1170432"/>
          </a:xfrm>
          <a:prstGeom prst="rect">
            <a:avLst/>
          </a:prstGeom>
          <a:solidFill>
            <a:srgbClr val="FFFFFF"/>
          </a:solidFill>
          <a:ln w="9525">
            <a:solidFill>
              <a:srgbClr val="C8C8C8"/>
            </a:solidFill>
            <a:prstDash val="solid"/>
          </a:ln>
        </p:spPr>
      </p:sp>
      <p:sp>
        <p:nvSpPr>
          <p:cNvPr id="22" name="Text 20"/>
          <p:cNvSpPr/>
          <p:nvPr/>
        </p:nvSpPr>
        <p:spPr>
          <a:xfrm>
            <a:off x="7324344" y="2404872"/>
            <a:ext cx="2011680" cy="411480"/>
          </a:xfrm>
          <a:prstGeom prst="rect">
            <a:avLst/>
          </a:prstGeom>
          <a:noFill/>
          <a:ln/>
        </p:spPr>
        <p:txBody>
          <a:bodyPr wrap="square" lIns="0" tIns="0" rIns="0" bIns="0" rtlCol="0" anchor="ctr"/>
          <a:lstStyle/>
          <a:p>
            <a:pPr algn="ctr" indent="0" marL="0">
              <a:buNone/>
            </a:pPr>
            <a:r>
              <a:rPr lang="en-US" sz="1100" b="1" dirty="0">
                <a:solidFill>
                  <a:srgbClr val="16324F"/>
                </a:solidFill>
                <a:latin typeface="Yu Gothic" pitchFamily="34" charset="0"/>
                <a:ea typeface="Yu Gothic" pitchFamily="34" charset="-122"/>
                <a:cs typeface="Yu Gothic" pitchFamily="34" charset="-120"/>
              </a:rPr>
              <a:t>イ・ホジュン</a:t>
            </a:r>
            <a:endParaRPr lang="en-US" sz="1100" dirty="0"/>
          </a:p>
        </p:txBody>
      </p:sp>
      <p:sp>
        <p:nvSpPr>
          <p:cNvPr id="23" name="Text 21"/>
          <p:cNvSpPr/>
          <p:nvPr/>
        </p:nvSpPr>
        <p:spPr>
          <a:xfrm>
            <a:off x="7324344" y="2862072"/>
            <a:ext cx="2011680" cy="365760"/>
          </a:xfrm>
          <a:prstGeom prst="rect">
            <a:avLst/>
          </a:prstGeom>
          <a:noFill/>
          <a:ln/>
        </p:spPr>
        <p:txBody>
          <a:bodyPr wrap="square" lIns="0" tIns="0" rIns="0" bIns="0" rtlCol="0" anchor="ctr"/>
          <a:lstStyle/>
          <a:p>
            <a:pPr algn="ctr" indent="0" marL="0">
              <a:buNone/>
            </a:pPr>
            <a:r>
              <a:rPr lang="en-US" sz="950" dirty="0">
                <a:solidFill>
                  <a:srgbClr val="C9A227"/>
                </a:solidFill>
                <a:latin typeface="Yu Gothic" pitchFamily="34" charset="0"/>
                <a:ea typeface="Yu Gothic" pitchFamily="34" charset="-122"/>
                <a:cs typeface="Yu Gothic" pitchFamily="34" charset="-120"/>
              </a:rPr>
              <a:t>セル設計</a:t>
            </a:r>
            <a:endParaRPr lang="en-US" sz="950" dirty="0"/>
          </a:p>
        </p:txBody>
      </p:sp>
      <p:sp>
        <p:nvSpPr>
          <p:cNvPr id="24" name="Shape 22"/>
          <p:cNvSpPr/>
          <p:nvPr/>
        </p:nvSpPr>
        <p:spPr>
          <a:xfrm>
            <a:off x="9564624" y="2240280"/>
            <a:ext cx="2157984" cy="1170432"/>
          </a:xfrm>
          <a:prstGeom prst="rect">
            <a:avLst/>
          </a:prstGeom>
          <a:solidFill>
            <a:srgbClr val="FFFFFF"/>
          </a:solidFill>
          <a:ln w="9525">
            <a:solidFill>
              <a:srgbClr val="C8C8C8"/>
            </a:solidFill>
            <a:prstDash val="solid"/>
          </a:ln>
        </p:spPr>
      </p:sp>
      <p:sp>
        <p:nvSpPr>
          <p:cNvPr id="25" name="Text 23"/>
          <p:cNvSpPr/>
          <p:nvPr/>
        </p:nvSpPr>
        <p:spPr>
          <a:xfrm>
            <a:off x="9637776" y="2404872"/>
            <a:ext cx="2011680" cy="411480"/>
          </a:xfrm>
          <a:prstGeom prst="rect">
            <a:avLst/>
          </a:prstGeom>
          <a:noFill/>
          <a:ln/>
        </p:spPr>
        <p:txBody>
          <a:bodyPr wrap="square" lIns="0" tIns="0" rIns="0" bIns="0" rtlCol="0" anchor="ctr"/>
          <a:lstStyle/>
          <a:p>
            <a:pPr algn="ctr" indent="0" marL="0">
              <a:buNone/>
            </a:pPr>
            <a:r>
              <a:rPr lang="en-US" sz="1100" b="1" dirty="0">
                <a:solidFill>
                  <a:srgbClr val="16324F"/>
                </a:solidFill>
                <a:latin typeface="Yu Gothic" pitchFamily="34" charset="0"/>
                <a:ea typeface="Yu Gothic" pitchFamily="34" charset="-122"/>
                <a:cs typeface="Yu Gothic" pitchFamily="34" charset="-120"/>
              </a:rPr>
              <a:t>イ・ギルヘン</a:t>
            </a:r>
            <a:endParaRPr lang="en-US" sz="1100" dirty="0"/>
          </a:p>
        </p:txBody>
      </p:sp>
      <p:sp>
        <p:nvSpPr>
          <p:cNvPr id="26" name="Text 24"/>
          <p:cNvSpPr/>
          <p:nvPr/>
        </p:nvSpPr>
        <p:spPr>
          <a:xfrm>
            <a:off x="9637776" y="2862072"/>
            <a:ext cx="2011680" cy="365760"/>
          </a:xfrm>
          <a:prstGeom prst="rect">
            <a:avLst/>
          </a:prstGeom>
          <a:noFill/>
          <a:ln/>
        </p:spPr>
        <p:txBody>
          <a:bodyPr wrap="square" lIns="0" tIns="0" rIns="0" bIns="0" rtlCol="0" anchor="ctr"/>
          <a:lstStyle/>
          <a:p>
            <a:pPr algn="ctr" indent="0" marL="0">
              <a:buNone/>
            </a:pPr>
            <a:r>
              <a:rPr lang="en-US" sz="950" dirty="0">
                <a:solidFill>
                  <a:srgbClr val="C9A227"/>
                </a:solidFill>
                <a:latin typeface="Yu Gothic" pitchFamily="34" charset="0"/>
                <a:ea typeface="Yu Gothic" pitchFamily="34" charset="-122"/>
                <a:cs typeface="Yu Gothic" pitchFamily="34" charset="-120"/>
              </a:rPr>
              <a:t>材料</a:t>
            </a:r>
            <a:endParaRPr lang="en-US" sz="950" dirty="0"/>
          </a:p>
        </p:txBody>
      </p:sp>
      <p:sp>
        <p:nvSpPr>
          <p:cNvPr id="27" name="Shape 25"/>
          <p:cNvSpPr/>
          <p:nvPr/>
        </p:nvSpPr>
        <p:spPr>
          <a:xfrm>
            <a:off x="4937760" y="3566160"/>
            <a:ext cx="2157984" cy="1170432"/>
          </a:xfrm>
          <a:prstGeom prst="rect">
            <a:avLst/>
          </a:prstGeom>
          <a:solidFill>
            <a:srgbClr val="FFFFFF"/>
          </a:solidFill>
          <a:ln w="9525">
            <a:solidFill>
              <a:srgbClr val="C8C8C8"/>
            </a:solidFill>
            <a:prstDash val="solid"/>
          </a:ln>
        </p:spPr>
      </p:sp>
      <p:sp>
        <p:nvSpPr>
          <p:cNvPr id="28" name="Text 26"/>
          <p:cNvSpPr/>
          <p:nvPr/>
        </p:nvSpPr>
        <p:spPr>
          <a:xfrm>
            <a:off x="5010912" y="3730752"/>
            <a:ext cx="2011680" cy="411480"/>
          </a:xfrm>
          <a:prstGeom prst="rect">
            <a:avLst/>
          </a:prstGeom>
          <a:noFill/>
          <a:ln/>
        </p:spPr>
        <p:txBody>
          <a:bodyPr wrap="square" lIns="0" tIns="0" rIns="0" bIns="0" rtlCol="0" anchor="ctr"/>
          <a:lstStyle/>
          <a:p>
            <a:pPr algn="ctr" indent="0" marL="0">
              <a:buNone/>
            </a:pPr>
            <a:r>
              <a:rPr lang="en-US" sz="1100" b="1" dirty="0">
                <a:solidFill>
                  <a:srgbClr val="16324F"/>
                </a:solidFill>
                <a:latin typeface="Yu Gothic" pitchFamily="34" charset="0"/>
                <a:ea typeface="Yu Gothic" pitchFamily="34" charset="-122"/>
                <a:cs typeface="Yu Gothic" pitchFamily="34" charset="-120"/>
              </a:rPr>
              <a:t>イ・ビョンタク</a:t>
            </a:r>
            <a:endParaRPr lang="en-US" sz="1100" dirty="0"/>
          </a:p>
        </p:txBody>
      </p:sp>
      <p:sp>
        <p:nvSpPr>
          <p:cNvPr id="29" name="Text 27"/>
          <p:cNvSpPr/>
          <p:nvPr/>
        </p:nvSpPr>
        <p:spPr>
          <a:xfrm>
            <a:off x="5010912" y="4187952"/>
            <a:ext cx="2011680" cy="365760"/>
          </a:xfrm>
          <a:prstGeom prst="rect">
            <a:avLst/>
          </a:prstGeom>
          <a:noFill/>
          <a:ln/>
        </p:spPr>
        <p:txBody>
          <a:bodyPr wrap="square" lIns="0" tIns="0" rIns="0" bIns="0" rtlCol="0" anchor="ctr"/>
          <a:lstStyle/>
          <a:p>
            <a:pPr algn="ctr" indent="0" marL="0">
              <a:buNone/>
            </a:pPr>
            <a:r>
              <a:rPr lang="en-US" sz="950" dirty="0">
                <a:solidFill>
                  <a:srgbClr val="C9A227"/>
                </a:solidFill>
                <a:latin typeface="Yu Gothic" pitchFamily="34" charset="0"/>
                <a:ea typeface="Yu Gothic" pitchFamily="34" charset="-122"/>
                <a:cs typeface="Yu Gothic" pitchFamily="34" charset="-120"/>
              </a:rPr>
              <a:t>プロセス</a:t>
            </a:r>
            <a:endParaRPr lang="en-US" sz="950" dirty="0"/>
          </a:p>
        </p:txBody>
      </p:sp>
      <p:sp>
        <p:nvSpPr>
          <p:cNvPr id="30" name="Shape 28"/>
          <p:cNvSpPr/>
          <p:nvPr/>
        </p:nvSpPr>
        <p:spPr>
          <a:xfrm>
            <a:off x="7251192" y="3566160"/>
            <a:ext cx="2157984" cy="1170432"/>
          </a:xfrm>
          <a:prstGeom prst="rect">
            <a:avLst/>
          </a:prstGeom>
          <a:solidFill>
            <a:srgbClr val="FFFFFF"/>
          </a:solidFill>
          <a:ln w="9525">
            <a:solidFill>
              <a:srgbClr val="C8C8C8"/>
            </a:solidFill>
            <a:prstDash val="solid"/>
          </a:ln>
        </p:spPr>
      </p:sp>
      <p:sp>
        <p:nvSpPr>
          <p:cNvPr id="31" name="Text 29"/>
          <p:cNvSpPr/>
          <p:nvPr/>
        </p:nvSpPr>
        <p:spPr>
          <a:xfrm>
            <a:off x="7324344" y="3730752"/>
            <a:ext cx="2011680" cy="411480"/>
          </a:xfrm>
          <a:prstGeom prst="rect">
            <a:avLst/>
          </a:prstGeom>
          <a:noFill/>
          <a:ln/>
        </p:spPr>
        <p:txBody>
          <a:bodyPr wrap="square" lIns="0" tIns="0" rIns="0" bIns="0" rtlCol="0" anchor="ctr"/>
          <a:lstStyle/>
          <a:p>
            <a:pPr algn="ctr" indent="0" marL="0">
              <a:buNone/>
            </a:pPr>
            <a:r>
              <a:rPr lang="en-US" sz="1100" b="1" dirty="0">
                <a:solidFill>
                  <a:srgbClr val="16324F"/>
                </a:solidFill>
                <a:latin typeface="Yu Gothic" pitchFamily="34" charset="0"/>
                <a:ea typeface="Yu Gothic" pitchFamily="34" charset="-122"/>
                <a:cs typeface="Yu Gothic" pitchFamily="34" charset="-120"/>
              </a:rPr>
              <a:t>ユン・グァンス</a:t>
            </a:r>
            <a:endParaRPr lang="en-US" sz="1100" dirty="0"/>
          </a:p>
        </p:txBody>
      </p:sp>
      <p:sp>
        <p:nvSpPr>
          <p:cNvPr id="32" name="Text 30"/>
          <p:cNvSpPr/>
          <p:nvPr/>
        </p:nvSpPr>
        <p:spPr>
          <a:xfrm>
            <a:off x="7324344" y="4187952"/>
            <a:ext cx="2011680" cy="365760"/>
          </a:xfrm>
          <a:prstGeom prst="rect">
            <a:avLst/>
          </a:prstGeom>
          <a:noFill/>
          <a:ln/>
        </p:spPr>
        <p:txBody>
          <a:bodyPr wrap="square" lIns="0" tIns="0" rIns="0" bIns="0" rtlCol="0" anchor="ctr"/>
          <a:lstStyle/>
          <a:p>
            <a:pPr algn="ctr" indent="0" marL="0">
              <a:buNone/>
            </a:pPr>
            <a:r>
              <a:rPr lang="en-US" sz="950" dirty="0">
                <a:solidFill>
                  <a:srgbClr val="C9A227"/>
                </a:solidFill>
                <a:latin typeface="Yu Gothic" pitchFamily="34" charset="0"/>
                <a:ea typeface="Yu Gothic" pitchFamily="34" charset="-122"/>
                <a:cs typeface="Yu Gothic" pitchFamily="34" charset="-120"/>
              </a:rPr>
              <a:t>電気化学</a:t>
            </a:r>
            <a:endParaRPr lang="en-US" sz="950" dirty="0"/>
          </a:p>
        </p:txBody>
      </p:sp>
      <p:sp>
        <p:nvSpPr>
          <p:cNvPr id="33" name="Shape 31"/>
          <p:cNvSpPr/>
          <p:nvPr/>
        </p:nvSpPr>
        <p:spPr>
          <a:xfrm>
            <a:off x="9564624" y="3566160"/>
            <a:ext cx="2157984" cy="1170432"/>
          </a:xfrm>
          <a:prstGeom prst="rect">
            <a:avLst/>
          </a:prstGeom>
          <a:solidFill>
            <a:srgbClr val="FFFFFF"/>
          </a:solidFill>
          <a:ln w="9525">
            <a:solidFill>
              <a:srgbClr val="C8C8C8"/>
            </a:solidFill>
            <a:prstDash val="solid"/>
          </a:ln>
        </p:spPr>
      </p:sp>
      <p:sp>
        <p:nvSpPr>
          <p:cNvPr id="34" name="Text 32"/>
          <p:cNvSpPr/>
          <p:nvPr/>
        </p:nvSpPr>
        <p:spPr>
          <a:xfrm>
            <a:off x="9637776" y="3730752"/>
            <a:ext cx="2011680" cy="411480"/>
          </a:xfrm>
          <a:prstGeom prst="rect">
            <a:avLst/>
          </a:prstGeom>
          <a:noFill/>
          <a:ln/>
        </p:spPr>
        <p:txBody>
          <a:bodyPr wrap="square" lIns="0" tIns="0" rIns="0" bIns="0" rtlCol="0" anchor="ctr"/>
          <a:lstStyle/>
          <a:p>
            <a:pPr algn="ctr" indent="0" marL="0">
              <a:buNone/>
            </a:pPr>
            <a:r>
              <a:rPr lang="en-US" sz="1100" b="1" dirty="0">
                <a:solidFill>
                  <a:srgbClr val="16324F"/>
                </a:solidFill>
                <a:latin typeface="Yu Gothic" pitchFamily="34" charset="0"/>
                <a:ea typeface="Yu Gothic" pitchFamily="34" charset="-122"/>
                <a:cs typeface="Yu Gothic" pitchFamily="34" charset="-120"/>
              </a:rPr>
              <a:t>ユン・シムグォン</a:t>
            </a:r>
            <a:endParaRPr lang="en-US" sz="1100" dirty="0"/>
          </a:p>
        </p:txBody>
      </p:sp>
      <p:sp>
        <p:nvSpPr>
          <p:cNvPr id="35" name="Text 33"/>
          <p:cNvSpPr/>
          <p:nvPr/>
        </p:nvSpPr>
        <p:spPr>
          <a:xfrm>
            <a:off x="9637776" y="4187952"/>
            <a:ext cx="2011680" cy="365760"/>
          </a:xfrm>
          <a:prstGeom prst="rect">
            <a:avLst/>
          </a:prstGeom>
          <a:noFill/>
          <a:ln/>
        </p:spPr>
        <p:txBody>
          <a:bodyPr wrap="square" lIns="0" tIns="0" rIns="0" bIns="0" rtlCol="0" anchor="ctr"/>
          <a:lstStyle/>
          <a:p>
            <a:pPr algn="ctr" indent="0" marL="0">
              <a:buNone/>
            </a:pPr>
            <a:r>
              <a:rPr lang="en-US" sz="950" dirty="0">
                <a:solidFill>
                  <a:srgbClr val="C9A227"/>
                </a:solidFill>
                <a:latin typeface="Yu Gothic" pitchFamily="34" charset="0"/>
                <a:ea typeface="Yu Gothic" pitchFamily="34" charset="-122"/>
                <a:cs typeface="Yu Gothic" pitchFamily="34" charset="-120"/>
              </a:rPr>
              <a:t>品質</a:t>
            </a:r>
            <a:endParaRPr lang="en-US" sz="950" dirty="0"/>
          </a:p>
        </p:txBody>
      </p:sp>
      <p:sp>
        <p:nvSpPr>
          <p:cNvPr id="36" name="Shape 34"/>
          <p:cNvSpPr/>
          <p:nvPr/>
        </p:nvSpPr>
        <p:spPr>
          <a:xfrm>
            <a:off x="4937760" y="4892040"/>
            <a:ext cx="2157984" cy="1170432"/>
          </a:xfrm>
          <a:prstGeom prst="rect">
            <a:avLst/>
          </a:prstGeom>
          <a:solidFill>
            <a:srgbClr val="FFFFFF"/>
          </a:solidFill>
          <a:ln w="9525">
            <a:solidFill>
              <a:srgbClr val="C8C8C8"/>
            </a:solidFill>
            <a:prstDash val="solid"/>
          </a:ln>
        </p:spPr>
      </p:sp>
      <p:sp>
        <p:nvSpPr>
          <p:cNvPr id="37" name="Text 35"/>
          <p:cNvSpPr/>
          <p:nvPr/>
        </p:nvSpPr>
        <p:spPr>
          <a:xfrm>
            <a:off x="5010912" y="5056632"/>
            <a:ext cx="2011680" cy="411480"/>
          </a:xfrm>
          <a:prstGeom prst="rect">
            <a:avLst/>
          </a:prstGeom>
          <a:noFill/>
          <a:ln/>
        </p:spPr>
        <p:txBody>
          <a:bodyPr wrap="square" lIns="0" tIns="0" rIns="0" bIns="0" rtlCol="0" anchor="ctr"/>
          <a:lstStyle/>
          <a:p>
            <a:pPr algn="ctr" indent="0" marL="0">
              <a:buNone/>
            </a:pPr>
            <a:r>
              <a:rPr lang="en-US" sz="1100" b="1" dirty="0">
                <a:solidFill>
                  <a:srgbClr val="16324F"/>
                </a:solidFill>
                <a:latin typeface="Yu Gothic" pitchFamily="34" charset="0"/>
                <a:ea typeface="Yu Gothic" pitchFamily="34" charset="-122"/>
                <a:cs typeface="Yu Gothic" pitchFamily="34" charset="-120"/>
              </a:rPr>
              <a:t>パク・ウンソク</a:t>
            </a:r>
            <a:endParaRPr lang="en-US" sz="1100" dirty="0"/>
          </a:p>
        </p:txBody>
      </p:sp>
      <p:sp>
        <p:nvSpPr>
          <p:cNvPr id="38" name="Text 36"/>
          <p:cNvSpPr/>
          <p:nvPr/>
        </p:nvSpPr>
        <p:spPr>
          <a:xfrm>
            <a:off x="5010912" y="5513832"/>
            <a:ext cx="2011680" cy="365760"/>
          </a:xfrm>
          <a:prstGeom prst="rect">
            <a:avLst/>
          </a:prstGeom>
          <a:noFill/>
          <a:ln/>
        </p:spPr>
        <p:txBody>
          <a:bodyPr wrap="square" lIns="0" tIns="0" rIns="0" bIns="0" rtlCol="0" anchor="ctr"/>
          <a:lstStyle/>
          <a:p>
            <a:pPr algn="ctr" indent="0" marL="0">
              <a:buNone/>
            </a:pPr>
            <a:r>
              <a:rPr lang="en-US" sz="950" dirty="0">
                <a:solidFill>
                  <a:srgbClr val="C9A227"/>
                </a:solidFill>
                <a:latin typeface="Yu Gothic" pitchFamily="34" charset="0"/>
                <a:ea typeface="Yu Gothic" pitchFamily="34" charset="-122"/>
                <a:cs typeface="Yu Gothic" pitchFamily="34" charset="-120"/>
              </a:rPr>
              <a:t>生産</a:t>
            </a:r>
            <a:endParaRPr lang="en-US" sz="950" dirty="0"/>
          </a:p>
        </p:txBody>
      </p:sp>
      <p:sp>
        <p:nvSpPr>
          <p:cNvPr id="39" name="Shape 37"/>
          <p:cNvSpPr/>
          <p:nvPr/>
        </p:nvSpPr>
        <p:spPr>
          <a:xfrm>
            <a:off x="7251192" y="4892040"/>
            <a:ext cx="2157984" cy="1170432"/>
          </a:xfrm>
          <a:prstGeom prst="rect">
            <a:avLst/>
          </a:prstGeom>
          <a:solidFill>
            <a:srgbClr val="FFFFFF"/>
          </a:solidFill>
          <a:ln w="9525">
            <a:solidFill>
              <a:srgbClr val="C8C8C8"/>
            </a:solidFill>
            <a:prstDash val="solid"/>
          </a:ln>
        </p:spPr>
      </p:sp>
      <p:sp>
        <p:nvSpPr>
          <p:cNvPr id="40" name="Text 38"/>
          <p:cNvSpPr/>
          <p:nvPr/>
        </p:nvSpPr>
        <p:spPr>
          <a:xfrm>
            <a:off x="7324344" y="5056632"/>
            <a:ext cx="2011680" cy="411480"/>
          </a:xfrm>
          <a:prstGeom prst="rect">
            <a:avLst/>
          </a:prstGeom>
          <a:noFill/>
          <a:ln/>
        </p:spPr>
        <p:txBody>
          <a:bodyPr wrap="square" lIns="0" tIns="0" rIns="0" bIns="0" rtlCol="0" anchor="ctr"/>
          <a:lstStyle/>
          <a:p>
            <a:pPr algn="ctr" indent="0" marL="0">
              <a:buNone/>
            </a:pPr>
            <a:r>
              <a:rPr lang="en-US" sz="1100" b="1" dirty="0">
                <a:solidFill>
                  <a:srgbClr val="16324F"/>
                </a:solidFill>
                <a:latin typeface="Yu Gothic" pitchFamily="34" charset="0"/>
                <a:ea typeface="Yu Gothic" pitchFamily="34" charset="-122"/>
                <a:cs typeface="Yu Gothic" pitchFamily="34" charset="-120"/>
              </a:rPr>
              <a:t>チョ・ホンジェ</a:t>
            </a:r>
            <a:endParaRPr lang="en-US" sz="1100" dirty="0"/>
          </a:p>
        </p:txBody>
      </p:sp>
      <p:sp>
        <p:nvSpPr>
          <p:cNvPr id="41" name="Text 39"/>
          <p:cNvSpPr/>
          <p:nvPr/>
        </p:nvSpPr>
        <p:spPr>
          <a:xfrm>
            <a:off x="7324344" y="5513832"/>
            <a:ext cx="2011680" cy="365760"/>
          </a:xfrm>
          <a:prstGeom prst="rect">
            <a:avLst/>
          </a:prstGeom>
          <a:noFill/>
          <a:ln/>
        </p:spPr>
        <p:txBody>
          <a:bodyPr wrap="square" lIns="0" tIns="0" rIns="0" bIns="0" rtlCol="0" anchor="ctr"/>
          <a:lstStyle/>
          <a:p>
            <a:pPr algn="ctr" indent="0" marL="0">
              <a:buNone/>
            </a:pPr>
            <a:r>
              <a:rPr lang="en-US" sz="950" dirty="0">
                <a:solidFill>
                  <a:srgbClr val="C9A227"/>
                </a:solidFill>
                <a:latin typeface="Yu Gothic" pitchFamily="34" charset="0"/>
                <a:ea typeface="Yu Gothic" pitchFamily="34" charset="-122"/>
                <a:cs typeface="Yu Gothic" pitchFamily="34" charset="-120"/>
              </a:rPr>
              <a:t>検証</a:t>
            </a:r>
            <a:endParaRPr lang="en-US" sz="950" dirty="0"/>
          </a:p>
        </p:txBody>
      </p:sp>
      <p:sp>
        <p:nvSpPr>
          <p:cNvPr id="42" name="Shape 40"/>
          <p:cNvSpPr/>
          <p:nvPr/>
        </p:nvSpPr>
        <p:spPr>
          <a:xfrm>
            <a:off x="9564624" y="4892040"/>
            <a:ext cx="2157984" cy="1170432"/>
          </a:xfrm>
          <a:prstGeom prst="rect">
            <a:avLst/>
          </a:prstGeom>
          <a:solidFill>
            <a:srgbClr val="FFFFFF"/>
          </a:solidFill>
          <a:ln w="9525">
            <a:solidFill>
              <a:srgbClr val="C8C8C8"/>
            </a:solidFill>
            <a:prstDash val="solid"/>
          </a:ln>
        </p:spPr>
      </p:sp>
      <p:sp>
        <p:nvSpPr>
          <p:cNvPr id="43" name="Text 41"/>
          <p:cNvSpPr/>
          <p:nvPr/>
        </p:nvSpPr>
        <p:spPr>
          <a:xfrm>
            <a:off x="9637776" y="5056632"/>
            <a:ext cx="2011680" cy="411480"/>
          </a:xfrm>
          <a:prstGeom prst="rect">
            <a:avLst/>
          </a:prstGeom>
          <a:noFill/>
          <a:ln/>
        </p:spPr>
        <p:txBody>
          <a:bodyPr wrap="square" lIns="0" tIns="0" rIns="0" bIns="0" rtlCol="0" anchor="ctr"/>
          <a:lstStyle/>
          <a:p>
            <a:pPr algn="ctr" indent="0" marL="0">
              <a:buNone/>
            </a:pPr>
            <a:r>
              <a:rPr lang="en-US" sz="1100" b="1" dirty="0">
                <a:solidFill>
                  <a:srgbClr val="16324F"/>
                </a:solidFill>
                <a:latin typeface="Yu Gothic" pitchFamily="34" charset="0"/>
                <a:ea typeface="Yu Gothic" pitchFamily="34" charset="-122"/>
                <a:cs typeface="Yu Gothic" pitchFamily="34" charset="-120"/>
              </a:rPr>
              <a:t>キム・ギテ</a:t>
            </a:r>
            <a:endParaRPr lang="en-US" sz="1100" dirty="0"/>
          </a:p>
        </p:txBody>
      </p:sp>
      <p:sp>
        <p:nvSpPr>
          <p:cNvPr id="44" name="Text 42"/>
          <p:cNvSpPr/>
          <p:nvPr/>
        </p:nvSpPr>
        <p:spPr>
          <a:xfrm>
            <a:off x="9637776" y="5513832"/>
            <a:ext cx="2011680" cy="365760"/>
          </a:xfrm>
          <a:prstGeom prst="rect">
            <a:avLst/>
          </a:prstGeom>
          <a:noFill/>
          <a:ln/>
        </p:spPr>
        <p:txBody>
          <a:bodyPr wrap="square" lIns="0" tIns="0" rIns="0" bIns="0" rtlCol="0" anchor="ctr"/>
          <a:lstStyle/>
          <a:p>
            <a:pPr algn="ctr" indent="0" marL="0">
              <a:buNone/>
            </a:pPr>
            <a:r>
              <a:rPr lang="en-US" sz="950" dirty="0">
                <a:solidFill>
                  <a:srgbClr val="C9A227"/>
                </a:solidFill>
                <a:latin typeface="Yu Gothic" pitchFamily="34" charset="0"/>
                <a:ea typeface="Yu Gothic" pitchFamily="34" charset="-122"/>
                <a:cs typeface="Yu Gothic" pitchFamily="34" charset="-120"/>
              </a:rPr>
              <a:t>アプリケーション</a:t>
            </a:r>
            <a:endParaRPr lang="en-US" sz="9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9.2  リスク分析と軽減戦略</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54/55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5大リスクと軽減戦略</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Five Key Risks · Mitigation Strategy</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7200" y="1572768"/>
          <a:ext cx="11274552" cy="914400"/>
        </p:xfrm>
        <a:graphic>
          <a:graphicData uri="http://schemas.openxmlformats.org/drawingml/2006/table">
            <a:tbl>
              <a:tblPr/>
              <a:tblGrid>
                <a:gridCol w="1463040"/>
                <a:gridCol w="3840480"/>
                <a:gridCol w="5971032"/>
              </a:tblGrid>
              <a:tr h="566928">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リスク</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内容(影響 / 発生確率)</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c>
                  <a:txBody>
                    <a:bodyPr/>
                    <a:lstStyle/>
                    <a:p>
                      <a:pPr algn="ctr" indent="0" marL="0">
                        <a:buNone/>
                      </a:pPr>
                      <a:r>
                        <a:rPr lang="en-US" sz="1000" b="1" dirty="0">
                          <a:solidFill>
                            <a:srgbClr val="FFFFFF"/>
                          </a:solidFill>
                          <a:latin typeface="Yu Gothic" pitchFamily="34" charset="0"/>
                          <a:ea typeface="Yu Gothic" pitchFamily="34" charset="-122"/>
                          <a:cs typeface="Yu Gothic" pitchFamily="34" charset="-120"/>
                        </a:rPr>
                        <a:t>軽減策(BK対応計画)</a:t>
                      </a:r>
                      <a:endParaRPr lang="en-US" sz="100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16324F"/>
                    </a:solidFill>
                  </a:tcPr>
                </a:tc>
              </a:tr>
              <a:tr h="566928">
                <a:tc>
                  <a:txBody>
                    <a:bodyPr/>
                    <a:lstStyle/>
                    <a:p>
                      <a:pPr algn="l" indent="0" marL="0">
                        <a:buNone/>
                      </a:pPr>
                      <a:r>
                        <a:rPr lang="en-US" sz="850" b="1" dirty="0">
                          <a:solidFill>
                            <a:srgbClr val="1A1A1A"/>
                          </a:solidFill>
                          <a:latin typeface="Yu Gothic" pitchFamily="34" charset="0"/>
                          <a:ea typeface="Yu Gothic" pitchFamily="34" charset="-122"/>
                          <a:cs typeface="Yu Gothic" pitchFamily="34" charset="-120"/>
                        </a:rPr>
                        <a:t>R-01 技術</a:t>
                      </a:r>
                      <a:endParaRPr lang="en-US" sz="8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Yu Gothic" pitchFamily="34" charset="0"/>
                          <a:ea typeface="Yu Gothic" pitchFamily="34" charset="-122"/>
                          <a:cs typeface="Yu Gothic" pitchFamily="34" charset="-120"/>
                        </a:rPr>
                        <a:t>量産歩留まり安定化の遅延 · 400 Wh/kg目標遅延(高 / 中)</a:t>
                      </a:r>
                      <a:endParaRPr lang="en-US" sz="8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Yu Gothic" pitchFamily="34" charset="0"/>
                          <a:ea typeface="Yu Gothic" pitchFamily="34" charset="-122"/>
                          <a:cs typeface="Yu Gothic" pitchFamily="34" charset="-120"/>
                        </a:rPr>
                        <a:t>ETRI / KIST共同R&amp;D · 金堤工場に自動化ライン4本増設 · 段階的生産 · KBIA / ETRI認証で検証済み</a:t>
                      </a:r>
                      <a:endParaRPr lang="en-US" sz="8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566928">
                <a:tc>
                  <a:txBody>
                    <a:bodyPr/>
                    <a:lstStyle/>
                    <a:p>
                      <a:pPr algn="l" indent="0" marL="0">
                        <a:buNone/>
                      </a:pPr>
                      <a:r>
                        <a:rPr lang="en-US" sz="850" b="1" dirty="0">
                          <a:solidFill>
                            <a:srgbClr val="1A1A1A"/>
                          </a:solidFill>
                          <a:latin typeface="Yu Gothic" pitchFamily="34" charset="0"/>
                          <a:ea typeface="Yu Gothic" pitchFamily="34" charset="-122"/>
                          <a:cs typeface="Yu Gothic" pitchFamily="34" charset="-120"/>
                        </a:rPr>
                        <a:t>R-02 市場</a:t>
                      </a:r>
                      <a:endParaRPr lang="en-US" sz="8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850" dirty="0">
                          <a:solidFill>
                            <a:srgbClr val="1A1A1A"/>
                          </a:solidFill>
                          <a:latin typeface="Yu Gothic" pitchFamily="34" charset="0"/>
                          <a:ea typeface="Yu Gothic" pitchFamily="34" charset="-122"/>
                          <a:cs typeface="Yu Gothic" pitchFamily="34" charset="-120"/>
                        </a:rPr>
                        <a:t>HEV OEM認証遅延(12~18ヶ月)· EV政策変動(中 / 中)</a:t>
                      </a:r>
                      <a:endParaRPr lang="en-US" sz="8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850" dirty="0">
                          <a:solidFill>
                            <a:srgbClr val="1A1A1A"/>
                          </a:solidFill>
                          <a:latin typeface="Yu Gothic" pitchFamily="34" charset="0"/>
                          <a:ea typeface="Yu Gothic" pitchFamily="34" charset="-122"/>
                          <a:cs typeface="Yu Gothic" pitchFamily="34" charset="-120"/>
                        </a:rPr>
                        <a:t>防衛 / 特装車 / ESSの4チャネル分散 · NATO / GIT確定売上 KRW 30.3億 · 5市場優先戦略</a:t>
                      </a:r>
                      <a:endParaRPr lang="en-US" sz="8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566928">
                <a:tc>
                  <a:txBody>
                    <a:bodyPr/>
                    <a:lstStyle/>
                    <a:p>
                      <a:pPr algn="l" indent="0" marL="0">
                        <a:buNone/>
                      </a:pPr>
                      <a:r>
                        <a:rPr lang="en-US" sz="850" b="1" dirty="0">
                          <a:solidFill>
                            <a:srgbClr val="1A1A1A"/>
                          </a:solidFill>
                          <a:latin typeface="Yu Gothic" pitchFamily="34" charset="0"/>
                          <a:ea typeface="Yu Gothic" pitchFamily="34" charset="-122"/>
                          <a:cs typeface="Yu Gothic" pitchFamily="34" charset="-120"/>
                        </a:rPr>
                        <a:t>R-03 財務</a:t>
                      </a:r>
                      <a:endParaRPr lang="en-US" sz="8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Yu Gothic" pitchFamily="34" charset="0"/>
                          <a:ea typeface="Yu Gothic" pitchFamily="34" charset="-122"/>
                          <a:cs typeface="Yu Gothic" pitchFamily="34" charset="-120"/>
                        </a:rPr>
                        <a:t>CAPEX負担 · 運転資金 · IPO市況(中 / 中)</a:t>
                      </a:r>
                      <a:endParaRPr lang="en-US" sz="8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Yu Gothic" pitchFamily="34" charset="0"/>
                          <a:ea typeface="Yu Gothic" pitchFamily="34" charset="-122"/>
                          <a:cs typeface="Yu Gothic" pitchFamily="34" charset="-120"/>
                        </a:rPr>
                        <a:t>シリーズB KRW 120億調達 · 2026年確定売上 KRW 110.6億 · EBITDA 28% · 2030 KOSDAQ IPO</a:t>
                      </a:r>
                      <a:endParaRPr lang="en-US" sz="8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566928">
                <a:tc>
                  <a:txBody>
                    <a:bodyPr/>
                    <a:lstStyle/>
                    <a:p>
                      <a:pPr algn="l" indent="0" marL="0">
                        <a:buNone/>
                      </a:pPr>
                      <a:r>
                        <a:rPr lang="en-US" sz="850" b="1" dirty="0">
                          <a:solidFill>
                            <a:srgbClr val="1A1A1A"/>
                          </a:solidFill>
                          <a:latin typeface="Yu Gothic" pitchFamily="34" charset="0"/>
                          <a:ea typeface="Yu Gothic" pitchFamily="34" charset="-122"/>
                          <a:cs typeface="Yu Gothic" pitchFamily="34" charset="-120"/>
                        </a:rPr>
                        <a:t>R-04 規制</a:t>
                      </a:r>
                      <a:endParaRPr lang="en-US" sz="8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850" dirty="0">
                          <a:solidFill>
                            <a:srgbClr val="1A1A1A"/>
                          </a:solidFill>
                          <a:latin typeface="Yu Gothic" pitchFamily="34" charset="0"/>
                          <a:ea typeface="Yu Gothic" pitchFamily="34" charset="-122"/>
                          <a:cs typeface="Yu Gothic" pitchFamily="34" charset="-120"/>
                        </a:rPr>
                        <a:t>防衛輸出許可 · 認証取得の遅延(中 / 低)</a:t>
                      </a:r>
                      <a:endParaRPr lang="en-US" sz="8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c>
                  <a:txBody>
                    <a:bodyPr/>
                    <a:lstStyle/>
                    <a:p>
                      <a:pPr algn="l" indent="0" marL="0">
                        <a:buNone/>
                      </a:pPr>
                      <a:r>
                        <a:rPr lang="en-US" sz="850" dirty="0">
                          <a:solidFill>
                            <a:srgbClr val="1A1A1A"/>
                          </a:solidFill>
                          <a:latin typeface="Yu Gothic" pitchFamily="34" charset="0"/>
                          <a:ea typeface="Yu Gothic" pitchFamily="34" charset="-122"/>
                          <a:cs typeface="Yu Gothic" pitchFamily="34" charset="-120"/>
                        </a:rPr>
                        <a:t>シリーズBの20%を認証に配分 · 既存認証(KC / CE / FCC / KBIA等)活用 · NATO / JATCOの支援</a:t>
                      </a:r>
                      <a:endParaRPr lang="en-US" sz="8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FEDE8"/>
                    </a:solidFill>
                  </a:tcPr>
                </a:tc>
              </a:tr>
              <a:tr h="566928">
                <a:tc>
                  <a:txBody>
                    <a:bodyPr/>
                    <a:lstStyle/>
                    <a:p>
                      <a:pPr algn="l" indent="0" marL="0">
                        <a:buNone/>
                      </a:pPr>
                      <a:r>
                        <a:rPr lang="en-US" sz="850" b="1" dirty="0">
                          <a:solidFill>
                            <a:srgbClr val="1A1A1A"/>
                          </a:solidFill>
                          <a:latin typeface="Yu Gothic" pitchFamily="34" charset="0"/>
                          <a:ea typeface="Yu Gothic" pitchFamily="34" charset="-122"/>
                          <a:cs typeface="Yu Gothic" pitchFamily="34" charset="-120"/>
                        </a:rPr>
                        <a:t>R-05 供給網</a:t>
                      </a:r>
                      <a:endParaRPr lang="en-US" sz="8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Yu Gothic" pitchFamily="34" charset="0"/>
                          <a:ea typeface="Yu Gothic" pitchFamily="34" charset="-122"/>
                          <a:cs typeface="Yu Gothic" pitchFamily="34" charset="-120"/>
                        </a:rPr>
                        <a:t>Ti · Nb価格変動 · 中国依存(低 / 低)</a:t>
                      </a:r>
                      <a:endParaRPr lang="en-US" sz="8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Yu Gothic" pitchFamily="34" charset="0"/>
                          <a:ea typeface="Yu Gothic" pitchFamily="34" charset="-122"/>
                          <a:cs typeface="Yu Gothic" pitchFamily="34" charset="-120"/>
                        </a:rPr>
                        <a:t>リチウム不使用 · Ti / Nbは豪州 / ブラジルに分散 · 複合材9種 100%自社IP · 日本供給網提携</a:t>
                      </a:r>
                      <a:endParaRPr lang="en-US" sz="850" dirty="0">
                        <a:latin typeface="Yu Gothic" charset="0"/>
                        <a:ea typeface="Yu Gothic" charset="0"/>
                        <a:cs typeface="Yu Gothic"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bl>
          </a:graphicData>
        </a:graphic>
      </p:graphicFrame>
      <p:sp>
        <p:nvSpPr>
          <p:cNvPr id="13" name="Shape 10"/>
          <p:cNvSpPr/>
          <p:nvPr/>
        </p:nvSpPr>
        <p:spPr>
          <a:xfrm>
            <a:off x="457200" y="5897880"/>
            <a:ext cx="11274552" cy="457200"/>
          </a:xfrm>
          <a:prstGeom prst="rect">
            <a:avLst/>
          </a:prstGeom>
          <a:solidFill>
            <a:srgbClr val="16324F"/>
          </a:solidFill>
          <a:ln/>
        </p:spPr>
      </p:sp>
      <p:sp>
        <p:nvSpPr>
          <p:cNvPr id="14" name="Text 11"/>
          <p:cNvSpPr/>
          <p:nvPr/>
        </p:nvSpPr>
        <p:spPr>
          <a:xfrm>
            <a:off x="685800" y="5897880"/>
            <a:ext cx="10881360" cy="457200"/>
          </a:xfrm>
          <a:prstGeom prst="rect">
            <a:avLst/>
          </a:prstGeom>
          <a:noFill/>
          <a:ln/>
        </p:spPr>
        <p:txBody>
          <a:bodyPr wrap="square" lIns="0" tIns="0" rIns="0" bIns="0" rtlCol="0" anchor="ctr"/>
          <a:lstStyle/>
          <a:p>
            <a:pPr indent="0" marL="0">
              <a:buNone/>
            </a:pPr>
            <a:r>
              <a:rPr lang="en-US" sz="1150" b="1" dirty="0">
                <a:solidFill>
                  <a:srgbClr val="C9A227"/>
                </a:solidFill>
                <a:latin typeface="Yu Gothic" pitchFamily="34" charset="0"/>
                <a:ea typeface="Yu Gothic" pitchFamily="34" charset="-122"/>
                <a:cs typeface="Yu Gothic" pitchFamily="34" charset="-120"/>
              </a:rPr>
              <a:t>KEY INSIGHT:高1(技術)· 中3(市場 / 財務 / 規制)· 低1(供給網)— 全リスクに具体的軽減策を確保 · シリーズBはR&amp;D・認証・CAPEXを同時にカバー</a:t>
            </a:r>
            <a:endParaRPr lang="en-US" sz="11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0" y="0"/>
            <a:ext cx="12188952" cy="384048"/>
          </a:xfrm>
          <a:prstGeom prst="rect">
            <a:avLst/>
          </a:prstGeom>
          <a:solidFill>
            <a:srgbClr val="16324F"/>
          </a:solidFill>
          <a:ln/>
        </p:spPr>
      </p:sp>
      <p:sp>
        <p:nvSpPr>
          <p:cNvPr id="3" name="Text 1"/>
          <p:cNvSpPr/>
          <p:nvPr/>
        </p:nvSpPr>
        <p:spPr>
          <a:xfrm>
            <a:off x="320040" y="0"/>
            <a:ext cx="2377440" cy="38404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BK DONGYEOUNG TECH</a:t>
            </a:r>
            <a:endParaRPr lang="en-US" sz="800" dirty="0"/>
          </a:p>
        </p:txBody>
      </p:sp>
      <p:sp>
        <p:nvSpPr>
          <p:cNvPr id="4" name="Text 2"/>
          <p:cNvSpPr/>
          <p:nvPr/>
        </p:nvSpPr>
        <p:spPr>
          <a:xfrm>
            <a:off x="2743200" y="0"/>
            <a:ext cx="5943600" cy="384048"/>
          </a:xfrm>
          <a:prstGeom prst="rect">
            <a:avLst/>
          </a:prstGeom>
          <a:noFill/>
          <a:ln/>
        </p:spPr>
        <p:txBody>
          <a:bodyPr wrap="square" lIns="0" tIns="0" rIns="0" bIns="0" rtlCol="0" anchor="ctr"/>
          <a:lstStyle/>
          <a:p>
            <a:pPr indent="0" marL="0">
              <a:buNone/>
            </a:pPr>
            <a:r>
              <a:rPr lang="en-US" sz="1000" b="1" dirty="0">
                <a:solidFill>
                  <a:srgbClr val="C9A227"/>
                </a:solidFill>
                <a:latin typeface="Yu Gothic" pitchFamily="34" charset="0"/>
                <a:ea typeface="Yu Gothic" pitchFamily="34" charset="-122"/>
                <a:cs typeface="Yu Gothic" pitchFamily="34" charset="-120"/>
              </a:rPr>
              <a:t>CH 10.1  TNO-Sの5つの約束</a:t>
            </a:r>
            <a:endParaRPr lang="en-US" sz="1000" dirty="0"/>
          </a:p>
        </p:txBody>
      </p:sp>
      <p:sp>
        <p:nvSpPr>
          <p:cNvPr id="5" name="Text 3"/>
          <p:cNvSpPr/>
          <p:nvPr/>
        </p:nvSpPr>
        <p:spPr>
          <a:xfrm>
            <a:off x="9171432" y="0"/>
            <a:ext cx="2697480" cy="384048"/>
          </a:xfrm>
          <a:prstGeom prst="rect">
            <a:avLst/>
          </a:prstGeom>
          <a:noFill/>
          <a:ln/>
        </p:spPr>
        <p:txBody>
          <a:bodyPr wrap="square" lIns="0" tIns="0" rIns="0" bIns="0" rtlCol="0" anchor="ctr"/>
          <a:lstStyle/>
          <a:p>
            <a:pPr algn="r" indent="0" marL="0">
              <a:buNone/>
            </a:pPr>
            <a:r>
              <a:rPr lang="en-US" sz="900" b="1" dirty="0">
                <a:solidFill>
                  <a:srgbClr val="C9A227"/>
                </a:solidFill>
                <a:latin typeface="Arial" pitchFamily="34" charset="0"/>
                <a:ea typeface="Arial" pitchFamily="34" charset="-122"/>
                <a:cs typeface="Arial" pitchFamily="34" charset="-120"/>
              </a:rPr>
              <a:t>FOR DEFENSE USE</a:t>
            </a:r>
            <a:pPr algn="r" indent="0" marL="0">
              <a:buNone/>
            </a:pPr>
            <a:r>
              <a:rPr lang="en-US" sz="900" b="1" dirty="0">
                <a:solidFill>
                  <a:srgbClr val="FFFFFF"/>
                </a:solidFill>
                <a:latin typeface="Arial" pitchFamily="34" charset="0"/>
                <a:ea typeface="Arial" pitchFamily="34" charset="-122"/>
                <a:cs typeface="Arial" pitchFamily="34" charset="-120"/>
              </a:rPr>
              <a:t>   55/55</a:t>
            </a:r>
            <a:endParaRPr lang="en-US" sz="900" dirty="0"/>
          </a:p>
        </p:txBody>
      </p:sp>
      <p:sp>
        <p:nvSpPr>
          <p:cNvPr id="6" name="Shape 4"/>
          <p:cNvSpPr/>
          <p:nvPr/>
        </p:nvSpPr>
        <p:spPr>
          <a:xfrm>
            <a:off x="0" y="6583680"/>
            <a:ext cx="12188952" cy="274320"/>
          </a:xfrm>
          <a:prstGeom prst="rect">
            <a:avLst/>
          </a:prstGeom>
          <a:solidFill>
            <a:srgbClr val="16324F"/>
          </a:solidFill>
          <a:ln/>
        </p:spPr>
      </p:sp>
      <p:sp>
        <p:nvSpPr>
          <p:cNvPr id="7" name="Text 5"/>
          <p:cNvSpPr/>
          <p:nvPr/>
        </p:nvSpPr>
        <p:spPr>
          <a:xfrm>
            <a:off x="0" y="6583680"/>
            <a:ext cx="12188952" cy="274320"/>
          </a:xfrm>
          <a:prstGeom prst="rect">
            <a:avLst/>
          </a:prstGeom>
          <a:noFill/>
          <a:ln/>
        </p:spPr>
        <p:txBody>
          <a:bodyPr wrap="square" lIns="0" tIns="0" rIns="0" bIns="0" rtlCol="0" anchor="ctr"/>
          <a:lstStyle/>
          <a:p>
            <a:pPr algn="ctr" indent="0" marL="0">
              <a:buNone/>
            </a:pPr>
            <a:r>
              <a:rPr lang="en-US" sz="800" dirty="0">
                <a:solidFill>
                  <a:srgbClr val="D8DEE8"/>
                </a:solidFill>
                <a:latin typeface="Yu Gothic" pitchFamily="34" charset="0"/>
                <a:ea typeface="Yu Gothic" pitchFamily="34" charset="-122"/>
                <a:cs typeface="Yu Gothic" pitchFamily="34" charset="-120"/>
              </a:rPr>
              <a:t>© 2026 BK Dongyeoung Tech Co., Ltd.  |  TNO-S 防衛技術ホワイトペーパー(日本語版)  |  機密 — 防衛調達審査用</a:t>
            </a:r>
            <a:endParaRPr lang="en-US" sz="800" dirty="0"/>
          </a:p>
        </p:txBody>
      </p:sp>
      <p:sp>
        <p:nvSpPr>
          <p:cNvPr id="8" name="Shape 6"/>
          <p:cNvSpPr/>
          <p:nvPr/>
        </p:nvSpPr>
        <p:spPr>
          <a:xfrm>
            <a:off x="457200" y="621792"/>
            <a:ext cx="82296" cy="713232"/>
          </a:xfrm>
          <a:prstGeom prst="rect">
            <a:avLst/>
          </a:prstGeom>
          <a:solidFill>
            <a:srgbClr val="C9A227"/>
          </a:solidFill>
          <a:ln/>
        </p:spPr>
      </p:sp>
      <p:sp>
        <p:nvSpPr>
          <p:cNvPr id="9" name="Text 7"/>
          <p:cNvSpPr/>
          <p:nvPr/>
        </p:nvSpPr>
        <p:spPr>
          <a:xfrm>
            <a:off x="685800" y="548640"/>
            <a:ext cx="11064240" cy="502920"/>
          </a:xfrm>
          <a:prstGeom prst="rect">
            <a:avLst/>
          </a:prstGeom>
          <a:noFill/>
          <a:ln/>
        </p:spPr>
        <p:txBody>
          <a:bodyPr wrap="square" lIns="0" tIns="0" rIns="0" bIns="0" rtlCol="0" anchor="ctr"/>
          <a:lstStyle/>
          <a:p>
            <a:pPr indent="0" marL="0">
              <a:buNone/>
            </a:pPr>
            <a:r>
              <a:rPr lang="en-US" sz="2500" b="1" dirty="0">
                <a:solidFill>
                  <a:srgbClr val="16324F"/>
                </a:solidFill>
                <a:latin typeface="Yu Gothic" pitchFamily="34" charset="0"/>
                <a:ea typeface="Yu Gothic" pitchFamily="34" charset="-122"/>
                <a:cs typeface="Yu Gothic" pitchFamily="34" charset="-120"/>
              </a:rPr>
              <a:t>TNO-Sの5つの約束</a:t>
            </a:r>
            <a:endParaRPr lang="en-US" sz="2500" dirty="0"/>
          </a:p>
        </p:txBody>
      </p:sp>
      <p:sp>
        <p:nvSpPr>
          <p:cNvPr id="10" name="Text 8"/>
          <p:cNvSpPr/>
          <p:nvPr/>
        </p:nvSpPr>
        <p:spPr>
          <a:xfrm>
            <a:off x="685800" y="1042416"/>
            <a:ext cx="11064240" cy="292608"/>
          </a:xfrm>
          <a:prstGeom prst="rect">
            <a:avLst/>
          </a:prstGeom>
          <a:noFill/>
          <a:ln/>
        </p:spPr>
        <p:txBody>
          <a:bodyPr wrap="square" lIns="0" tIns="0" rIns="0" bIns="0" rtlCol="0" anchor="ctr"/>
          <a:lstStyle/>
          <a:p>
            <a:pPr indent="0" marL="0">
              <a:buNone/>
            </a:pPr>
            <a:r>
              <a:rPr lang="en-US" sz="1100" dirty="0">
                <a:solidFill>
                  <a:srgbClr val="45586E"/>
                </a:solidFill>
                <a:latin typeface="Yu Gothic" pitchFamily="34" charset="0"/>
                <a:ea typeface="Yu Gothic" pitchFamily="34" charset="-122"/>
                <a:cs typeface="Yu Gothic" pitchFamily="34" charset="-120"/>
              </a:rPr>
              <a:t>The Five Promises of TNO-S</a:t>
            </a:r>
            <a:endParaRPr lang="en-US" sz="1100" dirty="0"/>
          </a:p>
        </p:txBody>
      </p:sp>
      <p:sp>
        <p:nvSpPr>
          <p:cNvPr id="11" name="Shape 9"/>
          <p:cNvSpPr/>
          <p:nvPr/>
        </p:nvSpPr>
        <p:spPr>
          <a:xfrm>
            <a:off x="457200" y="1389888"/>
            <a:ext cx="11274552" cy="0"/>
          </a:xfrm>
          <a:prstGeom prst="line">
            <a:avLst/>
          </a:prstGeom>
          <a:noFill/>
          <a:ln w="12700">
            <a:solidFill>
              <a:srgbClr val="C8C8C8"/>
            </a:solidFill>
            <a:prstDash val="solid"/>
          </a:ln>
        </p:spPr>
      </p:sp>
      <p:sp>
        <p:nvSpPr>
          <p:cNvPr id="12" name="Shape 10"/>
          <p:cNvSpPr/>
          <p:nvPr/>
        </p:nvSpPr>
        <p:spPr>
          <a:xfrm>
            <a:off x="457200" y="1737360"/>
            <a:ext cx="2121408" cy="914400"/>
          </a:xfrm>
          <a:prstGeom prst="rect">
            <a:avLst/>
          </a:prstGeom>
          <a:solidFill>
            <a:srgbClr val="16324F"/>
          </a:solidFill>
          <a:ln/>
        </p:spPr>
      </p:sp>
      <p:sp>
        <p:nvSpPr>
          <p:cNvPr id="13" name="Text 11"/>
          <p:cNvSpPr/>
          <p:nvPr/>
        </p:nvSpPr>
        <p:spPr>
          <a:xfrm>
            <a:off x="457200" y="1737360"/>
            <a:ext cx="2121408" cy="914400"/>
          </a:xfrm>
          <a:prstGeom prst="rect">
            <a:avLst/>
          </a:prstGeom>
          <a:noFill/>
          <a:ln/>
        </p:spPr>
        <p:txBody>
          <a:bodyPr wrap="square" lIns="0" tIns="0" rIns="0" bIns="0" rtlCol="0" anchor="ctr"/>
          <a:lstStyle/>
          <a:p>
            <a:pPr algn="ctr" indent="0" marL="0">
              <a:buNone/>
            </a:pPr>
            <a:r>
              <a:rPr lang="en-US" sz="2200" b="1" dirty="0">
                <a:solidFill>
                  <a:srgbClr val="C9A227"/>
                </a:solidFill>
                <a:latin typeface="Arial" pitchFamily="34" charset="0"/>
                <a:ea typeface="Arial" pitchFamily="34" charset="-122"/>
                <a:cs typeface="Arial" pitchFamily="34" charset="-120"/>
              </a:rPr>
              <a:t>01</a:t>
            </a:r>
            <a:endParaRPr lang="en-US" sz="2200" dirty="0"/>
          </a:p>
        </p:txBody>
      </p:sp>
      <p:sp>
        <p:nvSpPr>
          <p:cNvPr id="14" name="Shape 12"/>
          <p:cNvSpPr/>
          <p:nvPr/>
        </p:nvSpPr>
        <p:spPr>
          <a:xfrm>
            <a:off x="457200" y="2651760"/>
            <a:ext cx="2121408" cy="3200400"/>
          </a:xfrm>
          <a:prstGeom prst="rect">
            <a:avLst/>
          </a:prstGeom>
          <a:solidFill>
            <a:srgbClr val="FFFFFF"/>
          </a:solidFill>
          <a:ln w="9525">
            <a:solidFill>
              <a:srgbClr val="C8C8C8"/>
            </a:solidFill>
            <a:prstDash val="solid"/>
          </a:ln>
        </p:spPr>
      </p:sp>
      <p:sp>
        <p:nvSpPr>
          <p:cNvPr id="15" name="Text 13"/>
          <p:cNvSpPr/>
          <p:nvPr/>
        </p:nvSpPr>
        <p:spPr>
          <a:xfrm>
            <a:off x="548640" y="2788920"/>
            <a:ext cx="1938528" cy="731520"/>
          </a:xfrm>
          <a:prstGeom prst="rect">
            <a:avLst/>
          </a:prstGeom>
          <a:noFill/>
          <a:ln/>
        </p:spPr>
        <p:txBody>
          <a:bodyPr wrap="square" lIns="0" tIns="0" rIns="0" bIns="0" rtlCol="0" anchor="ctr"/>
          <a:lstStyle/>
          <a:p>
            <a:pPr algn="ctr" indent="0" marL="0">
              <a:buNone/>
            </a:pPr>
            <a:r>
              <a:rPr lang="en-US" sz="1150" b="1" dirty="0">
                <a:solidFill>
                  <a:srgbClr val="16324F"/>
                </a:solidFill>
                <a:latin typeface="Yu Gothic" pitchFamily="34" charset="0"/>
                <a:ea typeface="Yu Gothic" pitchFamily="34" charset="-122"/>
                <a:cs typeface="Yu Gothic" pitchFamily="34" charset="-120"/>
              </a:rPr>
              <a:t>新規アーキテクチャ</a:t>
            </a:r>
            <a:endParaRPr lang="en-US" sz="1150" dirty="0"/>
          </a:p>
        </p:txBody>
      </p:sp>
      <p:sp>
        <p:nvSpPr>
          <p:cNvPr id="16" name="Text 14"/>
          <p:cNvSpPr/>
          <p:nvPr/>
        </p:nvSpPr>
        <p:spPr>
          <a:xfrm>
            <a:off x="585216" y="3611880"/>
            <a:ext cx="1865376" cy="2103120"/>
          </a:xfrm>
          <a:prstGeom prst="rect">
            <a:avLst/>
          </a:prstGeom>
          <a:noFill/>
          <a:ln/>
        </p:spPr>
        <p:txBody>
          <a:bodyPr wrap="square" lIns="0" tIns="0" rIns="0" bIns="0" rtlCol="0" anchor="t"/>
          <a:lstStyle/>
          <a:p>
            <a:pPr algn="ctr" indent="0" marL="0">
              <a:buNone/>
            </a:pPr>
            <a:r>
              <a:rPr lang="en-US" sz="950" dirty="0">
                <a:solidFill>
                  <a:srgbClr val="1A1A1A"/>
                </a:solidFill>
                <a:latin typeface="Yu Gothic" pitchFamily="34" charset="0"/>
                <a:ea typeface="Yu Gothic" pitchFamily="34" charset="-122"/>
                <a:cs typeface="Yu Gothic" pitchFamily="34" charset="-120"/>
              </a:rPr>
              <a:t>化学的エネルギー貯蔵と物理的出力供給を単一セルに統合</a:t>
            </a:r>
            <a:endParaRPr lang="en-US" sz="950" dirty="0"/>
          </a:p>
        </p:txBody>
      </p:sp>
      <p:sp>
        <p:nvSpPr>
          <p:cNvPr id="17" name="Shape 15"/>
          <p:cNvSpPr/>
          <p:nvPr/>
        </p:nvSpPr>
        <p:spPr>
          <a:xfrm>
            <a:off x="2761488" y="1737360"/>
            <a:ext cx="2121408" cy="914400"/>
          </a:xfrm>
          <a:prstGeom prst="rect">
            <a:avLst/>
          </a:prstGeom>
          <a:solidFill>
            <a:srgbClr val="16324F"/>
          </a:solidFill>
          <a:ln/>
        </p:spPr>
      </p:sp>
      <p:sp>
        <p:nvSpPr>
          <p:cNvPr id="18" name="Text 16"/>
          <p:cNvSpPr/>
          <p:nvPr/>
        </p:nvSpPr>
        <p:spPr>
          <a:xfrm>
            <a:off x="2761488" y="1737360"/>
            <a:ext cx="2121408" cy="914400"/>
          </a:xfrm>
          <a:prstGeom prst="rect">
            <a:avLst/>
          </a:prstGeom>
          <a:noFill/>
          <a:ln/>
        </p:spPr>
        <p:txBody>
          <a:bodyPr wrap="square" lIns="0" tIns="0" rIns="0" bIns="0" rtlCol="0" anchor="ctr"/>
          <a:lstStyle/>
          <a:p>
            <a:pPr algn="ctr" indent="0" marL="0">
              <a:buNone/>
            </a:pPr>
            <a:r>
              <a:rPr lang="en-US" sz="2200" b="1" dirty="0">
                <a:solidFill>
                  <a:srgbClr val="C9A227"/>
                </a:solidFill>
                <a:latin typeface="Arial" pitchFamily="34" charset="0"/>
                <a:ea typeface="Arial" pitchFamily="34" charset="-122"/>
                <a:cs typeface="Arial" pitchFamily="34" charset="-120"/>
              </a:rPr>
              <a:t>02</a:t>
            </a:r>
            <a:endParaRPr lang="en-US" sz="2200" dirty="0"/>
          </a:p>
        </p:txBody>
      </p:sp>
      <p:sp>
        <p:nvSpPr>
          <p:cNvPr id="19" name="Shape 17"/>
          <p:cNvSpPr/>
          <p:nvPr/>
        </p:nvSpPr>
        <p:spPr>
          <a:xfrm>
            <a:off x="2761488" y="2651760"/>
            <a:ext cx="2121408" cy="3200400"/>
          </a:xfrm>
          <a:prstGeom prst="rect">
            <a:avLst/>
          </a:prstGeom>
          <a:solidFill>
            <a:srgbClr val="FFFFFF"/>
          </a:solidFill>
          <a:ln w="9525">
            <a:solidFill>
              <a:srgbClr val="C8C8C8"/>
            </a:solidFill>
            <a:prstDash val="solid"/>
          </a:ln>
        </p:spPr>
      </p:sp>
      <p:sp>
        <p:nvSpPr>
          <p:cNvPr id="20" name="Text 18"/>
          <p:cNvSpPr/>
          <p:nvPr/>
        </p:nvSpPr>
        <p:spPr>
          <a:xfrm>
            <a:off x="2852928" y="2788920"/>
            <a:ext cx="1938528" cy="731520"/>
          </a:xfrm>
          <a:prstGeom prst="rect">
            <a:avLst/>
          </a:prstGeom>
          <a:noFill/>
          <a:ln/>
        </p:spPr>
        <p:txBody>
          <a:bodyPr wrap="square" lIns="0" tIns="0" rIns="0" bIns="0" rtlCol="0" anchor="ctr"/>
          <a:lstStyle/>
          <a:p>
            <a:pPr algn="ctr" indent="0" marL="0">
              <a:buNone/>
            </a:pPr>
            <a:r>
              <a:rPr lang="en-US" sz="1150" b="1" dirty="0">
                <a:solidFill>
                  <a:srgbClr val="16324F"/>
                </a:solidFill>
                <a:latin typeface="Yu Gothic" pitchFamily="34" charset="0"/>
                <a:ea typeface="Yu Gothic" pitchFamily="34" charset="-122"/>
                <a:cs typeface="Yu Gothic" pitchFamily="34" charset="-120"/>
              </a:rPr>
              <a:t>卓越した性能</a:t>
            </a:r>
            <a:endParaRPr lang="en-US" sz="1150" dirty="0"/>
          </a:p>
        </p:txBody>
      </p:sp>
      <p:sp>
        <p:nvSpPr>
          <p:cNvPr id="21" name="Text 19"/>
          <p:cNvSpPr/>
          <p:nvPr/>
        </p:nvSpPr>
        <p:spPr>
          <a:xfrm>
            <a:off x="2889504" y="3611880"/>
            <a:ext cx="1865376" cy="2103120"/>
          </a:xfrm>
          <a:prstGeom prst="rect">
            <a:avLst/>
          </a:prstGeom>
          <a:noFill/>
          <a:ln/>
        </p:spPr>
        <p:txBody>
          <a:bodyPr wrap="square" lIns="0" tIns="0" rIns="0" bIns="0" rtlCol="0" anchor="t"/>
          <a:lstStyle/>
          <a:p>
            <a:pPr algn="ctr" indent="0" marL="0">
              <a:buNone/>
            </a:pPr>
            <a:r>
              <a:rPr lang="en-US" sz="950" dirty="0">
                <a:solidFill>
                  <a:srgbClr val="1A1A1A"/>
                </a:solidFill>
                <a:latin typeface="Yu Gothic" pitchFamily="34" charset="0"/>
                <a:ea typeface="Yu Gothic" pitchFamily="34" charset="-122"/>
                <a:cs typeface="Yu Gothic" pitchFamily="34" charset="-120"/>
              </a:rPr>
              <a:t>393 Wh/kg · 5,900 W/kg · 6,000+サイクル</a:t>
            </a:r>
            <a:endParaRPr lang="en-US" sz="950" dirty="0"/>
          </a:p>
        </p:txBody>
      </p:sp>
      <p:sp>
        <p:nvSpPr>
          <p:cNvPr id="22" name="Shape 20"/>
          <p:cNvSpPr/>
          <p:nvPr/>
        </p:nvSpPr>
        <p:spPr>
          <a:xfrm>
            <a:off x="5065776" y="1737360"/>
            <a:ext cx="2121408" cy="914400"/>
          </a:xfrm>
          <a:prstGeom prst="rect">
            <a:avLst/>
          </a:prstGeom>
          <a:solidFill>
            <a:srgbClr val="16324F"/>
          </a:solidFill>
          <a:ln/>
        </p:spPr>
      </p:sp>
      <p:sp>
        <p:nvSpPr>
          <p:cNvPr id="23" name="Text 21"/>
          <p:cNvSpPr/>
          <p:nvPr/>
        </p:nvSpPr>
        <p:spPr>
          <a:xfrm>
            <a:off x="5065776" y="1737360"/>
            <a:ext cx="2121408" cy="914400"/>
          </a:xfrm>
          <a:prstGeom prst="rect">
            <a:avLst/>
          </a:prstGeom>
          <a:noFill/>
          <a:ln/>
        </p:spPr>
        <p:txBody>
          <a:bodyPr wrap="square" lIns="0" tIns="0" rIns="0" bIns="0" rtlCol="0" anchor="ctr"/>
          <a:lstStyle/>
          <a:p>
            <a:pPr algn="ctr" indent="0" marL="0">
              <a:buNone/>
            </a:pPr>
            <a:r>
              <a:rPr lang="en-US" sz="2200" b="1" dirty="0">
                <a:solidFill>
                  <a:srgbClr val="C9A227"/>
                </a:solidFill>
                <a:latin typeface="Arial" pitchFamily="34" charset="0"/>
                <a:ea typeface="Arial" pitchFamily="34" charset="-122"/>
                <a:cs typeface="Arial" pitchFamily="34" charset="-120"/>
              </a:rPr>
              <a:t>03</a:t>
            </a:r>
            <a:endParaRPr lang="en-US" sz="2200" dirty="0"/>
          </a:p>
        </p:txBody>
      </p:sp>
      <p:sp>
        <p:nvSpPr>
          <p:cNvPr id="24" name="Shape 22"/>
          <p:cNvSpPr/>
          <p:nvPr/>
        </p:nvSpPr>
        <p:spPr>
          <a:xfrm>
            <a:off x="5065776" y="2651760"/>
            <a:ext cx="2121408" cy="3200400"/>
          </a:xfrm>
          <a:prstGeom prst="rect">
            <a:avLst/>
          </a:prstGeom>
          <a:solidFill>
            <a:srgbClr val="FFFFFF"/>
          </a:solidFill>
          <a:ln w="9525">
            <a:solidFill>
              <a:srgbClr val="C8C8C8"/>
            </a:solidFill>
            <a:prstDash val="solid"/>
          </a:ln>
        </p:spPr>
      </p:sp>
      <p:sp>
        <p:nvSpPr>
          <p:cNvPr id="25" name="Text 23"/>
          <p:cNvSpPr/>
          <p:nvPr/>
        </p:nvSpPr>
        <p:spPr>
          <a:xfrm>
            <a:off x="5157216" y="2788920"/>
            <a:ext cx="1938528" cy="731520"/>
          </a:xfrm>
          <a:prstGeom prst="rect">
            <a:avLst/>
          </a:prstGeom>
          <a:noFill/>
          <a:ln/>
        </p:spPr>
        <p:txBody>
          <a:bodyPr wrap="square" lIns="0" tIns="0" rIns="0" bIns="0" rtlCol="0" anchor="ctr"/>
          <a:lstStyle/>
          <a:p>
            <a:pPr algn="ctr" indent="0" marL="0">
              <a:buNone/>
            </a:pPr>
            <a:r>
              <a:rPr lang="en-US" sz="1150" b="1" dirty="0">
                <a:solidFill>
                  <a:srgbClr val="16324F"/>
                </a:solidFill>
                <a:latin typeface="Yu Gothic" pitchFamily="34" charset="0"/>
                <a:ea typeface="Yu Gothic" pitchFamily="34" charset="-122"/>
                <a:cs typeface="Yu Gothic" pitchFamily="34" charset="-120"/>
              </a:rPr>
              <a:t>防衛全域のカバー</a:t>
            </a:r>
            <a:endParaRPr lang="en-US" sz="1150" dirty="0"/>
          </a:p>
        </p:txBody>
      </p:sp>
      <p:sp>
        <p:nvSpPr>
          <p:cNvPr id="26" name="Text 24"/>
          <p:cNvSpPr/>
          <p:nvPr/>
        </p:nvSpPr>
        <p:spPr>
          <a:xfrm>
            <a:off x="5193792" y="3611880"/>
            <a:ext cx="1865376" cy="2103120"/>
          </a:xfrm>
          <a:prstGeom prst="rect">
            <a:avLst/>
          </a:prstGeom>
          <a:noFill/>
          <a:ln/>
        </p:spPr>
        <p:txBody>
          <a:bodyPr wrap="square" lIns="0" tIns="0" rIns="0" bIns="0" rtlCol="0" anchor="t"/>
          <a:lstStyle/>
          <a:p>
            <a:pPr algn="ctr" indent="0" marL="0">
              <a:buNone/>
            </a:pPr>
            <a:r>
              <a:rPr lang="en-US" sz="950" dirty="0">
                <a:solidFill>
                  <a:srgbClr val="1A1A1A"/>
                </a:solidFill>
                <a:latin typeface="Yu Gothic" pitchFamily="34" charset="0"/>
                <a:ea typeface="Yu Gothic" pitchFamily="34" charset="-122"/>
                <a:cs typeface="Yu Gothic" pitchFamily="34" charset="-120"/>
              </a:rPr>
              <a:t>UAV · UGV · ミサイル · ESS · 携帯装備 · 衛星</a:t>
            </a:r>
            <a:endParaRPr lang="en-US" sz="950" dirty="0"/>
          </a:p>
        </p:txBody>
      </p:sp>
      <p:sp>
        <p:nvSpPr>
          <p:cNvPr id="27" name="Shape 25"/>
          <p:cNvSpPr/>
          <p:nvPr/>
        </p:nvSpPr>
        <p:spPr>
          <a:xfrm>
            <a:off x="7370064" y="1737360"/>
            <a:ext cx="2121408" cy="914400"/>
          </a:xfrm>
          <a:prstGeom prst="rect">
            <a:avLst/>
          </a:prstGeom>
          <a:solidFill>
            <a:srgbClr val="16324F"/>
          </a:solidFill>
          <a:ln/>
        </p:spPr>
      </p:sp>
      <p:sp>
        <p:nvSpPr>
          <p:cNvPr id="28" name="Text 26"/>
          <p:cNvSpPr/>
          <p:nvPr/>
        </p:nvSpPr>
        <p:spPr>
          <a:xfrm>
            <a:off x="7370064" y="1737360"/>
            <a:ext cx="2121408" cy="914400"/>
          </a:xfrm>
          <a:prstGeom prst="rect">
            <a:avLst/>
          </a:prstGeom>
          <a:noFill/>
          <a:ln/>
        </p:spPr>
        <p:txBody>
          <a:bodyPr wrap="square" lIns="0" tIns="0" rIns="0" bIns="0" rtlCol="0" anchor="ctr"/>
          <a:lstStyle/>
          <a:p>
            <a:pPr algn="ctr" indent="0" marL="0">
              <a:buNone/>
            </a:pPr>
            <a:r>
              <a:rPr lang="en-US" sz="2200" b="1" dirty="0">
                <a:solidFill>
                  <a:srgbClr val="C9A227"/>
                </a:solidFill>
                <a:latin typeface="Arial" pitchFamily="34" charset="0"/>
                <a:ea typeface="Arial" pitchFamily="34" charset="-122"/>
                <a:cs typeface="Arial" pitchFamily="34" charset="-120"/>
              </a:rPr>
              <a:t>04</a:t>
            </a:r>
            <a:endParaRPr lang="en-US" sz="2200" dirty="0"/>
          </a:p>
        </p:txBody>
      </p:sp>
      <p:sp>
        <p:nvSpPr>
          <p:cNvPr id="29" name="Shape 27"/>
          <p:cNvSpPr/>
          <p:nvPr/>
        </p:nvSpPr>
        <p:spPr>
          <a:xfrm>
            <a:off x="7370064" y="2651760"/>
            <a:ext cx="2121408" cy="3200400"/>
          </a:xfrm>
          <a:prstGeom prst="rect">
            <a:avLst/>
          </a:prstGeom>
          <a:solidFill>
            <a:srgbClr val="FFFFFF"/>
          </a:solidFill>
          <a:ln w="9525">
            <a:solidFill>
              <a:srgbClr val="C8C8C8"/>
            </a:solidFill>
            <a:prstDash val="solid"/>
          </a:ln>
        </p:spPr>
      </p:sp>
      <p:sp>
        <p:nvSpPr>
          <p:cNvPr id="30" name="Text 28"/>
          <p:cNvSpPr/>
          <p:nvPr/>
        </p:nvSpPr>
        <p:spPr>
          <a:xfrm>
            <a:off x="7461504" y="2788920"/>
            <a:ext cx="1938528" cy="731520"/>
          </a:xfrm>
          <a:prstGeom prst="rect">
            <a:avLst/>
          </a:prstGeom>
          <a:noFill/>
          <a:ln/>
        </p:spPr>
        <p:txBody>
          <a:bodyPr wrap="square" lIns="0" tIns="0" rIns="0" bIns="0" rtlCol="0" anchor="ctr"/>
          <a:lstStyle/>
          <a:p>
            <a:pPr algn="ctr" indent="0" marL="0">
              <a:buNone/>
            </a:pPr>
            <a:r>
              <a:rPr lang="en-US" sz="1150" b="1" dirty="0">
                <a:solidFill>
                  <a:srgbClr val="16324F"/>
                </a:solidFill>
                <a:latin typeface="Yu Gothic" pitchFamily="34" charset="0"/>
                <a:ea typeface="Yu Gothic" pitchFamily="34" charset="-122"/>
                <a:cs typeface="Yu Gothic" pitchFamily="34" charset="-120"/>
              </a:rPr>
              <a:t>生産・供給網の優位性</a:t>
            </a:r>
            <a:endParaRPr lang="en-US" sz="1150" dirty="0"/>
          </a:p>
        </p:txBody>
      </p:sp>
      <p:sp>
        <p:nvSpPr>
          <p:cNvPr id="31" name="Text 29"/>
          <p:cNvSpPr/>
          <p:nvPr/>
        </p:nvSpPr>
        <p:spPr>
          <a:xfrm>
            <a:off x="7498080" y="3611880"/>
            <a:ext cx="1865376" cy="2103120"/>
          </a:xfrm>
          <a:prstGeom prst="rect">
            <a:avLst/>
          </a:prstGeom>
          <a:noFill/>
          <a:ln/>
        </p:spPr>
        <p:txBody>
          <a:bodyPr wrap="square" lIns="0" tIns="0" rIns="0" bIns="0" rtlCol="0" anchor="t"/>
          <a:lstStyle/>
          <a:p>
            <a:pPr algn="ctr" indent="0" marL="0">
              <a:buNone/>
            </a:pPr>
            <a:r>
              <a:rPr lang="en-US" sz="950" dirty="0">
                <a:solidFill>
                  <a:srgbClr val="1A1A1A"/>
                </a:solidFill>
                <a:latin typeface="Yu Gothic" pitchFamily="34" charset="0"/>
                <a:ea typeface="Yu Gothic" pitchFamily="34" charset="-122"/>
                <a:cs typeface="Yu Gothic" pitchFamily="34" charset="-120"/>
              </a:rPr>
              <a:t>化成12時間 · CAPEX -70% · 韓国サプライチェーン</a:t>
            </a:r>
            <a:endParaRPr lang="en-US" sz="950" dirty="0"/>
          </a:p>
        </p:txBody>
      </p:sp>
      <p:sp>
        <p:nvSpPr>
          <p:cNvPr id="32" name="Shape 30"/>
          <p:cNvSpPr/>
          <p:nvPr/>
        </p:nvSpPr>
        <p:spPr>
          <a:xfrm>
            <a:off x="9674352" y="1737360"/>
            <a:ext cx="2121408" cy="914400"/>
          </a:xfrm>
          <a:prstGeom prst="rect">
            <a:avLst/>
          </a:prstGeom>
          <a:solidFill>
            <a:srgbClr val="16324F"/>
          </a:solidFill>
          <a:ln/>
        </p:spPr>
      </p:sp>
      <p:sp>
        <p:nvSpPr>
          <p:cNvPr id="33" name="Text 31"/>
          <p:cNvSpPr/>
          <p:nvPr/>
        </p:nvSpPr>
        <p:spPr>
          <a:xfrm>
            <a:off x="9674352" y="1737360"/>
            <a:ext cx="2121408" cy="914400"/>
          </a:xfrm>
          <a:prstGeom prst="rect">
            <a:avLst/>
          </a:prstGeom>
          <a:noFill/>
          <a:ln/>
        </p:spPr>
        <p:txBody>
          <a:bodyPr wrap="square" lIns="0" tIns="0" rIns="0" bIns="0" rtlCol="0" anchor="ctr"/>
          <a:lstStyle/>
          <a:p>
            <a:pPr algn="ctr" indent="0" marL="0">
              <a:buNone/>
            </a:pPr>
            <a:r>
              <a:rPr lang="en-US" sz="2200" b="1" dirty="0">
                <a:solidFill>
                  <a:srgbClr val="C9A227"/>
                </a:solidFill>
                <a:latin typeface="Arial" pitchFamily="34" charset="0"/>
                <a:ea typeface="Arial" pitchFamily="34" charset="-122"/>
                <a:cs typeface="Arial" pitchFamily="34" charset="-120"/>
              </a:rPr>
              <a:t>05</a:t>
            </a:r>
            <a:endParaRPr lang="en-US" sz="2200" dirty="0"/>
          </a:p>
        </p:txBody>
      </p:sp>
      <p:sp>
        <p:nvSpPr>
          <p:cNvPr id="34" name="Shape 32"/>
          <p:cNvSpPr/>
          <p:nvPr/>
        </p:nvSpPr>
        <p:spPr>
          <a:xfrm>
            <a:off x="9674352" y="2651760"/>
            <a:ext cx="2121408" cy="3200400"/>
          </a:xfrm>
          <a:prstGeom prst="rect">
            <a:avLst/>
          </a:prstGeom>
          <a:solidFill>
            <a:srgbClr val="FFFFFF"/>
          </a:solidFill>
          <a:ln w="9525">
            <a:solidFill>
              <a:srgbClr val="C8C8C8"/>
            </a:solidFill>
            <a:prstDash val="solid"/>
          </a:ln>
        </p:spPr>
      </p:sp>
      <p:sp>
        <p:nvSpPr>
          <p:cNvPr id="35" name="Text 33"/>
          <p:cNvSpPr/>
          <p:nvPr/>
        </p:nvSpPr>
        <p:spPr>
          <a:xfrm>
            <a:off x="9765792" y="2788920"/>
            <a:ext cx="1938528" cy="731520"/>
          </a:xfrm>
          <a:prstGeom prst="rect">
            <a:avLst/>
          </a:prstGeom>
          <a:noFill/>
          <a:ln/>
        </p:spPr>
        <p:txBody>
          <a:bodyPr wrap="square" lIns="0" tIns="0" rIns="0" bIns="0" rtlCol="0" anchor="ctr"/>
          <a:lstStyle/>
          <a:p>
            <a:pPr algn="ctr" indent="0" marL="0">
              <a:buNone/>
            </a:pPr>
            <a:r>
              <a:rPr lang="en-US" sz="1150" b="1" dirty="0">
                <a:solidFill>
                  <a:srgbClr val="16324F"/>
                </a:solidFill>
                <a:latin typeface="Yu Gothic" pitchFamily="34" charset="0"/>
                <a:ea typeface="Yu Gothic" pitchFamily="34" charset="-122"/>
                <a:cs typeface="Yu Gothic" pitchFamily="34" charset="-120"/>
              </a:rPr>
              <a:t>検証完了</a:t>
            </a:r>
            <a:endParaRPr lang="en-US" sz="1150" dirty="0"/>
          </a:p>
        </p:txBody>
      </p:sp>
      <p:sp>
        <p:nvSpPr>
          <p:cNvPr id="36" name="Text 34"/>
          <p:cNvSpPr/>
          <p:nvPr/>
        </p:nvSpPr>
        <p:spPr>
          <a:xfrm>
            <a:off x="9802368" y="3611880"/>
            <a:ext cx="1865376" cy="2103120"/>
          </a:xfrm>
          <a:prstGeom prst="rect">
            <a:avLst/>
          </a:prstGeom>
          <a:noFill/>
          <a:ln/>
        </p:spPr>
        <p:txBody>
          <a:bodyPr wrap="square" lIns="0" tIns="0" rIns="0" bIns="0" rtlCol="0" anchor="t"/>
          <a:lstStyle/>
          <a:p>
            <a:pPr algn="ctr" indent="0" marL="0">
              <a:buNone/>
            </a:pPr>
            <a:r>
              <a:rPr lang="en-US" sz="950" dirty="0">
                <a:solidFill>
                  <a:srgbClr val="1A1A1A"/>
                </a:solidFill>
                <a:latin typeface="Yu Gothic" pitchFamily="34" charset="0"/>
                <a:ea typeface="Yu Gothic" pitchFamily="34" charset="-122"/>
                <a:cs typeface="Yu Gothic" pitchFamily="34" charset="-120"/>
              </a:rPr>
              <a:t>NATO · KCC · UL · NASA · UNIST 9.7/10</a:t>
            </a:r>
            <a:endParaRPr lang="en-US" sz="9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6324F"/>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C9A227"/>
          </a:solidFill>
          <a:ln/>
        </p:spPr>
      </p:sp>
      <p:sp>
        <p:nvSpPr>
          <p:cNvPr id="3" name="Text 1"/>
          <p:cNvSpPr/>
          <p:nvPr/>
        </p:nvSpPr>
        <p:spPr>
          <a:xfrm>
            <a:off x="502920" y="502920"/>
            <a:ext cx="365760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BK DONGYEOUNG TECH</a:t>
            </a:r>
            <a:endParaRPr lang="en-US" sz="1300" dirty="0"/>
          </a:p>
        </p:txBody>
      </p:sp>
      <p:sp>
        <p:nvSpPr>
          <p:cNvPr id="4" name="Text 2"/>
          <p:cNvSpPr/>
          <p:nvPr/>
        </p:nvSpPr>
        <p:spPr>
          <a:xfrm>
            <a:off x="502920" y="1600200"/>
            <a:ext cx="5943600" cy="457200"/>
          </a:xfrm>
          <a:prstGeom prst="rect">
            <a:avLst/>
          </a:prstGeom>
          <a:noFill/>
          <a:ln/>
        </p:spPr>
        <p:txBody>
          <a:bodyPr wrap="square" lIns="0" tIns="0" rIns="0" bIns="0" rtlCol="0" anchor="ctr"/>
          <a:lstStyle/>
          <a:p>
            <a:pPr indent="0" marL="0">
              <a:buNone/>
            </a:pPr>
            <a:r>
              <a:rPr lang="en-US" sz="2000" b="1" dirty="0">
                <a:solidFill>
                  <a:srgbClr val="C9A227"/>
                </a:solidFill>
                <a:latin typeface="Arial" pitchFamily="34" charset="0"/>
                <a:ea typeface="Arial" pitchFamily="34" charset="-122"/>
                <a:cs typeface="Arial" pitchFamily="34" charset="-120"/>
              </a:rPr>
              <a:t>VISION 2030</a:t>
            </a:r>
            <a:endParaRPr lang="en-US" sz="2000" dirty="0"/>
          </a:p>
        </p:txBody>
      </p:sp>
      <p:sp>
        <p:nvSpPr>
          <p:cNvPr id="5" name="Text 3"/>
          <p:cNvSpPr/>
          <p:nvPr/>
        </p:nvSpPr>
        <p:spPr>
          <a:xfrm>
            <a:off x="457200" y="2148840"/>
            <a:ext cx="6583680" cy="777240"/>
          </a:xfrm>
          <a:prstGeom prst="rect">
            <a:avLst/>
          </a:prstGeom>
          <a:noFill/>
          <a:ln/>
        </p:spPr>
        <p:txBody>
          <a:bodyPr wrap="square" lIns="0" tIns="0" rIns="0" bIns="0" rtlCol="0" anchor="ctr"/>
          <a:lstStyle/>
          <a:p>
            <a:pPr indent="0" marL="0">
              <a:buNone/>
            </a:pPr>
            <a:r>
              <a:rPr lang="en-US" sz="3200" b="1" dirty="0">
                <a:solidFill>
                  <a:srgbClr val="FFFFFF"/>
                </a:solidFill>
                <a:latin typeface="Yu Gothic" pitchFamily="34" charset="0"/>
                <a:ea typeface="Yu Gothic" pitchFamily="34" charset="-122"/>
                <a:cs typeface="Yu Gothic" pitchFamily="34" charset="-120"/>
              </a:rPr>
              <a:t>「Li-ionの時代は終わった。」</a:t>
            </a:r>
            <a:endParaRPr lang="en-US" sz="3200" dirty="0"/>
          </a:p>
        </p:txBody>
      </p:sp>
      <p:sp>
        <p:nvSpPr>
          <p:cNvPr id="6" name="Text 4"/>
          <p:cNvSpPr/>
          <p:nvPr/>
        </p:nvSpPr>
        <p:spPr>
          <a:xfrm>
            <a:off x="502920" y="3017520"/>
            <a:ext cx="6400800" cy="457200"/>
          </a:xfrm>
          <a:prstGeom prst="rect">
            <a:avLst/>
          </a:prstGeom>
          <a:noFill/>
          <a:ln/>
        </p:spPr>
        <p:txBody>
          <a:bodyPr wrap="square" lIns="0" tIns="0" rIns="0" bIns="0" rtlCol="0" anchor="ctr"/>
          <a:lstStyle/>
          <a:p>
            <a:pPr indent="0" marL="0">
              <a:buNone/>
            </a:pPr>
            <a:r>
              <a:rPr lang="en-US" sz="1500" dirty="0">
                <a:solidFill>
                  <a:srgbClr val="D8DEE8"/>
                </a:solidFill>
                <a:latin typeface="Yu Gothic" pitchFamily="34" charset="0"/>
                <a:ea typeface="Yu Gothic" pitchFamily="34" charset="-122"/>
                <a:cs typeface="Yu Gothic" pitchFamily="34" charset="-120"/>
              </a:rPr>
              <a:t>21世紀防衛のための新しいエネルギーアーキテクチャが、今、始まる。</a:t>
            </a:r>
            <a:endParaRPr lang="en-US" sz="1500" dirty="0"/>
          </a:p>
        </p:txBody>
      </p:sp>
      <p:sp>
        <p:nvSpPr>
          <p:cNvPr id="7" name="Shape 5"/>
          <p:cNvSpPr/>
          <p:nvPr/>
        </p:nvSpPr>
        <p:spPr>
          <a:xfrm>
            <a:off x="7315200" y="3977640"/>
            <a:ext cx="4389120" cy="1965960"/>
          </a:xfrm>
          <a:prstGeom prst="rect">
            <a:avLst/>
          </a:prstGeom>
          <a:solidFill>
            <a:srgbClr val="24466B"/>
          </a:solidFill>
          <a:ln/>
        </p:spPr>
      </p:sp>
      <p:sp>
        <p:nvSpPr>
          <p:cNvPr id="8" name="Text 6"/>
          <p:cNvSpPr/>
          <p:nvPr/>
        </p:nvSpPr>
        <p:spPr>
          <a:xfrm>
            <a:off x="7543800" y="4114800"/>
            <a:ext cx="4023360" cy="320040"/>
          </a:xfrm>
          <a:prstGeom prst="rect">
            <a:avLst/>
          </a:prstGeom>
          <a:noFill/>
          <a:ln/>
        </p:spPr>
        <p:txBody>
          <a:bodyPr wrap="square" lIns="0" tIns="0" rIns="0" bIns="0" rtlCol="0" anchor="ctr"/>
          <a:lstStyle/>
          <a:p>
            <a:pPr indent="0" marL="0">
              <a:buNone/>
            </a:pPr>
            <a:r>
              <a:rPr lang="en-US" sz="1200" b="1" dirty="0">
                <a:solidFill>
                  <a:srgbClr val="C9A227"/>
                </a:solidFill>
                <a:latin typeface="Yu Gothic" pitchFamily="34" charset="0"/>
                <a:ea typeface="Yu Gothic" pitchFamily="34" charset="-122"/>
                <a:cs typeface="Yu Gothic" pitchFamily="34" charset="-120"/>
              </a:rPr>
              <a:t>CONTACT · お問い合わせ</a:t>
            </a:r>
            <a:endParaRPr lang="en-US" sz="1200" dirty="0"/>
          </a:p>
        </p:txBody>
      </p:sp>
      <p:sp>
        <p:nvSpPr>
          <p:cNvPr id="9" name="Text 7"/>
          <p:cNvSpPr/>
          <p:nvPr/>
        </p:nvSpPr>
        <p:spPr>
          <a:xfrm>
            <a:off x="7543800" y="4480560"/>
            <a:ext cx="4023360" cy="32004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BK Dongyeoung Tech Co., Ltd.</a:t>
            </a:r>
            <a:endParaRPr lang="en-US" sz="1150" dirty="0"/>
          </a:p>
        </p:txBody>
      </p:sp>
      <p:sp>
        <p:nvSpPr>
          <p:cNvPr id="10" name="Text 8"/>
          <p:cNvSpPr/>
          <p:nvPr/>
        </p:nvSpPr>
        <p:spPr>
          <a:xfrm>
            <a:off x="7543800" y="4846320"/>
            <a:ext cx="4069080" cy="1005840"/>
          </a:xfrm>
          <a:prstGeom prst="rect">
            <a:avLst/>
          </a:prstGeom>
          <a:noFill/>
          <a:ln/>
        </p:spPr>
        <p:txBody>
          <a:bodyPr wrap="square" lIns="0" tIns="0" rIns="0" bIns="0" rtlCol="0" anchor="ctr"/>
          <a:lstStyle/>
          <a:p>
            <a:pPr indent="0" marL="0">
              <a:buNone/>
            </a:pPr>
            <a:r>
              <a:rPr lang="en-US" sz="1000" dirty="0">
                <a:solidFill>
                  <a:srgbClr val="D8DEE8"/>
                </a:solidFill>
                <a:latin typeface="Yu Gothic" pitchFamily="34" charset="0"/>
                <a:ea typeface="Yu Gothic" pitchFamily="34" charset="-122"/>
                <a:cs typeface="Yu Gothic" pitchFamily="34" charset="-120"/>
              </a:rPr>
              <a:t>Lee Ki Hong(CEO)| lkhong38@naver.com</a:t>
            </a:r>
            <a:endParaRPr lang="en-US" sz="1000" dirty="0"/>
          </a:p>
          <a:p>
            <a:pPr indent="0" marL="0">
              <a:buNone/>
            </a:pPr>
            <a:r>
              <a:rPr lang="en-US" sz="1000" dirty="0">
                <a:solidFill>
                  <a:srgbClr val="D8DEE8"/>
                </a:solidFill>
                <a:latin typeface="Yu Gothic" pitchFamily="34" charset="0"/>
                <a:ea typeface="Yu Gothic" pitchFamily="34" charset="-122"/>
                <a:cs typeface="Yu Gothic" pitchFamily="34" charset="-120"/>
              </a:rPr>
              <a:t>+82-31-295-4046</a:t>
            </a:r>
            <a:endParaRPr lang="en-US" sz="1000" dirty="0"/>
          </a:p>
          <a:p>
            <a:pPr indent="0" marL="0">
              <a:buNone/>
            </a:pPr>
            <a:r>
              <a:rPr lang="en-US" sz="1000" dirty="0">
                <a:solidFill>
                  <a:srgbClr val="D8DEE8"/>
                </a:solidFill>
                <a:latin typeface="Yu Gothic" pitchFamily="34" charset="0"/>
                <a:ea typeface="Yu Gothic" pitchFamily="34" charset="-122"/>
                <a:cs typeface="Yu Gothic" pitchFamily="34" charset="-120"/>
              </a:rPr>
              <a:t>京畿道水原市権善区梧木川路75、3F</a:t>
            </a:r>
            <a:endParaRPr lang="en-US" sz="1000" dirty="0"/>
          </a:p>
        </p:txBody>
      </p:sp>
      <p:sp>
        <p:nvSpPr>
          <p:cNvPr id="11" name="Text 9"/>
          <p:cNvSpPr/>
          <p:nvPr/>
        </p:nvSpPr>
        <p:spPr>
          <a:xfrm>
            <a:off x="0" y="6446520"/>
            <a:ext cx="12188952" cy="320040"/>
          </a:xfrm>
          <a:prstGeom prst="rect">
            <a:avLst/>
          </a:prstGeom>
          <a:noFill/>
          <a:ln/>
        </p:spPr>
        <p:txBody>
          <a:bodyPr wrap="square" lIns="0" tIns="0" rIns="0" bIns="0" rtlCol="0" anchor="ctr"/>
          <a:lstStyle/>
          <a:p>
            <a:pPr algn="ctr" indent="0" marL="0">
              <a:buNone/>
            </a:pPr>
            <a:r>
              <a:rPr lang="en-US" sz="900" dirty="0">
                <a:solidFill>
                  <a:srgbClr val="9FB0C6"/>
                </a:solidFill>
                <a:latin typeface="Yu Gothic" pitchFamily="34" charset="0"/>
                <a:ea typeface="Yu Gothic" pitchFamily="34" charset="-122"/>
                <a:cs typeface="Yu Gothic" pitchFamily="34" charset="-120"/>
              </a:rPr>
              <a:t>© 2026 BK Dongyeoung Tech Co., Ltd. · 本ホワイトペーパーは防衛調達審査目的で提供されるものです。 · 機密(Confidential)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2026-08-05T08:00:09Z</dcterms:created>
  <dcterms:modified xsi:type="dcterms:W3CDTF">2026-08-05T08:00:09Z</dcterms:modified>
</cp:coreProperties>
</file>